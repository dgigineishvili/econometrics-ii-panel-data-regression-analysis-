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4.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5.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6.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7.xml" ContentType="application/vnd.openxmlformats-officedocument.theme+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8.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theme/theme9.xml" ContentType="application/vnd.openxmlformats-officedocument.theme+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theme/theme10.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7" r:id="rId3"/>
    <p:sldMasterId id="2147483707" r:id="rId4"/>
    <p:sldMasterId id="2147483743" r:id="rId5"/>
    <p:sldMasterId id="2147483761" r:id="rId6"/>
    <p:sldMasterId id="2147483778" r:id="rId7"/>
    <p:sldMasterId id="2147483790" r:id="rId8"/>
    <p:sldMasterId id="2147483808" r:id="rId9"/>
    <p:sldMasterId id="2147483845" r:id="rId10"/>
  </p:sldMasterIdLst>
  <p:sldIdLst>
    <p:sldId id="256" r:id="rId11"/>
    <p:sldId id="257" r:id="rId12"/>
    <p:sldId id="260" r:id="rId13"/>
    <p:sldId id="272" r:id="rId14"/>
    <p:sldId id="258" r:id="rId15"/>
    <p:sldId id="259" r:id="rId16"/>
    <p:sldId id="261" r:id="rId17"/>
    <p:sldId id="262" r:id="rId18"/>
    <p:sldId id="263" r:id="rId19"/>
    <p:sldId id="278" r:id="rId20"/>
    <p:sldId id="264" r:id="rId21"/>
    <p:sldId id="265" r:id="rId22"/>
    <p:sldId id="266" r:id="rId23"/>
    <p:sldId id="267" r:id="rId24"/>
    <p:sldId id="274" r:id="rId25"/>
    <p:sldId id="268" r:id="rId26"/>
    <p:sldId id="269" r:id="rId27"/>
    <p:sldId id="273" r:id="rId28"/>
    <p:sldId id="270" r:id="rId29"/>
    <p:sldId id="275" r:id="rId30"/>
    <p:sldId id="271" r:id="rId31"/>
    <p:sldId id="276" r:id="rId32"/>
    <p:sldId id="27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21" Type="http://schemas.openxmlformats.org/officeDocument/2006/relationships/slide" Target="slides/slide11.xml"/><Relationship Id="rId34"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slide" Target="slides/slide2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0D741F-A995-49A4-9D72-F15D26C2AAC3}"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DDDCF966-909B-4B0A-BDA9-2C4793959E47}">
      <dgm:prSet/>
      <dgm:spPr/>
      <dgm:t>
        <a:bodyPr/>
        <a:lstStyle/>
        <a:p>
          <a:r>
            <a:rPr lang="en-US" dirty="0"/>
            <a:t>Data</a:t>
          </a:r>
        </a:p>
      </dgm:t>
    </dgm:pt>
    <dgm:pt modelId="{3381FB94-C0F1-44DD-9CE6-A72CF5F622D5}" type="parTrans" cxnId="{9C262564-E9B3-4FC8-9068-7187ED511BC6}">
      <dgm:prSet/>
      <dgm:spPr/>
      <dgm:t>
        <a:bodyPr/>
        <a:lstStyle/>
        <a:p>
          <a:endParaRPr lang="en-US"/>
        </a:p>
      </dgm:t>
    </dgm:pt>
    <dgm:pt modelId="{926DBCD2-9DD9-4E9A-9364-85552F461945}" type="sibTrans" cxnId="{9C262564-E9B3-4FC8-9068-7187ED511BC6}">
      <dgm:prSet/>
      <dgm:spPr/>
      <dgm:t>
        <a:bodyPr/>
        <a:lstStyle/>
        <a:p>
          <a:endParaRPr lang="en-US"/>
        </a:p>
      </dgm:t>
    </dgm:pt>
    <dgm:pt modelId="{0DA6D191-7A18-48AE-8E68-D1657679F4E4}">
      <dgm:prSet/>
      <dgm:spPr/>
      <dgm:t>
        <a:bodyPr/>
        <a:lstStyle/>
        <a:p>
          <a:r>
            <a:rPr lang="en-US" b="1" i="1" dirty="0"/>
            <a:t>Source: WDI (World bank development indicators)</a:t>
          </a:r>
        </a:p>
      </dgm:t>
    </dgm:pt>
    <dgm:pt modelId="{E385A06C-D6DB-4C2E-BDFC-5E5A40813637}" type="parTrans" cxnId="{76D80F74-D8AF-4A17-9B87-D84DA7DC0621}">
      <dgm:prSet/>
      <dgm:spPr/>
      <dgm:t>
        <a:bodyPr/>
        <a:lstStyle/>
        <a:p>
          <a:endParaRPr lang="en-US"/>
        </a:p>
      </dgm:t>
    </dgm:pt>
    <dgm:pt modelId="{EA238806-9D01-4557-92BA-145E21CB06BC}" type="sibTrans" cxnId="{76D80F74-D8AF-4A17-9B87-D84DA7DC0621}">
      <dgm:prSet/>
      <dgm:spPr/>
      <dgm:t>
        <a:bodyPr/>
        <a:lstStyle/>
        <a:p>
          <a:endParaRPr lang="en-US"/>
        </a:p>
      </dgm:t>
    </dgm:pt>
    <dgm:pt modelId="{7291ECE2-EE00-47DF-A499-8C2CE8CD8171}">
      <dgm:prSet/>
      <dgm:spPr/>
      <dgm:t>
        <a:bodyPr/>
        <a:lstStyle/>
        <a:p>
          <a:r>
            <a:rPr lang="en-US" dirty="0"/>
            <a:t>Panel</a:t>
          </a:r>
          <a:r>
            <a:rPr lang="en-US" baseline="0" dirty="0"/>
            <a:t> data for all countries around the world with the time span of 50 years from 1975  to 2024 </a:t>
          </a:r>
          <a:endParaRPr lang="en-US" dirty="0"/>
        </a:p>
      </dgm:t>
    </dgm:pt>
    <dgm:pt modelId="{ED21B433-9574-434F-9150-973ACE1CC45C}" type="parTrans" cxnId="{233EF243-3AE3-4FF4-8FFD-72DDF8577F98}">
      <dgm:prSet/>
      <dgm:spPr/>
      <dgm:t>
        <a:bodyPr/>
        <a:lstStyle/>
        <a:p>
          <a:endParaRPr lang="en-US"/>
        </a:p>
      </dgm:t>
    </dgm:pt>
    <dgm:pt modelId="{E080313A-74D1-4A63-93A4-1696781B262F}" type="sibTrans" cxnId="{233EF243-3AE3-4FF4-8FFD-72DDF8577F98}">
      <dgm:prSet/>
      <dgm:spPr/>
      <dgm:t>
        <a:bodyPr/>
        <a:lstStyle/>
        <a:p>
          <a:endParaRPr lang="en-US"/>
        </a:p>
      </dgm:t>
    </dgm:pt>
    <dgm:pt modelId="{E43FB19E-40BB-49A0-AF8B-3ABC05EDBA0C}">
      <dgm:prSet/>
      <dgm:spPr/>
      <dgm:t>
        <a:bodyPr/>
        <a:lstStyle/>
        <a:p>
          <a:r>
            <a:rPr lang="en-US" dirty="0"/>
            <a:t>Estimate casual effect of GDP per capita on life expectancy and infer whether or not Fiscal spending in question would improve Life Expectancy</a:t>
          </a:r>
        </a:p>
      </dgm:t>
    </dgm:pt>
    <dgm:pt modelId="{2A434198-78F5-48C6-A32E-071F1BA10BD3}" type="parTrans" cxnId="{0D22615C-9FC5-44FC-BD8D-4858F4551D4B}">
      <dgm:prSet/>
      <dgm:spPr/>
      <dgm:t>
        <a:bodyPr/>
        <a:lstStyle/>
        <a:p>
          <a:endParaRPr lang="en-US"/>
        </a:p>
      </dgm:t>
    </dgm:pt>
    <dgm:pt modelId="{4E9EA21B-4D03-4ADB-9A5B-4913C92DE246}" type="sibTrans" cxnId="{0D22615C-9FC5-44FC-BD8D-4858F4551D4B}">
      <dgm:prSet/>
      <dgm:spPr/>
      <dgm:t>
        <a:bodyPr/>
        <a:lstStyle/>
        <a:p>
          <a:endParaRPr lang="en-US"/>
        </a:p>
      </dgm:t>
    </dgm:pt>
    <dgm:pt modelId="{709B396B-276C-4579-A310-539EBA4CDD09}" type="pres">
      <dgm:prSet presAssocID="{4A0D741F-A995-49A4-9D72-F15D26C2AAC3}" presName="outerComposite" presStyleCnt="0">
        <dgm:presLayoutVars>
          <dgm:chMax val="5"/>
          <dgm:dir/>
          <dgm:resizeHandles val="exact"/>
        </dgm:presLayoutVars>
      </dgm:prSet>
      <dgm:spPr/>
    </dgm:pt>
    <dgm:pt modelId="{EEC2CBB1-3EEB-4C0C-A827-8A4AB8596934}" type="pres">
      <dgm:prSet presAssocID="{4A0D741F-A995-49A4-9D72-F15D26C2AAC3}" presName="dummyMaxCanvas" presStyleCnt="0">
        <dgm:presLayoutVars/>
      </dgm:prSet>
      <dgm:spPr/>
    </dgm:pt>
    <dgm:pt modelId="{B90CF5DD-06CF-4B1D-8FBA-381F6938AAD9}" type="pres">
      <dgm:prSet presAssocID="{4A0D741F-A995-49A4-9D72-F15D26C2AAC3}" presName="FourNodes_1" presStyleLbl="node1" presStyleIdx="0" presStyleCnt="4">
        <dgm:presLayoutVars>
          <dgm:bulletEnabled val="1"/>
        </dgm:presLayoutVars>
      </dgm:prSet>
      <dgm:spPr/>
    </dgm:pt>
    <dgm:pt modelId="{76EF1E4D-C24E-40E0-A6B3-D4AA04718408}" type="pres">
      <dgm:prSet presAssocID="{4A0D741F-A995-49A4-9D72-F15D26C2AAC3}" presName="FourNodes_2" presStyleLbl="node1" presStyleIdx="1" presStyleCnt="4">
        <dgm:presLayoutVars>
          <dgm:bulletEnabled val="1"/>
        </dgm:presLayoutVars>
      </dgm:prSet>
      <dgm:spPr/>
    </dgm:pt>
    <dgm:pt modelId="{9A6F5C2D-8AF3-4E97-BA33-3A92538BA544}" type="pres">
      <dgm:prSet presAssocID="{4A0D741F-A995-49A4-9D72-F15D26C2AAC3}" presName="FourNodes_3" presStyleLbl="node1" presStyleIdx="2" presStyleCnt="4">
        <dgm:presLayoutVars>
          <dgm:bulletEnabled val="1"/>
        </dgm:presLayoutVars>
      </dgm:prSet>
      <dgm:spPr/>
    </dgm:pt>
    <dgm:pt modelId="{F52E59F4-0512-4F40-B24B-23D6BCB0153B}" type="pres">
      <dgm:prSet presAssocID="{4A0D741F-A995-49A4-9D72-F15D26C2AAC3}" presName="FourNodes_4" presStyleLbl="node1" presStyleIdx="3" presStyleCnt="4">
        <dgm:presLayoutVars>
          <dgm:bulletEnabled val="1"/>
        </dgm:presLayoutVars>
      </dgm:prSet>
      <dgm:spPr/>
    </dgm:pt>
    <dgm:pt modelId="{374EF94E-3E09-487F-B92A-9B10D0E2F5FF}" type="pres">
      <dgm:prSet presAssocID="{4A0D741F-A995-49A4-9D72-F15D26C2AAC3}" presName="FourConn_1-2" presStyleLbl="fgAccFollowNode1" presStyleIdx="0" presStyleCnt="3">
        <dgm:presLayoutVars>
          <dgm:bulletEnabled val="1"/>
        </dgm:presLayoutVars>
      </dgm:prSet>
      <dgm:spPr/>
    </dgm:pt>
    <dgm:pt modelId="{698F19AE-5CF7-4B37-B1DF-36C7E5F404F4}" type="pres">
      <dgm:prSet presAssocID="{4A0D741F-A995-49A4-9D72-F15D26C2AAC3}" presName="FourConn_2-3" presStyleLbl="fgAccFollowNode1" presStyleIdx="1" presStyleCnt="3">
        <dgm:presLayoutVars>
          <dgm:bulletEnabled val="1"/>
        </dgm:presLayoutVars>
      </dgm:prSet>
      <dgm:spPr/>
    </dgm:pt>
    <dgm:pt modelId="{3FA32D90-7E24-4040-B98B-DD68FE25890C}" type="pres">
      <dgm:prSet presAssocID="{4A0D741F-A995-49A4-9D72-F15D26C2AAC3}" presName="FourConn_3-4" presStyleLbl="fgAccFollowNode1" presStyleIdx="2" presStyleCnt="3">
        <dgm:presLayoutVars>
          <dgm:bulletEnabled val="1"/>
        </dgm:presLayoutVars>
      </dgm:prSet>
      <dgm:spPr/>
    </dgm:pt>
    <dgm:pt modelId="{18F7D5C6-6167-44FF-A843-DEF43AFF1C25}" type="pres">
      <dgm:prSet presAssocID="{4A0D741F-A995-49A4-9D72-F15D26C2AAC3}" presName="FourNodes_1_text" presStyleLbl="node1" presStyleIdx="3" presStyleCnt="4">
        <dgm:presLayoutVars>
          <dgm:bulletEnabled val="1"/>
        </dgm:presLayoutVars>
      </dgm:prSet>
      <dgm:spPr/>
    </dgm:pt>
    <dgm:pt modelId="{008762BC-433D-4197-813E-158560130D87}" type="pres">
      <dgm:prSet presAssocID="{4A0D741F-A995-49A4-9D72-F15D26C2AAC3}" presName="FourNodes_2_text" presStyleLbl="node1" presStyleIdx="3" presStyleCnt="4">
        <dgm:presLayoutVars>
          <dgm:bulletEnabled val="1"/>
        </dgm:presLayoutVars>
      </dgm:prSet>
      <dgm:spPr/>
    </dgm:pt>
    <dgm:pt modelId="{5FF8C887-6B4D-4E18-B8B0-B9493E9D1632}" type="pres">
      <dgm:prSet presAssocID="{4A0D741F-A995-49A4-9D72-F15D26C2AAC3}" presName="FourNodes_3_text" presStyleLbl="node1" presStyleIdx="3" presStyleCnt="4">
        <dgm:presLayoutVars>
          <dgm:bulletEnabled val="1"/>
        </dgm:presLayoutVars>
      </dgm:prSet>
      <dgm:spPr/>
    </dgm:pt>
    <dgm:pt modelId="{75862DBC-2919-4FD9-BA21-F7B5226BF7EF}" type="pres">
      <dgm:prSet presAssocID="{4A0D741F-A995-49A4-9D72-F15D26C2AAC3}" presName="FourNodes_4_text" presStyleLbl="node1" presStyleIdx="3" presStyleCnt="4">
        <dgm:presLayoutVars>
          <dgm:bulletEnabled val="1"/>
        </dgm:presLayoutVars>
      </dgm:prSet>
      <dgm:spPr/>
    </dgm:pt>
  </dgm:ptLst>
  <dgm:cxnLst>
    <dgm:cxn modelId="{0354EA2C-B91E-4590-91CB-A6A7D5E25006}" type="presOf" srcId="{0DA6D191-7A18-48AE-8E68-D1657679F4E4}" destId="{008762BC-433D-4197-813E-158560130D87}" srcOrd="1" destOrd="0" presId="urn:microsoft.com/office/officeart/2005/8/layout/vProcess5"/>
    <dgm:cxn modelId="{0D22615C-9FC5-44FC-BD8D-4858F4551D4B}" srcId="{4A0D741F-A995-49A4-9D72-F15D26C2AAC3}" destId="{E43FB19E-40BB-49A0-AF8B-3ABC05EDBA0C}" srcOrd="3" destOrd="0" parTransId="{2A434198-78F5-48C6-A32E-071F1BA10BD3}" sibTransId="{4E9EA21B-4D03-4ADB-9A5B-4913C92DE246}"/>
    <dgm:cxn modelId="{19200D43-982B-4353-BE1F-2DA2298E16F7}" type="presOf" srcId="{E080313A-74D1-4A63-93A4-1696781B262F}" destId="{3FA32D90-7E24-4040-B98B-DD68FE25890C}" srcOrd="0" destOrd="0" presId="urn:microsoft.com/office/officeart/2005/8/layout/vProcess5"/>
    <dgm:cxn modelId="{233EF243-3AE3-4FF4-8FFD-72DDF8577F98}" srcId="{4A0D741F-A995-49A4-9D72-F15D26C2AAC3}" destId="{7291ECE2-EE00-47DF-A499-8C2CE8CD8171}" srcOrd="2" destOrd="0" parTransId="{ED21B433-9574-434F-9150-973ACE1CC45C}" sibTransId="{E080313A-74D1-4A63-93A4-1696781B262F}"/>
    <dgm:cxn modelId="{9C262564-E9B3-4FC8-9068-7187ED511BC6}" srcId="{4A0D741F-A995-49A4-9D72-F15D26C2AAC3}" destId="{DDDCF966-909B-4B0A-BDA9-2C4793959E47}" srcOrd="0" destOrd="0" parTransId="{3381FB94-C0F1-44DD-9CE6-A72CF5F622D5}" sibTransId="{926DBCD2-9DD9-4E9A-9364-85552F461945}"/>
    <dgm:cxn modelId="{52CC806C-3018-4BDB-9D3B-2252F2249BC3}" type="presOf" srcId="{E43FB19E-40BB-49A0-AF8B-3ABC05EDBA0C}" destId="{F52E59F4-0512-4F40-B24B-23D6BCB0153B}" srcOrd="0" destOrd="0" presId="urn:microsoft.com/office/officeart/2005/8/layout/vProcess5"/>
    <dgm:cxn modelId="{76D80F74-D8AF-4A17-9B87-D84DA7DC0621}" srcId="{4A0D741F-A995-49A4-9D72-F15D26C2AAC3}" destId="{0DA6D191-7A18-48AE-8E68-D1657679F4E4}" srcOrd="1" destOrd="0" parTransId="{E385A06C-D6DB-4C2E-BDFC-5E5A40813637}" sibTransId="{EA238806-9D01-4557-92BA-145E21CB06BC}"/>
    <dgm:cxn modelId="{DFCF847D-F1F9-443F-8A36-3F1580C481CD}" type="presOf" srcId="{EA238806-9D01-4557-92BA-145E21CB06BC}" destId="{698F19AE-5CF7-4B37-B1DF-36C7E5F404F4}" srcOrd="0" destOrd="0" presId="urn:microsoft.com/office/officeart/2005/8/layout/vProcess5"/>
    <dgm:cxn modelId="{06645793-3043-4CE5-AD05-D0BD53AA1171}" type="presOf" srcId="{DDDCF966-909B-4B0A-BDA9-2C4793959E47}" destId="{B90CF5DD-06CF-4B1D-8FBA-381F6938AAD9}" srcOrd="0" destOrd="0" presId="urn:microsoft.com/office/officeart/2005/8/layout/vProcess5"/>
    <dgm:cxn modelId="{08F1CE95-16F4-4BE0-B730-BC6657DEF1AE}" type="presOf" srcId="{0DA6D191-7A18-48AE-8E68-D1657679F4E4}" destId="{76EF1E4D-C24E-40E0-A6B3-D4AA04718408}" srcOrd="0" destOrd="0" presId="urn:microsoft.com/office/officeart/2005/8/layout/vProcess5"/>
    <dgm:cxn modelId="{ADC5E199-0FAF-456B-ADFB-6309563255B0}" type="presOf" srcId="{4A0D741F-A995-49A4-9D72-F15D26C2AAC3}" destId="{709B396B-276C-4579-A310-539EBA4CDD09}" srcOrd="0" destOrd="0" presId="urn:microsoft.com/office/officeart/2005/8/layout/vProcess5"/>
    <dgm:cxn modelId="{A837F1DB-98F4-4E85-9FF7-B71C46255186}" type="presOf" srcId="{E43FB19E-40BB-49A0-AF8B-3ABC05EDBA0C}" destId="{75862DBC-2919-4FD9-BA21-F7B5226BF7EF}" srcOrd="1" destOrd="0" presId="urn:microsoft.com/office/officeart/2005/8/layout/vProcess5"/>
    <dgm:cxn modelId="{333B77DF-9557-4F08-9893-14FC62163A1F}" type="presOf" srcId="{DDDCF966-909B-4B0A-BDA9-2C4793959E47}" destId="{18F7D5C6-6167-44FF-A843-DEF43AFF1C25}" srcOrd="1" destOrd="0" presId="urn:microsoft.com/office/officeart/2005/8/layout/vProcess5"/>
    <dgm:cxn modelId="{9232D6E6-0A8D-4C82-9998-4F4792767F23}" type="presOf" srcId="{926DBCD2-9DD9-4E9A-9364-85552F461945}" destId="{374EF94E-3E09-487F-B92A-9B10D0E2F5FF}" srcOrd="0" destOrd="0" presId="urn:microsoft.com/office/officeart/2005/8/layout/vProcess5"/>
    <dgm:cxn modelId="{91304AF4-9EBE-4CB0-931E-B99ADB8A152F}" type="presOf" srcId="{7291ECE2-EE00-47DF-A499-8C2CE8CD8171}" destId="{5FF8C887-6B4D-4E18-B8B0-B9493E9D1632}" srcOrd="1" destOrd="0" presId="urn:microsoft.com/office/officeart/2005/8/layout/vProcess5"/>
    <dgm:cxn modelId="{C99BA6FE-7816-42F8-99A5-34CD40AD1F47}" type="presOf" srcId="{7291ECE2-EE00-47DF-A499-8C2CE8CD8171}" destId="{9A6F5C2D-8AF3-4E97-BA33-3A92538BA544}" srcOrd="0" destOrd="0" presId="urn:microsoft.com/office/officeart/2005/8/layout/vProcess5"/>
    <dgm:cxn modelId="{F7AE3D83-8475-46D1-A436-CCFC998BC444}" type="presParOf" srcId="{709B396B-276C-4579-A310-539EBA4CDD09}" destId="{EEC2CBB1-3EEB-4C0C-A827-8A4AB8596934}" srcOrd="0" destOrd="0" presId="urn:microsoft.com/office/officeart/2005/8/layout/vProcess5"/>
    <dgm:cxn modelId="{5E802FA6-ACD5-4E47-B3C5-631C2D2FFDAB}" type="presParOf" srcId="{709B396B-276C-4579-A310-539EBA4CDD09}" destId="{B90CF5DD-06CF-4B1D-8FBA-381F6938AAD9}" srcOrd="1" destOrd="0" presId="urn:microsoft.com/office/officeart/2005/8/layout/vProcess5"/>
    <dgm:cxn modelId="{C0CA82FE-1C6B-4C52-8D4C-14F02FBC984B}" type="presParOf" srcId="{709B396B-276C-4579-A310-539EBA4CDD09}" destId="{76EF1E4D-C24E-40E0-A6B3-D4AA04718408}" srcOrd="2" destOrd="0" presId="urn:microsoft.com/office/officeart/2005/8/layout/vProcess5"/>
    <dgm:cxn modelId="{673A96EE-8462-4E98-A18E-52626B9EA4DD}" type="presParOf" srcId="{709B396B-276C-4579-A310-539EBA4CDD09}" destId="{9A6F5C2D-8AF3-4E97-BA33-3A92538BA544}" srcOrd="3" destOrd="0" presId="urn:microsoft.com/office/officeart/2005/8/layout/vProcess5"/>
    <dgm:cxn modelId="{C1E0E931-1309-4EAA-A016-E2C531EC6D55}" type="presParOf" srcId="{709B396B-276C-4579-A310-539EBA4CDD09}" destId="{F52E59F4-0512-4F40-B24B-23D6BCB0153B}" srcOrd="4" destOrd="0" presId="urn:microsoft.com/office/officeart/2005/8/layout/vProcess5"/>
    <dgm:cxn modelId="{BF4BB529-D04B-490E-B2BA-E9A8BA7363ED}" type="presParOf" srcId="{709B396B-276C-4579-A310-539EBA4CDD09}" destId="{374EF94E-3E09-487F-B92A-9B10D0E2F5FF}" srcOrd="5" destOrd="0" presId="urn:microsoft.com/office/officeart/2005/8/layout/vProcess5"/>
    <dgm:cxn modelId="{6BE78116-BAB7-4AFB-AD7D-880DED0BECE5}" type="presParOf" srcId="{709B396B-276C-4579-A310-539EBA4CDD09}" destId="{698F19AE-5CF7-4B37-B1DF-36C7E5F404F4}" srcOrd="6" destOrd="0" presId="urn:microsoft.com/office/officeart/2005/8/layout/vProcess5"/>
    <dgm:cxn modelId="{67E9469D-F74B-41B7-9161-DF45744AD963}" type="presParOf" srcId="{709B396B-276C-4579-A310-539EBA4CDD09}" destId="{3FA32D90-7E24-4040-B98B-DD68FE25890C}" srcOrd="7" destOrd="0" presId="urn:microsoft.com/office/officeart/2005/8/layout/vProcess5"/>
    <dgm:cxn modelId="{0EA83EAB-EF9A-4922-9BD5-68AE14A15F08}" type="presParOf" srcId="{709B396B-276C-4579-A310-539EBA4CDD09}" destId="{18F7D5C6-6167-44FF-A843-DEF43AFF1C25}" srcOrd="8" destOrd="0" presId="urn:microsoft.com/office/officeart/2005/8/layout/vProcess5"/>
    <dgm:cxn modelId="{F197CB0E-AC08-4AE5-B90E-2B2A10EAB594}" type="presParOf" srcId="{709B396B-276C-4579-A310-539EBA4CDD09}" destId="{008762BC-433D-4197-813E-158560130D87}" srcOrd="9" destOrd="0" presId="urn:microsoft.com/office/officeart/2005/8/layout/vProcess5"/>
    <dgm:cxn modelId="{02CD4D2C-1BA7-4E7E-A176-DB1440B308E9}" type="presParOf" srcId="{709B396B-276C-4579-A310-539EBA4CDD09}" destId="{5FF8C887-6B4D-4E18-B8B0-B9493E9D1632}" srcOrd="10" destOrd="0" presId="urn:microsoft.com/office/officeart/2005/8/layout/vProcess5"/>
    <dgm:cxn modelId="{3D3EE451-19FF-4A9A-A6B8-46D0C30DC2C3}" type="presParOf" srcId="{709B396B-276C-4579-A310-539EBA4CDD09}" destId="{75862DBC-2919-4FD9-BA21-F7B5226BF7EF}"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D99E6A-8A19-4121-A22D-D018C7CF49D3}"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7D8D6252-055A-4557-8E70-4848D8FEB54D}">
      <dgm:prSet phldrT="[Text]"/>
      <dgm:spPr>
        <a:effectLst>
          <a:outerShdw blurRad="50800" dist="38100" dir="2700000" algn="tl" rotWithShape="0">
            <a:prstClr val="black">
              <a:alpha val="40000"/>
            </a:prstClr>
          </a:outerShdw>
        </a:effectLst>
      </dgm:spPr>
      <dgm:t>
        <a:bodyPr/>
        <a:lstStyle/>
        <a:p>
          <a:r>
            <a:rPr lang="en-US" dirty="0"/>
            <a:t>Life expectancy</a:t>
          </a:r>
        </a:p>
      </dgm:t>
    </dgm:pt>
    <dgm:pt modelId="{DA296D71-E9C8-4959-9D46-D7D94F36CF33}" type="parTrans" cxnId="{734E04CA-9E8E-4E33-94A8-1AE205FA1CF1}">
      <dgm:prSet/>
      <dgm:spPr/>
      <dgm:t>
        <a:bodyPr/>
        <a:lstStyle/>
        <a:p>
          <a:endParaRPr lang="en-US"/>
        </a:p>
      </dgm:t>
    </dgm:pt>
    <dgm:pt modelId="{3DE06C5D-3BF5-42B7-8FA8-4A77B47B5172}" type="sibTrans" cxnId="{734E04CA-9E8E-4E33-94A8-1AE205FA1CF1}">
      <dgm:prSet/>
      <dgm:spPr/>
      <dgm:t>
        <a:bodyPr/>
        <a:lstStyle/>
        <a:p>
          <a:endParaRPr lang="en-US"/>
        </a:p>
      </dgm:t>
    </dgm:pt>
    <dgm:pt modelId="{A42B9883-018E-4DE1-9302-CDC6AC5F2501}">
      <dgm:prSet phldrT="[Text]"/>
      <dgm:spPr>
        <a:effectLst>
          <a:outerShdw blurRad="50800" dist="38100" dir="2700000" algn="tl" rotWithShape="0">
            <a:prstClr val="black">
              <a:alpha val="40000"/>
            </a:prstClr>
          </a:outerShdw>
        </a:effectLst>
      </dgm:spPr>
      <dgm:t>
        <a:bodyPr/>
        <a:lstStyle/>
        <a:p>
          <a:r>
            <a:rPr lang="en-US" dirty="0"/>
            <a:t>GDP Per Capita</a:t>
          </a:r>
        </a:p>
      </dgm:t>
    </dgm:pt>
    <dgm:pt modelId="{CD6B7B41-1FA4-458D-A6C9-F30716460840}" type="parTrans" cxnId="{21501DF9-7B3E-4B98-B47C-45D85C97536B}">
      <dgm:prSet/>
      <dgm:spPr/>
      <dgm:t>
        <a:bodyPr/>
        <a:lstStyle/>
        <a:p>
          <a:endParaRPr lang="en-US"/>
        </a:p>
      </dgm:t>
    </dgm:pt>
    <dgm:pt modelId="{79E4AE00-F6DA-4CBE-9FA9-FA6B1E4C40C8}" type="sibTrans" cxnId="{21501DF9-7B3E-4B98-B47C-45D85C97536B}">
      <dgm:prSet/>
      <dgm:spPr/>
      <dgm:t>
        <a:bodyPr/>
        <a:lstStyle/>
        <a:p>
          <a:endParaRPr lang="en-US"/>
        </a:p>
      </dgm:t>
    </dgm:pt>
    <dgm:pt modelId="{C9074D2B-C761-4797-AF40-474057FC389D}">
      <dgm:prSet phldrT="[Text]"/>
      <dgm:spPr>
        <a:effectLst>
          <a:outerShdw blurRad="50800" dist="38100" dir="2700000" algn="tl" rotWithShape="0">
            <a:prstClr val="black">
              <a:alpha val="40000"/>
            </a:prstClr>
          </a:outerShdw>
        </a:effectLst>
      </dgm:spPr>
      <dgm:t>
        <a:bodyPr/>
        <a:lstStyle/>
        <a:p>
          <a:r>
            <a:rPr lang="en-US" dirty="0"/>
            <a:t>Control Variables</a:t>
          </a:r>
        </a:p>
      </dgm:t>
    </dgm:pt>
    <dgm:pt modelId="{8B918A49-E6D8-478D-88B2-DA8B9D3274A8}" type="parTrans" cxnId="{C8ED70B5-BF79-4DA3-9F57-7E346A1778FD}">
      <dgm:prSet/>
      <dgm:spPr/>
      <dgm:t>
        <a:bodyPr/>
        <a:lstStyle/>
        <a:p>
          <a:endParaRPr lang="en-US"/>
        </a:p>
      </dgm:t>
    </dgm:pt>
    <dgm:pt modelId="{F897E0A8-B322-4361-B699-7B72902DE0D8}" type="sibTrans" cxnId="{C8ED70B5-BF79-4DA3-9F57-7E346A1778FD}">
      <dgm:prSet/>
      <dgm:spPr/>
      <dgm:t>
        <a:bodyPr/>
        <a:lstStyle/>
        <a:p>
          <a:endParaRPr lang="en-US"/>
        </a:p>
      </dgm:t>
    </dgm:pt>
    <dgm:pt modelId="{2E3C4B22-DB54-4ACB-B80B-9D9ED8AD959B}">
      <dgm:prSet phldrT="[Text]">
        <dgm:style>
          <a:lnRef idx="2">
            <a:schemeClr val="accent1"/>
          </a:lnRef>
          <a:fillRef idx="1">
            <a:schemeClr val="lt1"/>
          </a:fillRef>
          <a:effectRef idx="0">
            <a:schemeClr val="accent1"/>
          </a:effectRef>
          <a:fontRef idx="minor">
            <a:schemeClr val="dk1"/>
          </a:fontRef>
        </dgm:style>
      </dgm:prSet>
      <dgm:spPr/>
      <dgm:t>
        <a:bodyPr/>
        <a:lstStyle/>
        <a:p>
          <a:r>
            <a:rPr lang="en-US" dirty="0"/>
            <a:t>Dependent variable </a:t>
          </a:r>
        </a:p>
      </dgm:t>
    </dgm:pt>
    <dgm:pt modelId="{C64D1087-1264-45EB-A386-20CF877E3DDF}" type="parTrans" cxnId="{C8A9642C-C88A-49DC-83BA-157B693D7884}">
      <dgm:prSet/>
      <dgm:spPr/>
      <dgm:t>
        <a:bodyPr/>
        <a:lstStyle/>
        <a:p>
          <a:endParaRPr lang="en-US"/>
        </a:p>
      </dgm:t>
    </dgm:pt>
    <dgm:pt modelId="{B24D7F3A-B622-4740-B7ED-32D87B0A542C}" type="sibTrans" cxnId="{C8A9642C-C88A-49DC-83BA-157B693D7884}">
      <dgm:prSet/>
      <dgm:spPr/>
      <dgm:t>
        <a:bodyPr/>
        <a:lstStyle/>
        <a:p>
          <a:endParaRPr lang="en-US"/>
        </a:p>
      </dgm:t>
    </dgm:pt>
    <dgm:pt modelId="{2669A63F-8D24-4EAA-8AB5-FFFA7AE57CC6}">
      <dgm:prSet phldrT="[Text]">
        <dgm:style>
          <a:lnRef idx="2">
            <a:schemeClr val="accent1"/>
          </a:lnRef>
          <a:fillRef idx="1">
            <a:schemeClr val="lt1"/>
          </a:fillRef>
          <a:effectRef idx="0">
            <a:schemeClr val="accent1"/>
          </a:effectRef>
          <a:fontRef idx="minor">
            <a:schemeClr val="dk1"/>
          </a:fontRef>
        </dgm:style>
      </dgm:prSet>
      <dgm:spPr/>
      <dgm:t>
        <a:bodyPr/>
        <a:lstStyle/>
        <a:p>
          <a:r>
            <a:rPr lang="en-US" dirty="0"/>
            <a:t>Independent variables</a:t>
          </a:r>
        </a:p>
      </dgm:t>
    </dgm:pt>
    <dgm:pt modelId="{5B3D41C7-84B9-4553-8404-31C0520AB5AB}" type="parTrans" cxnId="{97670DD5-C628-435D-8BCD-395DBD49249F}">
      <dgm:prSet/>
      <dgm:spPr/>
      <dgm:t>
        <a:bodyPr/>
        <a:lstStyle/>
        <a:p>
          <a:endParaRPr lang="en-US"/>
        </a:p>
      </dgm:t>
    </dgm:pt>
    <dgm:pt modelId="{65D7E6C9-C7BE-47DD-BCF0-D9241522AB92}" type="sibTrans" cxnId="{97670DD5-C628-435D-8BCD-395DBD49249F}">
      <dgm:prSet/>
      <dgm:spPr/>
      <dgm:t>
        <a:bodyPr/>
        <a:lstStyle/>
        <a:p>
          <a:endParaRPr lang="en-US"/>
        </a:p>
      </dgm:t>
    </dgm:pt>
    <dgm:pt modelId="{BD20839A-CD29-4384-BC4E-785CAA7845AD}">
      <dgm:prSet/>
      <dgm:spPr>
        <a:effectLst>
          <a:outerShdw blurRad="50800" dist="38100" dir="2700000" algn="tl" rotWithShape="0">
            <a:prstClr val="black">
              <a:alpha val="40000"/>
            </a:prstClr>
          </a:outerShdw>
        </a:effectLst>
      </dgm:spPr>
      <dgm:t>
        <a:bodyPr/>
        <a:lstStyle/>
        <a:p>
          <a:r>
            <a:rPr lang="en-US" dirty="0"/>
            <a:t>IV’s for GDP Per Capita</a:t>
          </a:r>
        </a:p>
      </dgm:t>
    </dgm:pt>
    <dgm:pt modelId="{FB3D83F8-8B35-4711-8C81-2C4CD4F20781}" type="parTrans" cxnId="{1812F804-5854-4476-AEAC-573C51A73224}">
      <dgm:prSet/>
      <dgm:spPr/>
      <dgm:t>
        <a:bodyPr/>
        <a:lstStyle/>
        <a:p>
          <a:endParaRPr lang="en-US"/>
        </a:p>
      </dgm:t>
    </dgm:pt>
    <dgm:pt modelId="{3EF48144-A574-4DA4-A631-08798048C814}" type="sibTrans" cxnId="{1812F804-5854-4476-AEAC-573C51A73224}">
      <dgm:prSet/>
      <dgm:spPr/>
      <dgm:t>
        <a:bodyPr/>
        <a:lstStyle/>
        <a:p>
          <a:endParaRPr lang="en-US"/>
        </a:p>
      </dgm:t>
    </dgm:pt>
    <dgm:pt modelId="{E3B88337-489B-4B1F-A72E-803FE16A6954}">
      <dgm:prSet/>
      <dgm:spPr>
        <a:effectLst>
          <a:outerShdw blurRad="50800" dist="38100" dir="2700000" algn="tl" rotWithShape="0">
            <a:prstClr val="black">
              <a:alpha val="40000"/>
            </a:prstClr>
          </a:outerShdw>
        </a:effectLst>
      </dgm:spPr>
      <dgm:t>
        <a:bodyPr/>
        <a:lstStyle/>
        <a:p>
          <a:r>
            <a:rPr lang="en-US" dirty="0"/>
            <a:t> </a:t>
          </a:r>
          <a:r>
            <a:rPr lang="en-US" dirty="0" err="1"/>
            <a:t>Urban_population</a:t>
          </a:r>
          <a:r>
            <a:rPr lang="en-US" dirty="0"/>
            <a:t>, </a:t>
          </a:r>
          <a:r>
            <a:rPr lang="en-US" dirty="0" err="1"/>
            <a:t>Fertility_rate</a:t>
          </a:r>
          <a:r>
            <a:rPr lang="en-US" dirty="0"/>
            <a:t>, </a:t>
          </a:r>
          <a:r>
            <a:rPr lang="en-US" dirty="0" err="1"/>
            <a:t>Immunization_DPT</a:t>
          </a:r>
          <a:r>
            <a:rPr lang="en-US" dirty="0"/>
            <a:t>, </a:t>
          </a:r>
          <a:r>
            <a:rPr lang="en-US" dirty="0" err="1"/>
            <a:t>Immunization_measles</a:t>
          </a:r>
          <a:endParaRPr lang="en-US" dirty="0"/>
        </a:p>
      </dgm:t>
    </dgm:pt>
    <dgm:pt modelId="{2964D17F-3C87-4420-AB27-A9B637251FB5}" type="parTrans" cxnId="{F982D38C-0EB8-4B17-B2E3-52FEA02901C2}">
      <dgm:prSet/>
      <dgm:spPr/>
      <dgm:t>
        <a:bodyPr/>
        <a:lstStyle/>
        <a:p>
          <a:endParaRPr lang="en-US"/>
        </a:p>
      </dgm:t>
    </dgm:pt>
    <dgm:pt modelId="{3DE2BA52-0885-41CC-BF36-03AF9C9E7CFE}" type="sibTrans" cxnId="{F982D38C-0EB8-4B17-B2E3-52FEA02901C2}">
      <dgm:prSet/>
      <dgm:spPr/>
      <dgm:t>
        <a:bodyPr/>
        <a:lstStyle/>
        <a:p>
          <a:endParaRPr lang="en-US"/>
        </a:p>
      </dgm:t>
    </dgm:pt>
    <dgm:pt modelId="{3734BE4B-7016-41A1-A143-2A428E489F62}">
      <dgm:prSet/>
      <dgm:spPr>
        <a:effectLst>
          <a:outerShdw blurRad="50800" dist="38100" dir="2700000" algn="tl" rotWithShape="0">
            <a:prstClr val="black">
              <a:alpha val="40000"/>
            </a:prstClr>
          </a:outerShdw>
        </a:effectLst>
      </dgm:spPr>
      <dgm:t>
        <a:bodyPr/>
        <a:lstStyle/>
        <a:p>
          <a:r>
            <a:rPr lang="en-US"/>
            <a:t>export, FDI</a:t>
          </a:r>
        </a:p>
      </dgm:t>
    </dgm:pt>
    <dgm:pt modelId="{518AD3F5-1184-44BC-B83E-D4D5208B5660}" type="parTrans" cxnId="{DCAD76F5-95A4-4286-BA7D-D90891FC4779}">
      <dgm:prSet/>
      <dgm:spPr/>
      <dgm:t>
        <a:bodyPr/>
        <a:lstStyle/>
        <a:p>
          <a:endParaRPr lang="en-US"/>
        </a:p>
      </dgm:t>
    </dgm:pt>
    <dgm:pt modelId="{CFE63C3B-3343-40C6-943E-CAA19A4727C4}" type="sibTrans" cxnId="{DCAD76F5-95A4-4286-BA7D-D90891FC4779}">
      <dgm:prSet/>
      <dgm:spPr/>
      <dgm:t>
        <a:bodyPr/>
        <a:lstStyle/>
        <a:p>
          <a:endParaRPr lang="en-US"/>
        </a:p>
      </dgm:t>
    </dgm:pt>
    <dgm:pt modelId="{E390B0B9-D88F-4D51-8305-CC7FDB4A409C}" type="pres">
      <dgm:prSet presAssocID="{70D99E6A-8A19-4121-A22D-D018C7CF49D3}" presName="mainComposite" presStyleCnt="0">
        <dgm:presLayoutVars>
          <dgm:chPref val="1"/>
          <dgm:dir/>
          <dgm:animOne val="branch"/>
          <dgm:animLvl val="lvl"/>
          <dgm:resizeHandles val="exact"/>
        </dgm:presLayoutVars>
      </dgm:prSet>
      <dgm:spPr/>
    </dgm:pt>
    <dgm:pt modelId="{77835AE6-9B9B-473D-9300-77680887A92D}" type="pres">
      <dgm:prSet presAssocID="{70D99E6A-8A19-4121-A22D-D018C7CF49D3}" presName="hierFlow" presStyleCnt="0"/>
      <dgm:spPr/>
    </dgm:pt>
    <dgm:pt modelId="{2DE9C2D8-D6B8-49F2-9F3F-F7CB2CEAA055}" type="pres">
      <dgm:prSet presAssocID="{70D99E6A-8A19-4121-A22D-D018C7CF49D3}" presName="firstBuf" presStyleCnt="0"/>
      <dgm:spPr/>
    </dgm:pt>
    <dgm:pt modelId="{3E69620B-E5BD-43EF-BEDF-8CEAA50829D7}" type="pres">
      <dgm:prSet presAssocID="{70D99E6A-8A19-4121-A22D-D018C7CF49D3}" presName="hierChild1" presStyleCnt="0">
        <dgm:presLayoutVars>
          <dgm:chPref val="1"/>
          <dgm:animOne val="branch"/>
          <dgm:animLvl val="lvl"/>
        </dgm:presLayoutVars>
      </dgm:prSet>
      <dgm:spPr/>
    </dgm:pt>
    <dgm:pt modelId="{2A537945-B8BF-455F-8E3E-47FA1A2130B0}" type="pres">
      <dgm:prSet presAssocID="{7D8D6252-055A-4557-8E70-4848D8FEB54D}" presName="Name14" presStyleCnt="0"/>
      <dgm:spPr/>
    </dgm:pt>
    <dgm:pt modelId="{153E247F-1E87-4B90-B406-333F4CDDEE58}" type="pres">
      <dgm:prSet presAssocID="{7D8D6252-055A-4557-8E70-4848D8FEB54D}" presName="level1Shape" presStyleLbl="node0" presStyleIdx="0" presStyleCnt="1">
        <dgm:presLayoutVars>
          <dgm:chPref val="3"/>
        </dgm:presLayoutVars>
      </dgm:prSet>
      <dgm:spPr/>
    </dgm:pt>
    <dgm:pt modelId="{481BC751-5760-45D3-BF0E-EE54770F783E}" type="pres">
      <dgm:prSet presAssocID="{7D8D6252-055A-4557-8E70-4848D8FEB54D}" presName="hierChild2" presStyleCnt="0"/>
      <dgm:spPr/>
    </dgm:pt>
    <dgm:pt modelId="{81A9D560-5073-4BB4-9E0A-D0D00390DCF5}" type="pres">
      <dgm:prSet presAssocID="{CD6B7B41-1FA4-458D-A6C9-F30716460840}" presName="Name19" presStyleLbl="parChTrans1D2" presStyleIdx="0" presStyleCnt="3"/>
      <dgm:spPr/>
    </dgm:pt>
    <dgm:pt modelId="{A614BA5F-50FB-4E22-B014-8371BF4D797B}" type="pres">
      <dgm:prSet presAssocID="{A42B9883-018E-4DE1-9302-CDC6AC5F2501}" presName="Name21" presStyleCnt="0"/>
      <dgm:spPr/>
    </dgm:pt>
    <dgm:pt modelId="{0EC111D5-51C7-4590-8128-ED7D5D133E73}" type="pres">
      <dgm:prSet presAssocID="{A42B9883-018E-4DE1-9302-CDC6AC5F2501}" presName="level2Shape" presStyleLbl="node2" presStyleIdx="0" presStyleCnt="3"/>
      <dgm:spPr/>
    </dgm:pt>
    <dgm:pt modelId="{7CB88365-0097-4858-91BC-7C7AAE3B6A5B}" type="pres">
      <dgm:prSet presAssocID="{A42B9883-018E-4DE1-9302-CDC6AC5F2501}" presName="hierChild3" presStyleCnt="0"/>
      <dgm:spPr/>
    </dgm:pt>
    <dgm:pt modelId="{A2287BC0-453B-4C6F-9735-844010820660}" type="pres">
      <dgm:prSet presAssocID="{8B918A49-E6D8-478D-88B2-DA8B9D3274A8}" presName="Name19" presStyleLbl="parChTrans1D2" presStyleIdx="1" presStyleCnt="3"/>
      <dgm:spPr/>
    </dgm:pt>
    <dgm:pt modelId="{05DB3A45-4C2C-4068-B44E-9DCD1FA8BB9C}" type="pres">
      <dgm:prSet presAssocID="{C9074D2B-C761-4797-AF40-474057FC389D}" presName="Name21" presStyleCnt="0"/>
      <dgm:spPr/>
    </dgm:pt>
    <dgm:pt modelId="{08B1D433-50AA-4017-9EF9-302F88AEC349}" type="pres">
      <dgm:prSet presAssocID="{C9074D2B-C761-4797-AF40-474057FC389D}" presName="level2Shape" presStyleLbl="node2" presStyleIdx="1" presStyleCnt="3"/>
      <dgm:spPr/>
    </dgm:pt>
    <dgm:pt modelId="{B8D68264-AA60-438A-B3C3-BF392FA5C026}" type="pres">
      <dgm:prSet presAssocID="{C9074D2B-C761-4797-AF40-474057FC389D}" presName="hierChild3" presStyleCnt="0"/>
      <dgm:spPr/>
    </dgm:pt>
    <dgm:pt modelId="{40B73F46-AF2A-4BD9-B592-32915D7D853C}" type="pres">
      <dgm:prSet presAssocID="{2964D17F-3C87-4420-AB27-A9B637251FB5}" presName="Name19" presStyleLbl="parChTrans1D3" presStyleIdx="0" presStyleCnt="2"/>
      <dgm:spPr/>
    </dgm:pt>
    <dgm:pt modelId="{5688375B-D09E-4499-8840-A194649426DA}" type="pres">
      <dgm:prSet presAssocID="{E3B88337-489B-4B1F-A72E-803FE16A6954}" presName="Name21" presStyleCnt="0"/>
      <dgm:spPr/>
    </dgm:pt>
    <dgm:pt modelId="{DCCA792F-CFCE-4B93-B435-FC51437C2071}" type="pres">
      <dgm:prSet presAssocID="{E3B88337-489B-4B1F-A72E-803FE16A6954}" presName="level2Shape" presStyleLbl="node3" presStyleIdx="0" presStyleCnt="2" custScaleX="119128" custScaleY="132715"/>
      <dgm:spPr/>
    </dgm:pt>
    <dgm:pt modelId="{ACAB9F58-104C-4065-9D3A-7E58E00EB400}" type="pres">
      <dgm:prSet presAssocID="{E3B88337-489B-4B1F-A72E-803FE16A6954}" presName="hierChild3" presStyleCnt="0"/>
      <dgm:spPr/>
    </dgm:pt>
    <dgm:pt modelId="{9213AF29-673A-4CB4-B2E3-D09AB885DA11}" type="pres">
      <dgm:prSet presAssocID="{FB3D83F8-8B35-4711-8C81-2C4CD4F20781}" presName="Name19" presStyleLbl="parChTrans1D2" presStyleIdx="2" presStyleCnt="3"/>
      <dgm:spPr/>
    </dgm:pt>
    <dgm:pt modelId="{5D073FAC-E5F9-4281-9CA4-2BE0BCE1C7B7}" type="pres">
      <dgm:prSet presAssocID="{BD20839A-CD29-4384-BC4E-785CAA7845AD}" presName="Name21" presStyleCnt="0"/>
      <dgm:spPr/>
    </dgm:pt>
    <dgm:pt modelId="{DE975EE3-9C68-4C88-8768-EDA5A784E561}" type="pres">
      <dgm:prSet presAssocID="{BD20839A-CD29-4384-BC4E-785CAA7845AD}" presName="level2Shape" presStyleLbl="node2" presStyleIdx="2" presStyleCnt="3"/>
      <dgm:spPr/>
    </dgm:pt>
    <dgm:pt modelId="{1CADCB87-4A5B-49DC-8468-36679F86E15E}" type="pres">
      <dgm:prSet presAssocID="{BD20839A-CD29-4384-BC4E-785CAA7845AD}" presName="hierChild3" presStyleCnt="0"/>
      <dgm:spPr/>
    </dgm:pt>
    <dgm:pt modelId="{1F2D1720-7828-4299-8B70-1E81162BDE21}" type="pres">
      <dgm:prSet presAssocID="{518AD3F5-1184-44BC-B83E-D4D5208B5660}" presName="Name19" presStyleLbl="parChTrans1D3" presStyleIdx="1" presStyleCnt="2"/>
      <dgm:spPr/>
    </dgm:pt>
    <dgm:pt modelId="{3EC89F6C-6734-442A-84AA-66EFF927401A}" type="pres">
      <dgm:prSet presAssocID="{3734BE4B-7016-41A1-A143-2A428E489F62}" presName="Name21" presStyleCnt="0"/>
      <dgm:spPr/>
    </dgm:pt>
    <dgm:pt modelId="{CC0AAFFD-A890-47A7-82ED-20A2B5707723}" type="pres">
      <dgm:prSet presAssocID="{3734BE4B-7016-41A1-A143-2A428E489F62}" presName="level2Shape" presStyleLbl="node3" presStyleIdx="1" presStyleCnt="2"/>
      <dgm:spPr/>
    </dgm:pt>
    <dgm:pt modelId="{4109509B-959D-47B4-BB30-B6EF93192884}" type="pres">
      <dgm:prSet presAssocID="{3734BE4B-7016-41A1-A143-2A428E489F62}" presName="hierChild3" presStyleCnt="0"/>
      <dgm:spPr/>
    </dgm:pt>
    <dgm:pt modelId="{17388797-2E59-4EB4-B2AD-F58F478F2DD5}" type="pres">
      <dgm:prSet presAssocID="{70D99E6A-8A19-4121-A22D-D018C7CF49D3}" presName="bgShapesFlow" presStyleCnt="0"/>
      <dgm:spPr/>
    </dgm:pt>
    <dgm:pt modelId="{1AFD430F-C8AD-4B3B-B052-9A6C677AE56C}" type="pres">
      <dgm:prSet presAssocID="{2E3C4B22-DB54-4ACB-B80B-9D9ED8AD959B}" presName="rectComp" presStyleCnt="0"/>
      <dgm:spPr/>
    </dgm:pt>
    <dgm:pt modelId="{77C6DE3E-5DF7-43A3-B198-9FAF801D6A85}" type="pres">
      <dgm:prSet presAssocID="{2E3C4B22-DB54-4ACB-B80B-9D9ED8AD959B}" presName="bgRect" presStyleLbl="bgShp" presStyleIdx="0" presStyleCnt="2"/>
      <dgm:spPr/>
    </dgm:pt>
    <dgm:pt modelId="{8EA9EC43-0E8D-4BC3-B1E1-52162CBB02EB}" type="pres">
      <dgm:prSet presAssocID="{2E3C4B22-DB54-4ACB-B80B-9D9ED8AD959B}" presName="bgRectTx" presStyleLbl="bgShp" presStyleIdx="0" presStyleCnt="2">
        <dgm:presLayoutVars>
          <dgm:bulletEnabled val="1"/>
        </dgm:presLayoutVars>
      </dgm:prSet>
      <dgm:spPr/>
    </dgm:pt>
    <dgm:pt modelId="{3E59FE4A-FE5A-4D4A-AFED-9E459D3C39C0}" type="pres">
      <dgm:prSet presAssocID="{2E3C4B22-DB54-4ACB-B80B-9D9ED8AD959B}" presName="spComp" presStyleCnt="0"/>
      <dgm:spPr/>
    </dgm:pt>
    <dgm:pt modelId="{11945CB5-E322-482D-A850-1AA170C34104}" type="pres">
      <dgm:prSet presAssocID="{2E3C4B22-DB54-4ACB-B80B-9D9ED8AD959B}" presName="vSp" presStyleCnt="0"/>
      <dgm:spPr/>
    </dgm:pt>
    <dgm:pt modelId="{79F2CA0A-765C-4667-980C-BDFCF31941AA}" type="pres">
      <dgm:prSet presAssocID="{2669A63F-8D24-4EAA-8AB5-FFFA7AE57CC6}" presName="rectComp" presStyleCnt="0"/>
      <dgm:spPr/>
    </dgm:pt>
    <dgm:pt modelId="{96E2F6AC-F241-482B-BC00-D9DE90049EAE}" type="pres">
      <dgm:prSet presAssocID="{2669A63F-8D24-4EAA-8AB5-FFFA7AE57CC6}" presName="bgRect" presStyleLbl="bgShp" presStyleIdx="1" presStyleCnt="2"/>
      <dgm:spPr/>
    </dgm:pt>
    <dgm:pt modelId="{7AB102C8-4355-4746-BBBD-8E128EA8C6D7}" type="pres">
      <dgm:prSet presAssocID="{2669A63F-8D24-4EAA-8AB5-FFFA7AE57CC6}" presName="bgRectTx" presStyleLbl="bgShp" presStyleIdx="1" presStyleCnt="2">
        <dgm:presLayoutVars>
          <dgm:bulletEnabled val="1"/>
        </dgm:presLayoutVars>
      </dgm:prSet>
      <dgm:spPr/>
    </dgm:pt>
  </dgm:ptLst>
  <dgm:cxnLst>
    <dgm:cxn modelId="{2AFFCB03-C586-43A3-84B7-265D3882E0FB}" type="presOf" srcId="{A42B9883-018E-4DE1-9302-CDC6AC5F2501}" destId="{0EC111D5-51C7-4590-8128-ED7D5D133E73}" srcOrd="0" destOrd="0" presId="urn:microsoft.com/office/officeart/2005/8/layout/hierarchy6"/>
    <dgm:cxn modelId="{1812F804-5854-4476-AEAC-573C51A73224}" srcId="{7D8D6252-055A-4557-8E70-4848D8FEB54D}" destId="{BD20839A-CD29-4384-BC4E-785CAA7845AD}" srcOrd="2" destOrd="0" parTransId="{FB3D83F8-8B35-4711-8C81-2C4CD4F20781}" sibTransId="{3EF48144-A574-4DA4-A631-08798048C814}"/>
    <dgm:cxn modelId="{D6CA000F-BA44-42B3-9EE4-68EDA33234ED}" type="presOf" srcId="{E3B88337-489B-4B1F-A72E-803FE16A6954}" destId="{DCCA792F-CFCE-4B93-B435-FC51437C2071}" srcOrd="0" destOrd="0" presId="urn:microsoft.com/office/officeart/2005/8/layout/hierarchy6"/>
    <dgm:cxn modelId="{C8A9642C-C88A-49DC-83BA-157B693D7884}" srcId="{70D99E6A-8A19-4121-A22D-D018C7CF49D3}" destId="{2E3C4B22-DB54-4ACB-B80B-9D9ED8AD959B}" srcOrd="1" destOrd="0" parTransId="{C64D1087-1264-45EB-A386-20CF877E3DDF}" sibTransId="{B24D7F3A-B622-4740-B7ED-32D87B0A542C}"/>
    <dgm:cxn modelId="{A90B1C5B-82C0-4796-97B2-18751FBE15C1}" type="presOf" srcId="{3734BE4B-7016-41A1-A143-2A428E489F62}" destId="{CC0AAFFD-A890-47A7-82ED-20A2B5707723}" srcOrd="0" destOrd="0" presId="urn:microsoft.com/office/officeart/2005/8/layout/hierarchy6"/>
    <dgm:cxn modelId="{9A3D1345-4D2D-4C13-82DB-62F37A33D944}" type="presOf" srcId="{70D99E6A-8A19-4121-A22D-D018C7CF49D3}" destId="{E390B0B9-D88F-4D51-8305-CC7FDB4A409C}" srcOrd="0" destOrd="0" presId="urn:microsoft.com/office/officeart/2005/8/layout/hierarchy6"/>
    <dgm:cxn modelId="{3F01B046-189D-4F23-A215-BA8A869E29BE}" type="presOf" srcId="{FB3D83F8-8B35-4711-8C81-2C4CD4F20781}" destId="{9213AF29-673A-4CB4-B2E3-D09AB885DA11}" srcOrd="0" destOrd="0" presId="urn:microsoft.com/office/officeart/2005/8/layout/hierarchy6"/>
    <dgm:cxn modelId="{4AA2FE7E-C9CB-4007-BC85-103F50C5F473}" type="presOf" srcId="{2964D17F-3C87-4420-AB27-A9B637251FB5}" destId="{40B73F46-AF2A-4BD9-B592-32915D7D853C}" srcOrd="0" destOrd="0" presId="urn:microsoft.com/office/officeart/2005/8/layout/hierarchy6"/>
    <dgm:cxn modelId="{F982D38C-0EB8-4B17-B2E3-52FEA02901C2}" srcId="{C9074D2B-C761-4797-AF40-474057FC389D}" destId="{E3B88337-489B-4B1F-A72E-803FE16A6954}" srcOrd="0" destOrd="0" parTransId="{2964D17F-3C87-4420-AB27-A9B637251FB5}" sibTransId="{3DE2BA52-0885-41CC-BF36-03AF9C9E7CFE}"/>
    <dgm:cxn modelId="{3B64378F-84BB-4B0B-AB6D-FCAFE4B7EB34}" type="presOf" srcId="{BD20839A-CD29-4384-BC4E-785CAA7845AD}" destId="{DE975EE3-9C68-4C88-8768-EDA5A784E561}" srcOrd="0" destOrd="0" presId="urn:microsoft.com/office/officeart/2005/8/layout/hierarchy6"/>
    <dgm:cxn modelId="{A1A240B2-FC74-4F0F-A0AB-DE077C570C0D}" type="presOf" srcId="{C9074D2B-C761-4797-AF40-474057FC389D}" destId="{08B1D433-50AA-4017-9EF9-302F88AEC349}" srcOrd="0" destOrd="0" presId="urn:microsoft.com/office/officeart/2005/8/layout/hierarchy6"/>
    <dgm:cxn modelId="{C8ED70B5-BF79-4DA3-9F57-7E346A1778FD}" srcId="{7D8D6252-055A-4557-8E70-4848D8FEB54D}" destId="{C9074D2B-C761-4797-AF40-474057FC389D}" srcOrd="1" destOrd="0" parTransId="{8B918A49-E6D8-478D-88B2-DA8B9D3274A8}" sibTransId="{F897E0A8-B322-4361-B699-7B72902DE0D8}"/>
    <dgm:cxn modelId="{694B0CB6-319C-4B93-852C-06F5FA9FD2AC}" type="presOf" srcId="{2E3C4B22-DB54-4ACB-B80B-9D9ED8AD959B}" destId="{77C6DE3E-5DF7-43A3-B198-9FAF801D6A85}" srcOrd="0" destOrd="0" presId="urn:microsoft.com/office/officeart/2005/8/layout/hierarchy6"/>
    <dgm:cxn modelId="{94602FBD-FBBB-4AC5-85DB-72899705F86B}" type="presOf" srcId="{2669A63F-8D24-4EAA-8AB5-FFFA7AE57CC6}" destId="{7AB102C8-4355-4746-BBBD-8E128EA8C6D7}" srcOrd="1" destOrd="0" presId="urn:microsoft.com/office/officeart/2005/8/layout/hierarchy6"/>
    <dgm:cxn modelId="{2422ABC1-43B3-48A1-986F-A74E072A3A88}" type="presOf" srcId="{518AD3F5-1184-44BC-B83E-D4D5208B5660}" destId="{1F2D1720-7828-4299-8B70-1E81162BDE21}" srcOrd="0" destOrd="0" presId="urn:microsoft.com/office/officeart/2005/8/layout/hierarchy6"/>
    <dgm:cxn modelId="{734E04CA-9E8E-4E33-94A8-1AE205FA1CF1}" srcId="{70D99E6A-8A19-4121-A22D-D018C7CF49D3}" destId="{7D8D6252-055A-4557-8E70-4848D8FEB54D}" srcOrd="0" destOrd="0" parTransId="{DA296D71-E9C8-4959-9D46-D7D94F36CF33}" sibTransId="{3DE06C5D-3BF5-42B7-8FA8-4A77B47B5172}"/>
    <dgm:cxn modelId="{33F7DFCA-82FD-43C8-8816-15B729BEF1C0}" type="presOf" srcId="{2E3C4B22-DB54-4ACB-B80B-9D9ED8AD959B}" destId="{8EA9EC43-0E8D-4BC3-B1E1-52162CBB02EB}" srcOrd="1" destOrd="0" presId="urn:microsoft.com/office/officeart/2005/8/layout/hierarchy6"/>
    <dgm:cxn modelId="{97670DD5-C628-435D-8BCD-395DBD49249F}" srcId="{70D99E6A-8A19-4121-A22D-D018C7CF49D3}" destId="{2669A63F-8D24-4EAA-8AB5-FFFA7AE57CC6}" srcOrd="2" destOrd="0" parTransId="{5B3D41C7-84B9-4553-8404-31C0520AB5AB}" sibTransId="{65D7E6C9-C7BE-47DD-BCF0-D9241522AB92}"/>
    <dgm:cxn modelId="{F08ED4DD-C76F-4681-B0E6-527346E54100}" type="presOf" srcId="{8B918A49-E6D8-478D-88B2-DA8B9D3274A8}" destId="{A2287BC0-453B-4C6F-9735-844010820660}" srcOrd="0" destOrd="0" presId="urn:microsoft.com/office/officeart/2005/8/layout/hierarchy6"/>
    <dgm:cxn modelId="{804361E7-2C4D-4D6B-8D2C-1AB7340DBE8B}" type="presOf" srcId="{CD6B7B41-1FA4-458D-A6C9-F30716460840}" destId="{81A9D560-5073-4BB4-9E0A-D0D00390DCF5}" srcOrd="0" destOrd="0" presId="urn:microsoft.com/office/officeart/2005/8/layout/hierarchy6"/>
    <dgm:cxn modelId="{143DFEEB-772A-44E6-890A-028F53D58073}" type="presOf" srcId="{2669A63F-8D24-4EAA-8AB5-FFFA7AE57CC6}" destId="{96E2F6AC-F241-482B-BC00-D9DE90049EAE}" srcOrd="0" destOrd="0" presId="urn:microsoft.com/office/officeart/2005/8/layout/hierarchy6"/>
    <dgm:cxn modelId="{DCAD76F5-95A4-4286-BA7D-D90891FC4779}" srcId="{BD20839A-CD29-4384-BC4E-785CAA7845AD}" destId="{3734BE4B-7016-41A1-A143-2A428E489F62}" srcOrd="0" destOrd="0" parTransId="{518AD3F5-1184-44BC-B83E-D4D5208B5660}" sibTransId="{CFE63C3B-3343-40C6-943E-CAA19A4727C4}"/>
    <dgm:cxn modelId="{52E7D0F8-C210-4A3F-9F0F-CCDFC629F37A}" type="presOf" srcId="{7D8D6252-055A-4557-8E70-4848D8FEB54D}" destId="{153E247F-1E87-4B90-B406-333F4CDDEE58}" srcOrd="0" destOrd="0" presId="urn:microsoft.com/office/officeart/2005/8/layout/hierarchy6"/>
    <dgm:cxn modelId="{21501DF9-7B3E-4B98-B47C-45D85C97536B}" srcId="{7D8D6252-055A-4557-8E70-4848D8FEB54D}" destId="{A42B9883-018E-4DE1-9302-CDC6AC5F2501}" srcOrd="0" destOrd="0" parTransId="{CD6B7B41-1FA4-458D-A6C9-F30716460840}" sibTransId="{79E4AE00-F6DA-4CBE-9FA9-FA6B1E4C40C8}"/>
    <dgm:cxn modelId="{9958D6D1-B68B-4F22-AF99-E36290521DED}" type="presParOf" srcId="{E390B0B9-D88F-4D51-8305-CC7FDB4A409C}" destId="{77835AE6-9B9B-473D-9300-77680887A92D}" srcOrd="0" destOrd="0" presId="urn:microsoft.com/office/officeart/2005/8/layout/hierarchy6"/>
    <dgm:cxn modelId="{4F704FF4-3A58-45AD-9667-F9682BD3A061}" type="presParOf" srcId="{77835AE6-9B9B-473D-9300-77680887A92D}" destId="{2DE9C2D8-D6B8-49F2-9F3F-F7CB2CEAA055}" srcOrd="0" destOrd="0" presId="urn:microsoft.com/office/officeart/2005/8/layout/hierarchy6"/>
    <dgm:cxn modelId="{136C5533-4BE0-4D49-9120-B309F2F490A3}" type="presParOf" srcId="{77835AE6-9B9B-473D-9300-77680887A92D}" destId="{3E69620B-E5BD-43EF-BEDF-8CEAA50829D7}" srcOrd="1" destOrd="0" presId="urn:microsoft.com/office/officeart/2005/8/layout/hierarchy6"/>
    <dgm:cxn modelId="{AA30267B-C1B4-4992-8E69-DC21868DB296}" type="presParOf" srcId="{3E69620B-E5BD-43EF-BEDF-8CEAA50829D7}" destId="{2A537945-B8BF-455F-8E3E-47FA1A2130B0}" srcOrd="0" destOrd="0" presId="urn:microsoft.com/office/officeart/2005/8/layout/hierarchy6"/>
    <dgm:cxn modelId="{9D245934-FD01-4C5C-9B91-3D2B20133C6A}" type="presParOf" srcId="{2A537945-B8BF-455F-8E3E-47FA1A2130B0}" destId="{153E247F-1E87-4B90-B406-333F4CDDEE58}" srcOrd="0" destOrd="0" presId="urn:microsoft.com/office/officeart/2005/8/layout/hierarchy6"/>
    <dgm:cxn modelId="{121EAFE5-8EEC-4BA6-9340-519C0572ABCC}" type="presParOf" srcId="{2A537945-B8BF-455F-8E3E-47FA1A2130B0}" destId="{481BC751-5760-45D3-BF0E-EE54770F783E}" srcOrd="1" destOrd="0" presId="urn:microsoft.com/office/officeart/2005/8/layout/hierarchy6"/>
    <dgm:cxn modelId="{D64CFC0F-5034-4DDC-AB88-3D8CB904A285}" type="presParOf" srcId="{481BC751-5760-45D3-BF0E-EE54770F783E}" destId="{81A9D560-5073-4BB4-9E0A-D0D00390DCF5}" srcOrd="0" destOrd="0" presId="urn:microsoft.com/office/officeart/2005/8/layout/hierarchy6"/>
    <dgm:cxn modelId="{1DE17839-CD3C-42E0-8A8A-D4E8B797F7A5}" type="presParOf" srcId="{481BC751-5760-45D3-BF0E-EE54770F783E}" destId="{A614BA5F-50FB-4E22-B014-8371BF4D797B}" srcOrd="1" destOrd="0" presId="urn:microsoft.com/office/officeart/2005/8/layout/hierarchy6"/>
    <dgm:cxn modelId="{616F29E0-DD94-4EFA-8D04-C1E86D9E9E19}" type="presParOf" srcId="{A614BA5F-50FB-4E22-B014-8371BF4D797B}" destId="{0EC111D5-51C7-4590-8128-ED7D5D133E73}" srcOrd="0" destOrd="0" presId="urn:microsoft.com/office/officeart/2005/8/layout/hierarchy6"/>
    <dgm:cxn modelId="{053EF746-5448-4D83-811B-114289B08147}" type="presParOf" srcId="{A614BA5F-50FB-4E22-B014-8371BF4D797B}" destId="{7CB88365-0097-4858-91BC-7C7AAE3B6A5B}" srcOrd="1" destOrd="0" presId="urn:microsoft.com/office/officeart/2005/8/layout/hierarchy6"/>
    <dgm:cxn modelId="{81D28991-D126-4570-A614-D8FCDF55D7AB}" type="presParOf" srcId="{481BC751-5760-45D3-BF0E-EE54770F783E}" destId="{A2287BC0-453B-4C6F-9735-844010820660}" srcOrd="2" destOrd="0" presId="urn:microsoft.com/office/officeart/2005/8/layout/hierarchy6"/>
    <dgm:cxn modelId="{01514F9C-98FE-44C0-A65D-2504FF45174B}" type="presParOf" srcId="{481BC751-5760-45D3-BF0E-EE54770F783E}" destId="{05DB3A45-4C2C-4068-B44E-9DCD1FA8BB9C}" srcOrd="3" destOrd="0" presId="urn:microsoft.com/office/officeart/2005/8/layout/hierarchy6"/>
    <dgm:cxn modelId="{85735158-2A7C-42B6-A618-A249A8E04151}" type="presParOf" srcId="{05DB3A45-4C2C-4068-B44E-9DCD1FA8BB9C}" destId="{08B1D433-50AA-4017-9EF9-302F88AEC349}" srcOrd="0" destOrd="0" presId="urn:microsoft.com/office/officeart/2005/8/layout/hierarchy6"/>
    <dgm:cxn modelId="{780F2739-F9BF-44D1-AB01-3528B4BBAEC8}" type="presParOf" srcId="{05DB3A45-4C2C-4068-B44E-9DCD1FA8BB9C}" destId="{B8D68264-AA60-438A-B3C3-BF392FA5C026}" srcOrd="1" destOrd="0" presId="urn:microsoft.com/office/officeart/2005/8/layout/hierarchy6"/>
    <dgm:cxn modelId="{54D16992-AD05-44C9-AEAE-70FB46C6B679}" type="presParOf" srcId="{B8D68264-AA60-438A-B3C3-BF392FA5C026}" destId="{40B73F46-AF2A-4BD9-B592-32915D7D853C}" srcOrd="0" destOrd="0" presId="urn:microsoft.com/office/officeart/2005/8/layout/hierarchy6"/>
    <dgm:cxn modelId="{DB374A0A-E6E7-4EAB-9451-69718A5451E2}" type="presParOf" srcId="{B8D68264-AA60-438A-B3C3-BF392FA5C026}" destId="{5688375B-D09E-4499-8840-A194649426DA}" srcOrd="1" destOrd="0" presId="urn:microsoft.com/office/officeart/2005/8/layout/hierarchy6"/>
    <dgm:cxn modelId="{042174D7-3758-4265-B941-04F0AE80DB5B}" type="presParOf" srcId="{5688375B-D09E-4499-8840-A194649426DA}" destId="{DCCA792F-CFCE-4B93-B435-FC51437C2071}" srcOrd="0" destOrd="0" presId="urn:microsoft.com/office/officeart/2005/8/layout/hierarchy6"/>
    <dgm:cxn modelId="{51C26E7A-F9C7-4798-BB33-4A322295A0F1}" type="presParOf" srcId="{5688375B-D09E-4499-8840-A194649426DA}" destId="{ACAB9F58-104C-4065-9D3A-7E58E00EB400}" srcOrd="1" destOrd="0" presId="urn:microsoft.com/office/officeart/2005/8/layout/hierarchy6"/>
    <dgm:cxn modelId="{3ABBB3EB-8302-4243-8FC3-75732AFED49C}" type="presParOf" srcId="{481BC751-5760-45D3-BF0E-EE54770F783E}" destId="{9213AF29-673A-4CB4-B2E3-D09AB885DA11}" srcOrd="4" destOrd="0" presId="urn:microsoft.com/office/officeart/2005/8/layout/hierarchy6"/>
    <dgm:cxn modelId="{FC6066E4-C98C-43EF-ADD7-6A0FBE5A7E56}" type="presParOf" srcId="{481BC751-5760-45D3-BF0E-EE54770F783E}" destId="{5D073FAC-E5F9-4281-9CA4-2BE0BCE1C7B7}" srcOrd="5" destOrd="0" presId="urn:microsoft.com/office/officeart/2005/8/layout/hierarchy6"/>
    <dgm:cxn modelId="{C2DF0149-FCCA-448F-B081-77B8588A4FE9}" type="presParOf" srcId="{5D073FAC-E5F9-4281-9CA4-2BE0BCE1C7B7}" destId="{DE975EE3-9C68-4C88-8768-EDA5A784E561}" srcOrd="0" destOrd="0" presId="urn:microsoft.com/office/officeart/2005/8/layout/hierarchy6"/>
    <dgm:cxn modelId="{0CB07343-D89F-4BD4-8861-47F8BB4A0529}" type="presParOf" srcId="{5D073FAC-E5F9-4281-9CA4-2BE0BCE1C7B7}" destId="{1CADCB87-4A5B-49DC-8468-36679F86E15E}" srcOrd="1" destOrd="0" presId="urn:microsoft.com/office/officeart/2005/8/layout/hierarchy6"/>
    <dgm:cxn modelId="{7391A797-0DBA-454E-B581-E05201957901}" type="presParOf" srcId="{1CADCB87-4A5B-49DC-8468-36679F86E15E}" destId="{1F2D1720-7828-4299-8B70-1E81162BDE21}" srcOrd="0" destOrd="0" presId="urn:microsoft.com/office/officeart/2005/8/layout/hierarchy6"/>
    <dgm:cxn modelId="{A5A0C0D3-4905-4682-AE7D-8969E9CDEB5F}" type="presParOf" srcId="{1CADCB87-4A5B-49DC-8468-36679F86E15E}" destId="{3EC89F6C-6734-442A-84AA-66EFF927401A}" srcOrd="1" destOrd="0" presId="urn:microsoft.com/office/officeart/2005/8/layout/hierarchy6"/>
    <dgm:cxn modelId="{C5299CF9-0661-4235-B8D1-07311C6D9214}" type="presParOf" srcId="{3EC89F6C-6734-442A-84AA-66EFF927401A}" destId="{CC0AAFFD-A890-47A7-82ED-20A2B5707723}" srcOrd="0" destOrd="0" presId="urn:microsoft.com/office/officeart/2005/8/layout/hierarchy6"/>
    <dgm:cxn modelId="{699D405D-1E8D-4C14-A932-688AE18FA991}" type="presParOf" srcId="{3EC89F6C-6734-442A-84AA-66EFF927401A}" destId="{4109509B-959D-47B4-BB30-B6EF93192884}" srcOrd="1" destOrd="0" presId="urn:microsoft.com/office/officeart/2005/8/layout/hierarchy6"/>
    <dgm:cxn modelId="{7C83A64A-6792-464C-A4AA-4E81C96FA330}" type="presParOf" srcId="{E390B0B9-D88F-4D51-8305-CC7FDB4A409C}" destId="{17388797-2E59-4EB4-B2AD-F58F478F2DD5}" srcOrd="1" destOrd="0" presId="urn:microsoft.com/office/officeart/2005/8/layout/hierarchy6"/>
    <dgm:cxn modelId="{112A8966-82B4-488E-8A4E-7B2483C8F0A1}" type="presParOf" srcId="{17388797-2E59-4EB4-B2AD-F58F478F2DD5}" destId="{1AFD430F-C8AD-4B3B-B052-9A6C677AE56C}" srcOrd="0" destOrd="0" presId="urn:microsoft.com/office/officeart/2005/8/layout/hierarchy6"/>
    <dgm:cxn modelId="{91255EA1-3D14-478E-82EA-F89D31B31F7D}" type="presParOf" srcId="{1AFD430F-C8AD-4B3B-B052-9A6C677AE56C}" destId="{77C6DE3E-5DF7-43A3-B198-9FAF801D6A85}" srcOrd="0" destOrd="0" presId="urn:microsoft.com/office/officeart/2005/8/layout/hierarchy6"/>
    <dgm:cxn modelId="{4D770E76-6406-4DE4-B639-73D2AF540C32}" type="presParOf" srcId="{1AFD430F-C8AD-4B3B-B052-9A6C677AE56C}" destId="{8EA9EC43-0E8D-4BC3-B1E1-52162CBB02EB}" srcOrd="1" destOrd="0" presId="urn:microsoft.com/office/officeart/2005/8/layout/hierarchy6"/>
    <dgm:cxn modelId="{F3F06D3D-ABDC-46C0-A28C-EC7388AED507}" type="presParOf" srcId="{17388797-2E59-4EB4-B2AD-F58F478F2DD5}" destId="{3E59FE4A-FE5A-4D4A-AFED-9E459D3C39C0}" srcOrd="1" destOrd="0" presId="urn:microsoft.com/office/officeart/2005/8/layout/hierarchy6"/>
    <dgm:cxn modelId="{FD72639A-67A6-4034-B04F-814573CC3125}" type="presParOf" srcId="{3E59FE4A-FE5A-4D4A-AFED-9E459D3C39C0}" destId="{11945CB5-E322-482D-A850-1AA170C34104}" srcOrd="0" destOrd="0" presId="urn:microsoft.com/office/officeart/2005/8/layout/hierarchy6"/>
    <dgm:cxn modelId="{B30B379A-98D8-48FB-A2B3-D96CF25CF88C}" type="presParOf" srcId="{17388797-2E59-4EB4-B2AD-F58F478F2DD5}" destId="{79F2CA0A-765C-4667-980C-BDFCF31941AA}" srcOrd="2" destOrd="0" presId="urn:microsoft.com/office/officeart/2005/8/layout/hierarchy6"/>
    <dgm:cxn modelId="{D679BF9E-F758-4347-A76F-4B2272AB4437}" type="presParOf" srcId="{79F2CA0A-765C-4667-980C-BDFCF31941AA}" destId="{96E2F6AC-F241-482B-BC00-D9DE90049EAE}" srcOrd="0" destOrd="0" presId="urn:microsoft.com/office/officeart/2005/8/layout/hierarchy6"/>
    <dgm:cxn modelId="{D898275C-A00B-4E4B-A629-71932EBEDF7E}" type="presParOf" srcId="{79F2CA0A-765C-4667-980C-BDFCF31941AA}" destId="{7AB102C8-4355-4746-BBBD-8E128EA8C6D7}" srcOrd="1" destOrd="0" presId="urn:microsoft.com/office/officeart/2005/8/layout/hierarchy6"/>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D47EA7D-BF19-424D-8858-E063AC0BFB6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3381592-14FF-47E6-A99E-EA5A16F0216C}">
      <dgm:prSet/>
      <dgm:spPr/>
      <dgm:t>
        <a:bodyPr/>
        <a:lstStyle/>
        <a:p>
          <a:r>
            <a:rPr lang="en-US" dirty="0"/>
            <a:t>The p-value for GDP per capita increased from 0.022 (FE) to 0.038 (IV), reflecting the trade-off between consistency and precision when using IV.</a:t>
          </a:r>
        </a:p>
      </dgm:t>
    </dgm:pt>
    <dgm:pt modelId="{FC4AE639-986E-4702-AED4-AB09C1D42DBE}" type="parTrans" cxnId="{D296D534-5ECD-4A58-BE61-982A83DAA1F8}">
      <dgm:prSet/>
      <dgm:spPr/>
      <dgm:t>
        <a:bodyPr/>
        <a:lstStyle/>
        <a:p>
          <a:endParaRPr lang="en-US"/>
        </a:p>
      </dgm:t>
    </dgm:pt>
    <dgm:pt modelId="{E849D2BA-4714-4F48-B35E-5D33D097F973}" type="sibTrans" cxnId="{D296D534-5ECD-4A58-BE61-982A83DAA1F8}">
      <dgm:prSet/>
      <dgm:spPr/>
      <dgm:t>
        <a:bodyPr/>
        <a:lstStyle/>
        <a:p>
          <a:endParaRPr lang="en-US"/>
        </a:p>
      </dgm:t>
    </dgm:pt>
    <dgm:pt modelId="{B2E400C2-6F17-4B42-95B5-29ADD3A56A8C}">
      <dgm:prSet/>
      <dgm:spPr/>
      <dgm:t>
        <a:bodyPr/>
        <a:lstStyle/>
        <a:p>
          <a:r>
            <a:rPr lang="en-US" dirty="0"/>
            <a:t>Standard error rose from 0.30 to 0.62, but the estimate is now unbiased and consistent.</a:t>
          </a:r>
        </a:p>
      </dgm:t>
    </dgm:pt>
    <dgm:pt modelId="{8C0C928A-AC40-46A5-88CA-4A2DA72DF8C4}" type="parTrans" cxnId="{98EE4277-8B02-4C0C-B37D-46DC70512B9B}">
      <dgm:prSet/>
      <dgm:spPr/>
      <dgm:t>
        <a:bodyPr/>
        <a:lstStyle/>
        <a:p>
          <a:endParaRPr lang="en-US"/>
        </a:p>
      </dgm:t>
    </dgm:pt>
    <dgm:pt modelId="{DD3D9890-4542-4B9A-80F5-AAEB488A6FBD}" type="sibTrans" cxnId="{98EE4277-8B02-4C0C-B37D-46DC70512B9B}">
      <dgm:prSet/>
      <dgm:spPr/>
      <dgm:t>
        <a:bodyPr/>
        <a:lstStyle/>
        <a:p>
          <a:endParaRPr lang="en-US"/>
        </a:p>
      </dgm:t>
    </dgm:pt>
    <dgm:pt modelId="{F229F579-51A1-4100-9761-049EE72BE847}">
      <dgm:prSet/>
      <dgm:spPr/>
      <dgm:t>
        <a:bodyPr/>
        <a:lstStyle/>
        <a:p>
          <a:r>
            <a:rPr lang="en-US" dirty="0"/>
            <a:t>Fewer observations in the IV model (~1,400 less) are due to missing values in instruments, not model flaws.</a:t>
          </a:r>
        </a:p>
      </dgm:t>
    </dgm:pt>
    <dgm:pt modelId="{21C47F40-C47D-42BF-A2FB-BC10B41599EB}" type="parTrans" cxnId="{ED8533F0-68B9-406F-B46E-63A16D0BDE26}">
      <dgm:prSet/>
      <dgm:spPr/>
      <dgm:t>
        <a:bodyPr/>
        <a:lstStyle/>
        <a:p>
          <a:endParaRPr lang="en-US"/>
        </a:p>
      </dgm:t>
    </dgm:pt>
    <dgm:pt modelId="{81058829-BCE8-4C54-A55E-1FAE480063AB}" type="sibTrans" cxnId="{ED8533F0-68B9-406F-B46E-63A16D0BDE26}">
      <dgm:prSet/>
      <dgm:spPr/>
      <dgm:t>
        <a:bodyPr/>
        <a:lstStyle/>
        <a:p>
          <a:endParaRPr lang="en-US"/>
        </a:p>
      </dgm:t>
    </dgm:pt>
    <dgm:pt modelId="{7D8B7D26-1BFF-4B3A-9EE5-09740A64843B}">
      <dgm:prSet/>
      <dgm:spPr/>
      <dgm:t>
        <a:bodyPr/>
        <a:lstStyle/>
        <a:p>
          <a:r>
            <a:rPr lang="en-US" dirty="0"/>
            <a:t>Both models cluster standard errors two ways → robust to serial correlation and heteroskedasticity.</a:t>
          </a:r>
        </a:p>
      </dgm:t>
    </dgm:pt>
    <dgm:pt modelId="{3240C25E-EFD6-4398-8E0A-A3D1D1CD678B}" type="parTrans" cxnId="{D72190AA-365A-4A57-9A56-409D8D902F22}">
      <dgm:prSet/>
      <dgm:spPr/>
      <dgm:t>
        <a:bodyPr/>
        <a:lstStyle/>
        <a:p>
          <a:endParaRPr lang="en-US"/>
        </a:p>
      </dgm:t>
    </dgm:pt>
    <dgm:pt modelId="{94EA3D9D-B346-4393-8DD7-57A7627F30E7}" type="sibTrans" cxnId="{D72190AA-365A-4A57-9A56-409D8D902F22}">
      <dgm:prSet/>
      <dgm:spPr/>
      <dgm:t>
        <a:bodyPr/>
        <a:lstStyle/>
        <a:p>
          <a:endParaRPr lang="en-US"/>
        </a:p>
      </dgm:t>
    </dgm:pt>
    <dgm:pt modelId="{D4264A89-3BA6-4EFF-B8F4-EFC18FB7B9A3}" type="pres">
      <dgm:prSet presAssocID="{ED47EA7D-BF19-424D-8858-E063AC0BFB68}" presName="linear" presStyleCnt="0">
        <dgm:presLayoutVars>
          <dgm:animLvl val="lvl"/>
          <dgm:resizeHandles val="exact"/>
        </dgm:presLayoutVars>
      </dgm:prSet>
      <dgm:spPr/>
    </dgm:pt>
    <dgm:pt modelId="{71237056-E1FF-4BF4-9C65-0131D7EDD989}" type="pres">
      <dgm:prSet presAssocID="{93381592-14FF-47E6-A99E-EA5A16F0216C}" presName="parentText" presStyleLbl="node1" presStyleIdx="0" presStyleCnt="4">
        <dgm:presLayoutVars>
          <dgm:chMax val="0"/>
          <dgm:bulletEnabled val="1"/>
        </dgm:presLayoutVars>
      </dgm:prSet>
      <dgm:spPr/>
    </dgm:pt>
    <dgm:pt modelId="{3D27E97D-2112-4F54-8547-607A5990A9FA}" type="pres">
      <dgm:prSet presAssocID="{E849D2BA-4714-4F48-B35E-5D33D097F973}" presName="spacer" presStyleCnt="0"/>
      <dgm:spPr/>
    </dgm:pt>
    <dgm:pt modelId="{AD810C9F-C824-4842-A94C-4442C08921F5}" type="pres">
      <dgm:prSet presAssocID="{B2E400C2-6F17-4B42-95B5-29ADD3A56A8C}" presName="parentText" presStyleLbl="node1" presStyleIdx="1" presStyleCnt="4">
        <dgm:presLayoutVars>
          <dgm:chMax val="0"/>
          <dgm:bulletEnabled val="1"/>
        </dgm:presLayoutVars>
      </dgm:prSet>
      <dgm:spPr/>
    </dgm:pt>
    <dgm:pt modelId="{845AB5DA-0690-412D-81CB-11F87D7B9CDA}" type="pres">
      <dgm:prSet presAssocID="{DD3D9890-4542-4B9A-80F5-AAEB488A6FBD}" presName="spacer" presStyleCnt="0"/>
      <dgm:spPr/>
    </dgm:pt>
    <dgm:pt modelId="{EFFE1B0F-223A-4002-87F3-E294D97CDE71}" type="pres">
      <dgm:prSet presAssocID="{F229F579-51A1-4100-9761-049EE72BE847}" presName="parentText" presStyleLbl="node1" presStyleIdx="2" presStyleCnt="4">
        <dgm:presLayoutVars>
          <dgm:chMax val="0"/>
          <dgm:bulletEnabled val="1"/>
        </dgm:presLayoutVars>
      </dgm:prSet>
      <dgm:spPr/>
    </dgm:pt>
    <dgm:pt modelId="{4C39BC55-5AB0-4979-9509-2E22D14F54C0}" type="pres">
      <dgm:prSet presAssocID="{81058829-BCE8-4C54-A55E-1FAE480063AB}" presName="spacer" presStyleCnt="0"/>
      <dgm:spPr/>
    </dgm:pt>
    <dgm:pt modelId="{2AAD936E-ED4B-4327-BB82-FAB0966ED4F7}" type="pres">
      <dgm:prSet presAssocID="{7D8B7D26-1BFF-4B3A-9EE5-09740A64843B}" presName="parentText" presStyleLbl="node1" presStyleIdx="3" presStyleCnt="4">
        <dgm:presLayoutVars>
          <dgm:chMax val="0"/>
          <dgm:bulletEnabled val="1"/>
        </dgm:presLayoutVars>
      </dgm:prSet>
      <dgm:spPr/>
    </dgm:pt>
  </dgm:ptLst>
  <dgm:cxnLst>
    <dgm:cxn modelId="{D296D534-5ECD-4A58-BE61-982A83DAA1F8}" srcId="{ED47EA7D-BF19-424D-8858-E063AC0BFB68}" destId="{93381592-14FF-47E6-A99E-EA5A16F0216C}" srcOrd="0" destOrd="0" parTransId="{FC4AE639-986E-4702-AED4-AB09C1D42DBE}" sibTransId="{E849D2BA-4714-4F48-B35E-5D33D097F973}"/>
    <dgm:cxn modelId="{09BD4856-9337-4302-B687-CD4C43310706}" type="presOf" srcId="{ED47EA7D-BF19-424D-8858-E063AC0BFB68}" destId="{D4264A89-3BA6-4EFF-B8F4-EFC18FB7B9A3}" srcOrd="0" destOrd="0" presId="urn:microsoft.com/office/officeart/2005/8/layout/vList2"/>
    <dgm:cxn modelId="{98EE4277-8B02-4C0C-B37D-46DC70512B9B}" srcId="{ED47EA7D-BF19-424D-8858-E063AC0BFB68}" destId="{B2E400C2-6F17-4B42-95B5-29ADD3A56A8C}" srcOrd="1" destOrd="0" parTransId="{8C0C928A-AC40-46A5-88CA-4A2DA72DF8C4}" sibTransId="{DD3D9890-4542-4B9A-80F5-AAEB488A6FBD}"/>
    <dgm:cxn modelId="{4919B279-DC80-48B4-9FE8-38FBFC08F1BC}" type="presOf" srcId="{B2E400C2-6F17-4B42-95B5-29ADD3A56A8C}" destId="{AD810C9F-C824-4842-A94C-4442C08921F5}" srcOrd="0" destOrd="0" presId="urn:microsoft.com/office/officeart/2005/8/layout/vList2"/>
    <dgm:cxn modelId="{C1E7679D-13D8-487D-8A27-F2687C995C7E}" type="presOf" srcId="{7D8B7D26-1BFF-4B3A-9EE5-09740A64843B}" destId="{2AAD936E-ED4B-4327-BB82-FAB0966ED4F7}" srcOrd="0" destOrd="0" presId="urn:microsoft.com/office/officeart/2005/8/layout/vList2"/>
    <dgm:cxn modelId="{D72190AA-365A-4A57-9A56-409D8D902F22}" srcId="{ED47EA7D-BF19-424D-8858-E063AC0BFB68}" destId="{7D8B7D26-1BFF-4B3A-9EE5-09740A64843B}" srcOrd="3" destOrd="0" parTransId="{3240C25E-EFD6-4398-8E0A-A3D1D1CD678B}" sibTransId="{94EA3D9D-B346-4393-8DD7-57A7627F30E7}"/>
    <dgm:cxn modelId="{7205A1AC-7C8C-4346-B427-8CCE9EC5656F}" type="presOf" srcId="{F229F579-51A1-4100-9761-049EE72BE847}" destId="{EFFE1B0F-223A-4002-87F3-E294D97CDE71}" srcOrd="0" destOrd="0" presId="urn:microsoft.com/office/officeart/2005/8/layout/vList2"/>
    <dgm:cxn modelId="{8F59FCDE-4BF2-41EC-93B6-AF1DC2CB99DE}" type="presOf" srcId="{93381592-14FF-47E6-A99E-EA5A16F0216C}" destId="{71237056-E1FF-4BF4-9C65-0131D7EDD989}" srcOrd="0" destOrd="0" presId="urn:microsoft.com/office/officeart/2005/8/layout/vList2"/>
    <dgm:cxn modelId="{ED8533F0-68B9-406F-B46E-63A16D0BDE26}" srcId="{ED47EA7D-BF19-424D-8858-E063AC0BFB68}" destId="{F229F579-51A1-4100-9761-049EE72BE847}" srcOrd="2" destOrd="0" parTransId="{21C47F40-C47D-42BF-A2FB-BC10B41599EB}" sibTransId="{81058829-BCE8-4C54-A55E-1FAE480063AB}"/>
    <dgm:cxn modelId="{62C6DDB7-6744-4C3E-9A42-6CDEEB57AEED}" type="presParOf" srcId="{D4264A89-3BA6-4EFF-B8F4-EFC18FB7B9A3}" destId="{71237056-E1FF-4BF4-9C65-0131D7EDD989}" srcOrd="0" destOrd="0" presId="urn:microsoft.com/office/officeart/2005/8/layout/vList2"/>
    <dgm:cxn modelId="{52AC9B79-8821-437D-ABCD-B4501F274936}" type="presParOf" srcId="{D4264A89-3BA6-4EFF-B8F4-EFC18FB7B9A3}" destId="{3D27E97D-2112-4F54-8547-607A5990A9FA}" srcOrd="1" destOrd="0" presId="urn:microsoft.com/office/officeart/2005/8/layout/vList2"/>
    <dgm:cxn modelId="{55D1E68C-2449-4A7F-95D9-9752525431C4}" type="presParOf" srcId="{D4264A89-3BA6-4EFF-B8F4-EFC18FB7B9A3}" destId="{AD810C9F-C824-4842-A94C-4442C08921F5}" srcOrd="2" destOrd="0" presId="urn:microsoft.com/office/officeart/2005/8/layout/vList2"/>
    <dgm:cxn modelId="{49D9E345-752D-424A-8D12-5893F7CF66AE}" type="presParOf" srcId="{D4264A89-3BA6-4EFF-B8F4-EFC18FB7B9A3}" destId="{845AB5DA-0690-412D-81CB-11F87D7B9CDA}" srcOrd="3" destOrd="0" presId="urn:microsoft.com/office/officeart/2005/8/layout/vList2"/>
    <dgm:cxn modelId="{A46B041A-E657-42CA-92EA-31B4A39BBFD7}" type="presParOf" srcId="{D4264A89-3BA6-4EFF-B8F4-EFC18FB7B9A3}" destId="{EFFE1B0F-223A-4002-87F3-E294D97CDE71}" srcOrd="4" destOrd="0" presId="urn:microsoft.com/office/officeart/2005/8/layout/vList2"/>
    <dgm:cxn modelId="{ED14107F-7F13-4783-82A6-D0F3BDE1A783}" type="presParOf" srcId="{D4264A89-3BA6-4EFF-B8F4-EFC18FB7B9A3}" destId="{4C39BC55-5AB0-4979-9509-2E22D14F54C0}" srcOrd="5" destOrd="0" presId="urn:microsoft.com/office/officeart/2005/8/layout/vList2"/>
    <dgm:cxn modelId="{FA4736E9-0221-4C08-9833-6B848E4AC824}" type="presParOf" srcId="{D4264A89-3BA6-4EFF-B8F4-EFC18FB7B9A3}" destId="{2AAD936E-ED4B-4327-BB82-FAB0966ED4F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FBBCA2-C64F-4014-B248-E3EE0D32314A}" type="doc">
      <dgm:prSet loTypeId="urn:microsoft.com/office/officeart/2016/7/layout/BasicLinearProcessNumbered" loCatId="process" qsTypeId="urn:microsoft.com/office/officeart/2005/8/quickstyle/simple2" qsCatId="simple" csTypeId="urn:microsoft.com/office/officeart/2005/8/colors/colorful2" csCatId="colorful" phldr="1"/>
      <dgm:spPr/>
      <dgm:t>
        <a:bodyPr/>
        <a:lstStyle/>
        <a:p>
          <a:endParaRPr lang="en-US"/>
        </a:p>
      </dgm:t>
    </dgm:pt>
    <dgm:pt modelId="{6F1153D0-9F08-41D0-95ED-6DB5BEB723FC}">
      <dgm:prSet custT="1"/>
      <dgm:spPr/>
      <dgm:t>
        <a:bodyPr/>
        <a:lstStyle/>
        <a:p>
          <a:r>
            <a:rPr lang="en-US" sz="1800" dirty="0"/>
            <a:t>GDP per capita has a causal and statistically significant effect on life expectancy</a:t>
          </a:r>
        </a:p>
      </dgm:t>
    </dgm:pt>
    <dgm:pt modelId="{0AE59D4F-5A13-473A-85C2-D04AFA43FF01}" type="parTrans" cxnId="{C4D5B5DF-128F-4B68-80A2-8FCDFE00CDB3}">
      <dgm:prSet/>
      <dgm:spPr/>
      <dgm:t>
        <a:bodyPr/>
        <a:lstStyle/>
        <a:p>
          <a:endParaRPr lang="en-US"/>
        </a:p>
      </dgm:t>
    </dgm:pt>
    <dgm:pt modelId="{9AC38ECC-6E2B-4C4D-A23E-B319E5FD28C8}" type="sibTrans" cxnId="{C4D5B5DF-128F-4B68-80A2-8FCDFE00CDB3}">
      <dgm:prSet phldrT="1"/>
      <dgm:spPr/>
      <dgm:t>
        <a:bodyPr/>
        <a:lstStyle/>
        <a:p>
          <a:r>
            <a:rPr lang="en-US"/>
            <a:t>1</a:t>
          </a:r>
        </a:p>
      </dgm:t>
    </dgm:pt>
    <dgm:pt modelId="{AA227C90-1D25-48F3-8571-1E000547AD6D}">
      <dgm:prSet custT="1"/>
      <dgm:spPr/>
      <dgm:t>
        <a:bodyPr/>
        <a:lstStyle/>
        <a:p>
          <a:r>
            <a:rPr lang="en-US" sz="1800" dirty="0"/>
            <a:t>IV estimation improves causal interpretation by addressing endogeneity not handled by FE alone</a:t>
          </a:r>
        </a:p>
      </dgm:t>
    </dgm:pt>
    <dgm:pt modelId="{8762B4A9-3ECB-465D-932D-7D29BEE91313}" type="parTrans" cxnId="{54136559-C36C-4357-8EF1-0756E0482B2F}">
      <dgm:prSet/>
      <dgm:spPr/>
      <dgm:t>
        <a:bodyPr/>
        <a:lstStyle/>
        <a:p>
          <a:endParaRPr lang="en-US"/>
        </a:p>
      </dgm:t>
    </dgm:pt>
    <dgm:pt modelId="{36B7F310-7EDE-48DC-86C6-5401A55EA0D4}" type="sibTrans" cxnId="{54136559-C36C-4357-8EF1-0756E0482B2F}">
      <dgm:prSet phldrT="2"/>
      <dgm:spPr/>
      <dgm:t>
        <a:bodyPr/>
        <a:lstStyle/>
        <a:p>
          <a:r>
            <a:rPr lang="en-US"/>
            <a:t>2</a:t>
          </a:r>
        </a:p>
      </dgm:t>
    </dgm:pt>
    <dgm:pt modelId="{CEAC228E-0D33-4AAE-BE67-6F56B485D8FA}">
      <dgm:prSet/>
      <dgm:spPr/>
      <dgm:t>
        <a:bodyPr/>
        <a:lstStyle/>
        <a:p>
          <a:r>
            <a:rPr lang="en-US" dirty="0"/>
            <a:t>Using valid instruments allows for a credible and consistent estimate of GDP’s impact</a:t>
          </a:r>
        </a:p>
      </dgm:t>
    </dgm:pt>
    <dgm:pt modelId="{D783D805-E95D-459A-9A02-8D81450D0017}" type="parTrans" cxnId="{1FC98215-0B2C-460E-9079-0BF5B1902088}">
      <dgm:prSet/>
      <dgm:spPr/>
      <dgm:t>
        <a:bodyPr/>
        <a:lstStyle/>
        <a:p>
          <a:endParaRPr lang="en-US"/>
        </a:p>
      </dgm:t>
    </dgm:pt>
    <dgm:pt modelId="{BD046AEF-A14F-42EE-AB5C-7216F552DB03}" type="sibTrans" cxnId="{1FC98215-0B2C-460E-9079-0BF5B1902088}">
      <dgm:prSet phldrT="3"/>
      <dgm:spPr/>
      <dgm:t>
        <a:bodyPr/>
        <a:lstStyle/>
        <a:p>
          <a:r>
            <a:rPr lang="en-US"/>
            <a:t>3</a:t>
          </a:r>
        </a:p>
      </dgm:t>
    </dgm:pt>
    <dgm:pt modelId="{95393B93-7E3E-43B8-AFA9-599605731E79}" type="pres">
      <dgm:prSet presAssocID="{33FBBCA2-C64F-4014-B248-E3EE0D32314A}" presName="Name0" presStyleCnt="0">
        <dgm:presLayoutVars>
          <dgm:animLvl val="lvl"/>
          <dgm:resizeHandles val="exact"/>
        </dgm:presLayoutVars>
      </dgm:prSet>
      <dgm:spPr/>
    </dgm:pt>
    <dgm:pt modelId="{E9EBCEE6-D5C2-412F-A35A-0279858DBD8F}" type="pres">
      <dgm:prSet presAssocID="{6F1153D0-9F08-41D0-95ED-6DB5BEB723FC}" presName="compositeNode" presStyleCnt="0">
        <dgm:presLayoutVars>
          <dgm:bulletEnabled val="1"/>
        </dgm:presLayoutVars>
      </dgm:prSet>
      <dgm:spPr/>
    </dgm:pt>
    <dgm:pt modelId="{C7F1A32B-9D0F-4534-BA68-D867C7CA2DEC}" type="pres">
      <dgm:prSet presAssocID="{6F1153D0-9F08-41D0-95ED-6DB5BEB723FC}" presName="bgRect" presStyleLbl="bgAccFollowNode1" presStyleIdx="0" presStyleCnt="3" custScaleY="128128"/>
      <dgm:spPr/>
    </dgm:pt>
    <dgm:pt modelId="{40EADBBC-C35F-4FC8-9CEF-6B33AFC3A15E}" type="pres">
      <dgm:prSet presAssocID="{9AC38ECC-6E2B-4C4D-A23E-B319E5FD28C8}" presName="sibTransNodeCircle" presStyleLbl="alignNode1" presStyleIdx="0" presStyleCnt="6">
        <dgm:presLayoutVars>
          <dgm:chMax val="0"/>
          <dgm:bulletEnabled/>
        </dgm:presLayoutVars>
      </dgm:prSet>
      <dgm:spPr/>
    </dgm:pt>
    <dgm:pt modelId="{DFF82477-4E5A-4B76-8624-463A62C6F004}" type="pres">
      <dgm:prSet presAssocID="{6F1153D0-9F08-41D0-95ED-6DB5BEB723FC}" presName="bottomLine" presStyleLbl="alignNode1" presStyleIdx="1" presStyleCnt="6">
        <dgm:presLayoutVars/>
      </dgm:prSet>
      <dgm:spPr/>
    </dgm:pt>
    <dgm:pt modelId="{1FA79125-1B4F-418D-8A0D-542CAD2468F3}" type="pres">
      <dgm:prSet presAssocID="{6F1153D0-9F08-41D0-95ED-6DB5BEB723FC}" presName="nodeText" presStyleLbl="bgAccFollowNode1" presStyleIdx="0" presStyleCnt="3">
        <dgm:presLayoutVars>
          <dgm:bulletEnabled val="1"/>
        </dgm:presLayoutVars>
      </dgm:prSet>
      <dgm:spPr/>
    </dgm:pt>
    <dgm:pt modelId="{6ADAA8F3-719B-4B6D-A90C-0784A3F17DE8}" type="pres">
      <dgm:prSet presAssocID="{9AC38ECC-6E2B-4C4D-A23E-B319E5FD28C8}" presName="sibTrans" presStyleCnt="0"/>
      <dgm:spPr/>
    </dgm:pt>
    <dgm:pt modelId="{50823C13-1596-4FD2-BC85-DE8F07C7D7E2}" type="pres">
      <dgm:prSet presAssocID="{AA227C90-1D25-48F3-8571-1E000547AD6D}" presName="compositeNode" presStyleCnt="0">
        <dgm:presLayoutVars>
          <dgm:bulletEnabled val="1"/>
        </dgm:presLayoutVars>
      </dgm:prSet>
      <dgm:spPr/>
    </dgm:pt>
    <dgm:pt modelId="{E207301D-78D3-4248-8602-2FFBEB82CC49}" type="pres">
      <dgm:prSet presAssocID="{AA227C90-1D25-48F3-8571-1E000547AD6D}" presName="bgRect" presStyleLbl="bgAccFollowNode1" presStyleIdx="1" presStyleCnt="3" custScaleY="128128"/>
      <dgm:spPr/>
    </dgm:pt>
    <dgm:pt modelId="{AE6709B5-1603-434B-9AF1-F062CD2AE3CA}" type="pres">
      <dgm:prSet presAssocID="{36B7F310-7EDE-48DC-86C6-5401A55EA0D4}" presName="sibTransNodeCircle" presStyleLbl="alignNode1" presStyleIdx="2" presStyleCnt="6">
        <dgm:presLayoutVars>
          <dgm:chMax val="0"/>
          <dgm:bulletEnabled/>
        </dgm:presLayoutVars>
      </dgm:prSet>
      <dgm:spPr/>
    </dgm:pt>
    <dgm:pt modelId="{10B38332-3218-4C91-8426-289E461AB680}" type="pres">
      <dgm:prSet presAssocID="{AA227C90-1D25-48F3-8571-1E000547AD6D}" presName="bottomLine" presStyleLbl="alignNode1" presStyleIdx="3" presStyleCnt="6">
        <dgm:presLayoutVars/>
      </dgm:prSet>
      <dgm:spPr/>
    </dgm:pt>
    <dgm:pt modelId="{8EB27110-8FF6-42B0-A769-059D861C15C9}" type="pres">
      <dgm:prSet presAssocID="{AA227C90-1D25-48F3-8571-1E000547AD6D}" presName="nodeText" presStyleLbl="bgAccFollowNode1" presStyleIdx="1" presStyleCnt="3">
        <dgm:presLayoutVars>
          <dgm:bulletEnabled val="1"/>
        </dgm:presLayoutVars>
      </dgm:prSet>
      <dgm:spPr/>
    </dgm:pt>
    <dgm:pt modelId="{A7F7FB58-C843-4702-9399-5B388BA59A03}" type="pres">
      <dgm:prSet presAssocID="{36B7F310-7EDE-48DC-86C6-5401A55EA0D4}" presName="sibTrans" presStyleCnt="0"/>
      <dgm:spPr/>
    </dgm:pt>
    <dgm:pt modelId="{F70CD242-EEC3-41F4-9A82-2BCAD484D17E}" type="pres">
      <dgm:prSet presAssocID="{CEAC228E-0D33-4AAE-BE67-6F56B485D8FA}" presName="compositeNode" presStyleCnt="0">
        <dgm:presLayoutVars>
          <dgm:bulletEnabled val="1"/>
        </dgm:presLayoutVars>
      </dgm:prSet>
      <dgm:spPr/>
    </dgm:pt>
    <dgm:pt modelId="{92D7D3BE-A07B-43AA-838A-34EEDF2CA406}" type="pres">
      <dgm:prSet presAssocID="{CEAC228E-0D33-4AAE-BE67-6F56B485D8FA}" presName="bgRect" presStyleLbl="bgAccFollowNode1" presStyleIdx="2" presStyleCnt="3" custScaleY="128056"/>
      <dgm:spPr/>
    </dgm:pt>
    <dgm:pt modelId="{53C3A6FA-59C3-43F5-A9A8-22AFA708E5E3}" type="pres">
      <dgm:prSet presAssocID="{BD046AEF-A14F-42EE-AB5C-7216F552DB03}" presName="sibTransNodeCircle" presStyleLbl="alignNode1" presStyleIdx="4" presStyleCnt="6">
        <dgm:presLayoutVars>
          <dgm:chMax val="0"/>
          <dgm:bulletEnabled/>
        </dgm:presLayoutVars>
      </dgm:prSet>
      <dgm:spPr/>
    </dgm:pt>
    <dgm:pt modelId="{65F50C46-0940-4EA8-8FEC-2ABFD440DF40}" type="pres">
      <dgm:prSet presAssocID="{CEAC228E-0D33-4AAE-BE67-6F56B485D8FA}" presName="bottomLine" presStyleLbl="alignNode1" presStyleIdx="5" presStyleCnt="6">
        <dgm:presLayoutVars/>
      </dgm:prSet>
      <dgm:spPr/>
    </dgm:pt>
    <dgm:pt modelId="{13A3C216-2351-4F18-AFFB-7B1945044C60}" type="pres">
      <dgm:prSet presAssocID="{CEAC228E-0D33-4AAE-BE67-6F56B485D8FA}" presName="nodeText" presStyleLbl="bgAccFollowNode1" presStyleIdx="2" presStyleCnt="3">
        <dgm:presLayoutVars>
          <dgm:bulletEnabled val="1"/>
        </dgm:presLayoutVars>
      </dgm:prSet>
      <dgm:spPr/>
    </dgm:pt>
  </dgm:ptLst>
  <dgm:cxnLst>
    <dgm:cxn modelId="{1FC98215-0B2C-460E-9079-0BF5B1902088}" srcId="{33FBBCA2-C64F-4014-B248-E3EE0D32314A}" destId="{CEAC228E-0D33-4AAE-BE67-6F56B485D8FA}" srcOrd="2" destOrd="0" parTransId="{D783D805-E95D-459A-9A02-8D81450D0017}" sibTransId="{BD046AEF-A14F-42EE-AB5C-7216F552DB03}"/>
    <dgm:cxn modelId="{37F9743B-D0BD-4839-A26F-C858A7A2C8FE}" type="presOf" srcId="{CEAC228E-0D33-4AAE-BE67-6F56B485D8FA}" destId="{92D7D3BE-A07B-43AA-838A-34EEDF2CA406}" srcOrd="0" destOrd="0" presId="urn:microsoft.com/office/officeart/2016/7/layout/BasicLinearProcessNumbered"/>
    <dgm:cxn modelId="{E8CFFA67-03B0-4EF9-B1AE-03FDD5FB1A4C}" type="presOf" srcId="{6F1153D0-9F08-41D0-95ED-6DB5BEB723FC}" destId="{C7F1A32B-9D0F-4534-BA68-D867C7CA2DEC}" srcOrd="0" destOrd="0" presId="urn:microsoft.com/office/officeart/2016/7/layout/BasicLinearProcessNumbered"/>
    <dgm:cxn modelId="{21881A6B-5487-4941-91EA-E6D86E32F07F}" type="presOf" srcId="{AA227C90-1D25-48F3-8571-1E000547AD6D}" destId="{8EB27110-8FF6-42B0-A769-059D861C15C9}" srcOrd="1" destOrd="0" presId="urn:microsoft.com/office/officeart/2016/7/layout/BasicLinearProcessNumbered"/>
    <dgm:cxn modelId="{E9419976-BAE8-4D28-9F14-E56AD348E8C5}" type="presOf" srcId="{BD046AEF-A14F-42EE-AB5C-7216F552DB03}" destId="{53C3A6FA-59C3-43F5-A9A8-22AFA708E5E3}" srcOrd="0" destOrd="0" presId="urn:microsoft.com/office/officeart/2016/7/layout/BasicLinearProcessNumbered"/>
    <dgm:cxn modelId="{54136559-C36C-4357-8EF1-0756E0482B2F}" srcId="{33FBBCA2-C64F-4014-B248-E3EE0D32314A}" destId="{AA227C90-1D25-48F3-8571-1E000547AD6D}" srcOrd="1" destOrd="0" parTransId="{8762B4A9-3ECB-465D-932D-7D29BEE91313}" sibTransId="{36B7F310-7EDE-48DC-86C6-5401A55EA0D4}"/>
    <dgm:cxn modelId="{D15A38A3-2991-4956-B13B-CD18CC0ABD00}" type="presOf" srcId="{AA227C90-1D25-48F3-8571-1E000547AD6D}" destId="{E207301D-78D3-4248-8602-2FFBEB82CC49}" srcOrd="0" destOrd="0" presId="urn:microsoft.com/office/officeart/2016/7/layout/BasicLinearProcessNumbered"/>
    <dgm:cxn modelId="{C1A8CFAA-B466-45D8-B645-0E484F8002AD}" type="presOf" srcId="{9AC38ECC-6E2B-4C4D-A23E-B319E5FD28C8}" destId="{40EADBBC-C35F-4FC8-9CEF-6B33AFC3A15E}" srcOrd="0" destOrd="0" presId="urn:microsoft.com/office/officeart/2016/7/layout/BasicLinearProcessNumbered"/>
    <dgm:cxn modelId="{4D772BB5-2E69-4DD4-BF51-44C8FB514A11}" type="presOf" srcId="{33FBBCA2-C64F-4014-B248-E3EE0D32314A}" destId="{95393B93-7E3E-43B8-AFA9-599605731E79}" srcOrd="0" destOrd="0" presId="urn:microsoft.com/office/officeart/2016/7/layout/BasicLinearProcessNumbered"/>
    <dgm:cxn modelId="{DC3B23B8-F518-4A77-9539-DE161015223A}" type="presOf" srcId="{CEAC228E-0D33-4AAE-BE67-6F56B485D8FA}" destId="{13A3C216-2351-4F18-AFFB-7B1945044C60}" srcOrd="1" destOrd="0" presId="urn:microsoft.com/office/officeart/2016/7/layout/BasicLinearProcessNumbered"/>
    <dgm:cxn modelId="{B4BA69BD-701E-49B1-9E02-804EC2A9F64E}" type="presOf" srcId="{36B7F310-7EDE-48DC-86C6-5401A55EA0D4}" destId="{AE6709B5-1603-434B-9AF1-F062CD2AE3CA}" srcOrd="0" destOrd="0" presId="urn:microsoft.com/office/officeart/2016/7/layout/BasicLinearProcessNumbered"/>
    <dgm:cxn modelId="{C4D5B5DF-128F-4B68-80A2-8FCDFE00CDB3}" srcId="{33FBBCA2-C64F-4014-B248-E3EE0D32314A}" destId="{6F1153D0-9F08-41D0-95ED-6DB5BEB723FC}" srcOrd="0" destOrd="0" parTransId="{0AE59D4F-5A13-473A-85C2-D04AFA43FF01}" sibTransId="{9AC38ECC-6E2B-4C4D-A23E-B319E5FD28C8}"/>
    <dgm:cxn modelId="{AE4614E6-AE3B-4A5A-8A25-7C1F7D143BFE}" type="presOf" srcId="{6F1153D0-9F08-41D0-95ED-6DB5BEB723FC}" destId="{1FA79125-1B4F-418D-8A0D-542CAD2468F3}" srcOrd="1" destOrd="0" presId="urn:microsoft.com/office/officeart/2016/7/layout/BasicLinearProcessNumbered"/>
    <dgm:cxn modelId="{7D329877-D7D5-4484-911A-E4AE1197EE6E}" type="presParOf" srcId="{95393B93-7E3E-43B8-AFA9-599605731E79}" destId="{E9EBCEE6-D5C2-412F-A35A-0279858DBD8F}" srcOrd="0" destOrd="0" presId="urn:microsoft.com/office/officeart/2016/7/layout/BasicLinearProcessNumbered"/>
    <dgm:cxn modelId="{273A2DD1-4E5E-4D12-886D-2305241C8912}" type="presParOf" srcId="{E9EBCEE6-D5C2-412F-A35A-0279858DBD8F}" destId="{C7F1A32B-9D0F-4534-BA68-D867C7CA2DEC}" srcOrd="0" destOrd="0" presId="urn:microsoft.com/office/officeart/2016/7/layout/BasicLinearProcessNumbered"/>
    <dgm:cxn modelId="{10A4A84C-C81C-405D-BB78-D894C8BA9C37}" type="presParOf" srcId="{E9EBCEE6-D5C2-412F-A35A-0279858DBD8F}" destId="{40EADBBC-C35F-4FC8-9CEF-6B33AFC3A15E}" srcOrd="1" destOrd="0" presId="urn:microsoft.com/office/officeart/2016/7/layout/BasicLinearProcessNumbered"/>
    <dgm:cxn modelId="{82D6E8FB-1887-47D7-A1B7-1F5BEA69EEB2}" type="presParOf" srcId="{E9EBCEE6-D5C2-412F-A35A-0279858DBD8F}" destId="{DFF82477-4E5A-4B76-8624-463A62C6F004}" srcOrd="2" destOrd="0" presId="urn:microsoft.com/office/officeart/2016/7/layout/BasicLinearProcessNumbered"/>
    <dgm:cxn modelId="{D9FC96AA-9CB4-4FA8-B9CD-FF75A3E3C638}" type="presParOf" srcId="{E9EBCEE6-D5C2-412F-A35A-0279858DBD8F}" destId="{1FA79125-1B4F-418D-8A0D-542CAD2468F3}" srcOrd="3" destOrd="0" presId="urn:microsoft.com/office/officeart/2016/7/layout/BasicLinearProcessNumbered"/>
    <dgm:cxn modelId="{96EB096F-6D73-4912-8A50-FDC07F99A453}" type="presParOf" srcId="{95393B93-7E3E-43B8-AFA9-599605731E79}" destId="{6ADAA8F3-719B-4B6D-A90C-0784A3F17DE8}" srcOrd="1" destOrd="0" presId="urn:microsoft.com/office/officeart/2016/7/layout/BasicLinearProcessNumbered"/>
    <dgm:cxn modelId="{83808784-1AF8-4E68-97D5-C88103D844BC}" type="presParOf" srcId="{95393B93-7E3E-43B8-AFA9-599605731E79}" destId="{50823C13-1596-4FD2-BC85-DE8F07C7D7E2}" srcOrd="2" destOrd="0" presId="urn:microsoft.com/office/officeart/2016/7/layout/BasicLinearProcessNumbered"/>
    <dgm:cxn modelId="{8FEC18C4-1384-443C-99BC-771E689B2CEC}" type="presParOf" srcId="{50823C13-1596-4FD2-BC85-DE8F07C7D7E2}" destId="{E207301D-78D3-4248-8602-2FFBEB82CC49}" srcOrd="0" destOrd="0" presId="urn:microsoft.com/office/officeart/2016/7/layout/BasicLinearProcessNumbered"/>
    <dgm:cxn modelId="{43FD9982-B2D0-454A-8BDB-E012B5E06D60}" type="presParOf" srcId="{50823C13-1596-4FD2-BC85-DE8F07C7D7E2}" destId="{AE6709B5-1603-434B-9AF1-F062CD2AE3CA}" srcOrd="1" destOrd="0" presId="urn:microsoft.com/office/officeart/2016/7/layout/BasicLinearProcessNumbered"/>
    <dgm:cxn modelId="{0EA14EBF-628F-4AAE-A114-F199B3E29E49}" type="presParOf" srcId="{50823C13-1596-4FD2-BC85-DE8F07C7D7E2}" destId="{10B38332-3218-4C91-8426-289E461AB680}" srcOrd="2" destOrd="0" presId="urn:microsoft.com/office/officeart/2016/7/layout/BasicLinearProcessNumbered"/>
    <dgm:cxn modelId="{1475EBAD-13B0-4A8D-B90C-2B33A51A0F0E}" type="presParOf" srcId="{50823C13-1596-4FD2-BC85-DE8F07C7D7E2}" destId="{8EB27110-8FF6-42B0-A769-059D861C15C9}" srcOrd="3" destOrd="0" presId="urn:microsoft.com/office/officeart/2016/7/layout/BasicLinearProcessNumbered"/>
    <dgm:cxn modelId="{F09B6254-792D-46E0-956E-01FD8D973100}" type="presParOf" srcId="{95393B93-7E3E-43B8-AFA9-599605731E79}" destId="{A7F7FB58-C843-4702-9399-5B388BA59A03}" srcOrd="3" destOrd="0" presId="urn:microsoft.com/office/officeart/2016/7/layout/BasicLinearProcessNumbered"/>
    <dgm:cxn modelId="{781855E9-5540-44C7-8E7C-FF8650F6EE56}" type="presParOf" srcId="{95393B93-7E3E-43B8-AFA9-599605731E79}" destId="{F70CD242-EEC3-41F4-9A82-2BCAD484D17E}" srcOrd="4" destOrd="0" presId="urn:microsoft.com/office/officeart/2016/7/layout/BasicLinearProcessNumbered"/>
    <dgm:cxn modelId="{B4A8E836-F0C7-499E-9B6D-609E1B9EFDF7}" type="presParOf" srcId="{F70CD242-EEC3-41F4-9A82-2BCAD484D17E}" destId="{92D7D3BE-A07B-43AA-838A-34EEDF2CA406}" srcOrd="0" destOrd="0" presId="urn:microsoft.com/office/officeart/2016/7/layout/BasicLinearProcessNumbered"/>
    <dgm:cxn modelId="{E32586A6-E763-424C-9202-C706927ACC33}" type="presParOf" srcId="{F70CD242-EEC3-41F4-9A82-2BCAD484D17E}" destId="{53C3A6FA-59C3-43F5-A9A8-22AFA708E5E3}" srcOrd="1" destOrd="0" presId="urn:microsoft.com/office/officeart/2016/7/layout/BasicLinearProcessNumbered"/>
    <dgm:cxn modelId="{3F1B83D3-225C-4050-B2B2-46FA80C1A6C5}" type="presParOf" srcId="{F70CD242-EEC3-41F4-9A82-2BCAD484D17E}" destId="{65F50C46-0940-4EA8-8FEC-2ABFD440DF40}" srcOrd="2" destOrd="0" presId="urn:microsoft.com/office/officeart/2016/7/layout/BasicLinearProcessNumbered"/>
    <dgm:cxn modelId="{6EA5B0BC-C880-4DD8-A467-B613F2C8EBE4}" type="presParOf" srcId="{F70CD242-EEC3-41F4-9A82-2BCAD484D17E}" destId="{13A3C216-2351-4F18-AFFB-7B1945044C60}"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0CF5DD-06CF-4B1D-8FBA-381F6938AAD9}">
      <dsp:nvSpPr>
        <dsp:cNvPr id="0" name=""/>
        <dsp:cNvSpPr/>
      </dsp:nvSpPr>
      <dsp:spPr>
        <a:xfrm>
          <a:off x="0" y="0"/>
          <a:ext cx="9368175" cy="878085"/>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Data</a:t>
          </a:r>
        </a:p>
      </dsp:txBody>
      <dsp:txXfrm>
        <a:off x="25718" y="25718"/>
        <a:ext cx="8346454" cy="826649"/>
      </dsp:txXfrm>
    </dsp:sp>
    <dsp:sp modelId="{76EF1E4D-C24E-40E0-A6B3-D4AA04718408}">
      <dsp:nvSpPr>
        <dsp:cNvPr id="0" name=""/>
        <dsp:cNvSpPr/>
      </dsp:nvSpPr>
      <dsp:spPr>
        <a:xfrm>
          <a:off x="784584" y="1037737"/>
          <a:ext cx="9368175" cy="878085"/>
        </a:xfrm>
        <a:prstGeom prst="roundRect">
          <a:avLst>
            <a:gd name="adj" fmla="val 10000"/>
          </a:avLst>
        </a:prstGeom>
        <a:solidFill>
          <a:schemeClr val="accent2">
            <a:hueOff val="-2185134"/>
            <a:satOff val="-2592"/>
            <a:lumOff val="-137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i="1" kern="1200" dirty="0"/>
            <a:t>Source: WDI (World bank development indicators)</a:t>
          </a:r>
        </a:p>
      </dsp:txBody>
      <dsp:txXfrm>
        <a:off x="810302" y="1063455"/>
        <a:ext cx="7961398" cy="826649"/>
      </dsp:txXfrm>
    </dsp:sp>
    <dsp:sp modelId="{9A6F5C2D-8AF3-4E97-BA33-3A92538BA544}">
      <dsp:nvSpPr>
        <dsp:cNvPr id="0" name=""/>
        <dsp:cNvSpPr/>
      </dsp:nvSpPr>
      <dsp:spPr>
        <a:xfrm>
          <a:off x="1557459" y="2075474"/>
          <a:ext cx="9368175" cy="878085"/>
        </a:xfrm>
        <a:prstGeom prst="roundRect">
          <a:avLst>
            <a:gd name="adj" fmla="val 10000"/>
          </a:avLst>
        </a:prstGeom>
        <a:solidFill>
          <a:schemeClr val="accent2">
            <a:hueOff val="-4370269"/>
            <a:satOff val="-5184"/>
            <a:lumOff val="-274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Panel</a:t>
          </a:r>
          <a:r>
            <a:rPr lang="en-US" sz="1900" kern="1200" baseline="0" dirty="0"/>
            <a:t> data for all countries around the world with the time span of 50 years from 1975  to 2024 </a:t>
          </a:r>
          <a:endParaRPr lang="en-US" sz="1900" kern="1200" dirty="0"/>
        </a:p>
      </dsp:txBody>
      <dsp:txXfrm>
        <a:off x="1583177" y="2101192"/>
        <a:ext cx="7973109" cy="826649"/>
      </dsp:txXfrm>
    </dsp:sp>
    <dsp:sp modelId="{F52E59F4-0512-4F40-B24B-23D6BCB0153B}">
      <dsp:nvSpPr>
        <dsp:cNvPr id="0" name=""/>
        <dsp:cNvSpPr/>
      </dsp:nvSpPr>
      <dsp:spPr>
        <a:xfrm>
          <a:off x="2342043" y="3113212"/>
          <a:ext cx="9368175" cy="878085"/>
        </a:xfrm>
        <a:prstGeom prst="roundRect">
          <a:avLst>
            <a:gd name="adj" fmla="val 10000"/>
          </a:avLst>
        </a:prstGeom>
        <a:solidFill>
          <a:schemeClr val="accent2">
            <a:hueOff val="-6555403"/>
            <a:satOff val="-7776"/>
            <a:lumOff val="-411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Estimate casual effect of GDP per capita on life expectancy and infer whether or not Fiscal spending in question would improve Life Expectancy</a:t>
          </a:r>
        </a:p>
      </dsp:txBody>
      <dsp:txXfrm>
        <a:off x="2367761" y="3138930"/>
        <a:ext cx="7961398" cy="826649"/>
      </dsp:txXfrm>
    </dsp:sp>
    <dsp:sp modelId="{374EF94E-3E09-487F-B92A-9B10D0E2F5FF}">
      <dsp:nvSpPr>
        <dsp:cNvPr id="0" name=""/>
        <dsp:cNvSpPr/>
      </dsp:nvSpPr>
      <dsp:spPr>
        <a:xfrm>
          <a:off x="8797419" y="672533"/>
          <a:ext cx="570755" cy="570755"/>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8925839" y="672533"/>
        <a:ext cx="313915" cy="429493"/>
      </dsp:txXfrm>
    </dsp:sp>
    <dsp:sp modelId="{698F19AE-5CF7-4B37-B1DF-36C7E5F404F4}">
      <dsp:nvSpPr>
        <dsp:cNvPr id="0" name=""/>
        <dsp:cNvSpPr/>
      </dsp:nvSpPr>
      <dsp:spPr>
        <a:xfrm>
          <a:off x="9582004" y="1710271"/>
          <a:ext cx="570755" cy="570755"/>
        </a:xfrm>
        <a:prstGeom prst="downArrow">
          <a:avLst>
            <a:gd name="adj1" fmla="val 55000"/>
            <a:gd name="adj2" fmla="val 45000"/>
          </a:avLst>
        </a:prstGeom>
        <a:solidFill>
          <a:schemeClr val="accent2">
            <a:tint val="40000"/>
            <a:alpha val="90000"/>
            <a:hueOff val="-3209462"/>
            <a:satOff val="-5363"/>
            <a:lumOff val="-491"/>
            <a:alphaOff val="0"/>
          </a:schemeClr>
        </a:solidFill>
        <a:ln w="19050" cap="flat" cmpd="sng" algn="ctr">
          <a:solidFill>
            <a:schemeClr val="accent2">
              <a:tint val="40000"/>
              <a:alpha val="90000"/>
              <a:hueOff val="-3209462"/>
              <a:satOff val="-5363"/>
              <a:lumOff val="-49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9710424" y="1710271"/>
        <a:ext cx="313915" cy="429493"/>
      </dsp:txXfrm>
    </dsp:sp>
    <dsp:sp modelId="{3FA32D90-7E24-4040-B98B-DD68FE25890C}">
      <dsp:nvSpPr>
        <dsp:cNvPr id="0" name=""/>
        <dsp:cNvSpPr/>
      </dsp:nvSpPr>
      <dsp:spPr>
        <a:xfrm>
          <a:off x="10354878" y="2748008"/>
          <a:ext cx="570755" cy="570755"/>
        </a:xfrm>
        <a:prstGeom prst="downArrow">
          <a:avLst>
            <a:gd name="adj1" fmla="val 55000"/>
            <a:gd name="adj2" fmla="val 45000"/>
          </a:avLst>
        </a:prstGeom>
        <a:solidFill>
          <a:schemeClr val="accent2">
            <a:tint val="40000"/>
            <a:alpha val="90000"/>
            <a:hueOff val="-6418923"/>
            <a:satOff val="-10726"/>
            <a:lumOff val="-983"/>
            <a:alphaOff val="0"/>
          </a:schemeClr>
        </a:solidFill>
        <a:ln w="19050" cap="flat" cmpd="sng" algn="ctr">
          <a:solidFill>
            <a:schemeClr val="accent2">
              <a:tint val="40000"/>
              <a:alpha val="90000"/>
              <a:hueOff val="-6418923"/>
              <a:satOff val="-10726"/>
              <a:lumOff val="-98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10483298" y="2748008"/>
        <a:ext cx="313915" cy="4294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E2F6AC-F241-482B-BC00-D9DE90049EAE}">
      <dsp:nvSpPr>
        <dsp:cNvPr id="0" name=""/>
        <dsp:cNvSpPr/>
      </dsp:nvSpPr>
      <dsp:spPr>
        <a:xfrm>
          <a:off x="0" y="1998501"/>
          <a:ext cx="8128000" cy="1195387"/>
        </a:xfrm>
        <a:prstGeom prst="roundRect">
          <a:avLst>
            <a:gd name="adj" fmla="val 10000"/>
          </a:avLst>
        </a:prstGeom>
        <a:solidFill>
          <a:schemeClr val="lt1"/>
        </a:solidFill>
        <a:ln w="15875" cap="rnd"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dirty="0"/>
            <a:t>Independent variables</a:t>
          </a:r>
        </a:p>
      </dsp:txBody>
      <dsp:txXfrm>
        <a:off x="0" y="1998501"/>
        <a:ext cx="2438400" cy="1195387"/>
      </dsp:txXfrm>
    </dsp:sp>
    <dsp:sp modelId="{77C6DE3E-5DF7-43A3-B198-9FAF801D6A85}">
      <dsp:nvSpPr>
        <dsp:cNvPr id="0" name=""/>
        <dsp:cNvSpPr/>
      </dsp:nvSpPr>
      <dsp:spPr>
        <a:xfrm>
          <a:off x="0" y="603882"/>
          <a:ext cx="8128000" cy="1195387"/>
        </a:xfrm>
        <a:prstGeom prst="roundRect">
          <a:avLst>
            <a:gd name="adj" fmla="val 10000"/>
          </a:avLst>
        </a:prstGeom>
        <a:solidFill>
          <a:schemeClr val="lt1"/>
        </a:solidFill>
        <a:ln w="15875" cap="rnd"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dirty="0"/>
            <a:t>Dependent variable </a:t>
          </a:r>
        </a:p>
      </dsp:txBody>
      <dsp:txXfrm>
        <a:off x="0" y="603882"/>
        <a:ext cx="2438400" cy="1195387"/>
      </dsp:txXfrm>
    </dsp:sp>
    <dsp:sp modelId="{153E247F-1E87-4B90-B406-333F4CDDEE58}">
      <dsp:nvSpPr>
        <dsp:cNvPr id="0" name=""/>
        <dsp:cNvSpPr/>
      </dsp:nvSpPr>
      <dsp:spPr>
        <a:xfrm>
          <a:off x="4454802" y="703498"/>
          <a:ext cx="1494234" cy="99615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Life expectancy</a:t>
          </a:r>
        </a:p>
      </dsp:txBody>
      <dsp:txXfrm>
        <a:off x="4483978" y="732674"/>
        <a:ext cx="1435882" cy="937804"/>
      </dsp:txXfrm>
    </dsp:sp>
    <dsp:sp modelId="{81A9D560-5073-4BB4-9E0A-D0D00390DCF5}">
      <dsp:nvSpPr>
        <dsp:cNvPr id="0" name=""/>
        <dsp:cNvSpPr/>
      </dsp:nvSpPr>
      <dsp:spPr>
        <a:xfrm>
          <a:off x="3187961" y="1699654"/>
          <a:ext cx="2013958" cy="398462"/>
        </a:xfrm>
        <a:custGeom>
          <a:avLst/>
          <a:gdLst/>
          <a:ahLst/>
          <a:cxnLst/>
          <a:rect l="0" t="0" r="0" b="0"/>
          <a:pathLst>
            <a:path>
              <a:moveTo>
                <a:pt x="2013958" y="0"/>
              </a:moveTo>
              <a:lnTo>
                <a:pt x="2013958" y="199231"/>
              </a:lnTo>
              <a:lnTo>
                <a:pt x="0" y="199231"/>
              </a:lnTo>
              <a:lnTo>
                <a:pt x="0" y="398462"/>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C111D5-51C7-4590-8128-ED7D5D133E73}">
      <dsp:nvSpPr>
        <dsp:cNvPr id="0" name=""/>
        <dsp:cNvSpPr/>
      </dsp:nvSpPr>
      <dsp:spPr>
        <a:xfrm>
          <a:off x="2440843" y="2098116"/>
          <a:ext cx="1494234" cy="99615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GDP Per Capita</a:t>
          </a:r>
        </a:p>
      </dsp:txBody>
      <dsp:txXfrm>
        <a:off x="2470019" y="2127292"/>
        <a:ext cx="1435882" cy="937804"/>
      </dsp:txXfrm>
    </dsp:sp>
    <dsp:sp modelId="{A2287BC0-453B-4C6F-9735-844010820660}">
      <dsp:nvSpPr>
        <dsp:cNvPr id="0" name=""/>
        <dsp:cNvSpPr/>
      </dsp:nvSpPr>
      <dsp:spPr>
        <a:xfrm>
          <a:off x="5084745" y="1699654"/>
          <a:ext cx="91440" cy="398462"/>
        </a:xfrm>
        <a:custGeom>
          <a:avLst/>
          <a:gdLst/>
          <a:ahLst/>
          <a:cxnLst/>
          <a:rect l="0" t="0" r="0" b="0"/>
          <a:pathLst>
            <a:path>
              <a:moveTo>
                <a:pt x="117174" y="0"/>
              </a:moveTo>
              <a:lnTo>
                <a:pt x="117174" y="199231"/>
              </a:lnTo>
              <a:lnTo>
                <a:pt x="45720" y="199231"/>
              </a:lnTo>
              <a:lnTo>
                <a:pt x="45720" y="398462"/>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8B1D433-50AA-4017-9EF9-302F88AEC349}">
      <dsp:nvSpPr>
        <dsp:cNvPr id="0" name=""/>
        <dsp:cNvSpPr/>
      </dsp:nvSpPr>
      <dsp:spPr>
        <a:xfrm>
          <a:off x="4383348" y="2098116"/>
          <a:ext cx="1494234" cy="99615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Control Variables</a:t>
          </a:r>
        </a:p>
      </dsp:txBody>
      <dsp:txXfrm>
        <a:off x="4412524" y="2127292"/>
        <a:ext cx="1435882" cy="937804"/>
      </dsp:txXfrm>
    </dsp:sp>
    <dsp:sp modelId="{40B73F46-AF2A-4BD9-B592-32915D7D853C}">
      <dsp:nvSpPr>
        <dsp:cNvPr id="0" name=""/>
        <dsp:cNvSpPr/>
      </dsp:nvSpPr>
      <dsp:spPr>
        <a:xfrm>
          <a:off x="5084745" y="3094273"/>
          <a:ext cx="91440" cy="398462"/>
        </a:xfrm>
        <a:custGeom>
          <a:avLst/>
          <a:gdLst/>
          <a:ahLst/>
          <a:cxnLst/>
          <a:rect l="0" t="0" r="0" b="0"/>
          <a:pathLst>
            <a:path>
              <a:moveTo>
                <a:pt x="45720" y="0"/>
              </a:moveTo>
              <a:lnTo>
                <a:pt x="45720" y="398462"/>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CCA792F-CFCE-4B93-B435-FC51437C2071}">
      <dsp:nvSpPr>
        <dsp:cNvPr id="0" name=""/>
        <dsp:cNvSpPr/>
      </dsp:nvSpPr>
      <dsp:spPr>
        <a:xfrm>
          <a:off x="4240439" y="3492735"/>
          <a:ext cx="1780051" cy="132204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 </a:t>
          </a:r>
          <a:r>
            <a:rPr lang="en-US" sz="1300" kern="1200" dirty="0" err="1"/>
            <a:t>Urban_population</a:t>
          </a:r>
          <a:r>
            <a:rPr lang="en-US" sz="1300" kern="1200" dirty="0"/>
            <a:t>, </a:t>
          </a:r>
          <a:r>
            <a:rPr lang="en-US" sz="1300" kern="1200" dirty="0" err="1"/>
            <a:t>Fertility_rate</a:t>
          </a:r>
          <a:r>
            <a:rPr lang="en-US" sz="1300" kern="1200" dirty="0"/>
            <a:t>, </a:t>
          </a:r>
          <a:r>
            <a:rPr lang="en-US" sz="1300" kern="1200" dirty="0" err="1"/>
            <a:t>Immunization_DPT</a:t>
          </a:r>
          <a:r>
            <a:rPr lang="en-US" sz="1300" kern="1200" dirty="0"/>
            <a:t>, </a:t>
          </a:r>
          <a:r>
            <a:rPr lang="en-US" sz="1300" kern="1200" dirty="0" err="1"/>
            <a:t>Immunization_measles</a:t>
          </a:r>
          <a:endParaRPr lang="en-US" sz="1300" kern="1200" dirty="0"/>
        </a:p>
      </dsp:txBody>
      <dsp:txXfrm>
        <a:off x="4279160" y="3531456"/>
        <a:ext cx="1702609" cy="1244606"/>
      </dsp:txXfrm>
    </dsp:sp>
    <dsp:sp modelId="{9213AF29-673A-4CB4-B2E3-D09AB885DA11}">
      <dsp:nvSpPr>
        <dsp:cNvPr id="0" name=""/>
        <dsp:cNvSpPr/>
      </dsp:nvSpPr>
      <dsp:spPr>
        <a:xfrm>
          <a:off x="5201920" y="1699654"/>
          <a:ext cx="2013958" cy="398462"/>
        </a:xfrm>
        <a:custGeom>
          <a:avLst/>
          <a:gdLst/>
          <a:ahLst/>
          <a:cxnLst/>
          <a:rect l="0" t="0" r="0" b="0"/>
          <a:pathLst>
            <a:path>
              <a:moveTo>
                <a:pt x="0" y="0"/>
              </a:moveTo>
              <a:lnTo>
                <a:pt x="0" y="199231"/>
              </a:lnTo>
              <a:lnTo>
                <a:pt x="2013958" y="199231"/>
              </a:lnTo>
              <a:lnTo>
                <a:pt x="2013958" y="398462"/>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975EE3-9C68-4C88-8768-EDA5A784E561}">
      <dsp:nvSpPr>
        <dsp:cNvPr id="0" name=""/>
        <dsp:cNvSpPr/>
      </dsp:nvSpPr>
      <dsp:spPr>
        <a:xfrm>
          <a:off x="6468761" y="2098116"/>
          <a:ext cx="1494234" cy="99615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IV’s for GDP Per Capita</a:t>
          </a:r>
        </a:p>
      </dsp:txBody>
      <dsp:txXfrm>
        <a:off x="6497937" y="2127292"/>
        <a:ext cx="1435882" cy="937804"/>
      </dsp:txXfrm>
    </dsp:sp>
    <dsp:sp modelId="{1F2D1720-7828-4299-8B70-1E81162BDE21}">
      <dsp:nvSpPr>
        <dsp:cNvPr id="0" name=""/>
        <dsp:cNvSpPr/>
      </dsp:nvSpPr>
      <dsp:spPr>
        <a:xfrm>
          <a:off x="7170158" y="3094273"/>
          <a:ext cx="91440" cy="398462"/>
        </a:xfrm>
        <a:custGeom>
          <a:avLst/>
          <a:gdLst/>
          <a:ahLst/>
          <a:cxnLst/>
          <a:rect l="0" t="0" r="0" b="0"/>
          <a:pathLst>
            <a:path>
              <a:moveTo>
                <a:pt x="45720" y="0"/>
              </a:moveTo>
              <a:lnTo>
                <a:pt x="45720" y="398462"/>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C0AAFFD-A890-47A7-82ED-20A2B5707723}">
      <dsp:nvSpPr>
        <dsp:cNvPr id="0" name=""/>
        <dsp:cNvSpPr/>
      </dsp:nvSpPr>
      <dsp:spPr>
        <a:xfrm>
          <a:off x="6468761" y="3492735"/>
          <a:ext cx="1494234" cy="99615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export, FDI</a:t>
          </a:r>
        </a:p>
      </dsp:txBody>
      <dsp:txXfrm>
        <a:off x="6497937" y="3521911"/>
        <a:ext cx="1435882" cy="9378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237056-E1FF-4BF4-9C65-0131D7EDD989}">
      <dsp:nvSpPr>
        <dsp:cNvPr id="0" name=""/>
        <dsp:cNvSpPr/>
      </dsp:nvSpPr>
      <dsp:spPr>
        <a:xfrm>
          <a:off x="0" y="11747"/>
          <a:ext cx="5857240" cy="10998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The p-value for GDP per capita increased from 0.022 (FE) to 0.038 (IV), reflecting the trade-off between consistency and precision when using IV.</a:t>
          </a:r>
        </a:p>
      </dsp:txBody>
      <dsp:txXfrm>
        <a:off x="53688" y="65435"/>
        <a:ext cx="5749864" cy="992424"/>
      </dsp:txXfrm>
    </dsp:sp>
    <dsp:sp modelId="{AD810C9F-C824-4842-A94C-4442C08921F5}">
      <dsp:nvSpPr>
        <dsp:cNvPr id="0" name=""/>
        <dsp:cNvSpPr/>
      </dsp:nvSpPr>
      <dsp:spPr>
        <a:xfrm>
          <a:off x="0" y="1169147"/>
          <a:ext cx="5857240" cy="10998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Standard error rose from 0.30 to 0.62, but the estimate is now unbiased and consistent.</a:t>
          </a:r>
        </a:p>
      </dsp:txBody>
      <dsp:txXfrm>
        <a:off x="53688" y="1222835"/>
        <a:ext cx="5749864" cy="992424"/>
      </dsp:txXfrm>
    </dsp:sp>
    <dsp:sp modelId="{EFFE1B0F-223A-4002-87F3-E294D97CDE71}">
      <dsp:nvSpPr>
        <dsp:cNvPr id="0" name=""/>
        <dsp:cNvSpPr/>
      </dsp:nvSpPr>
      <dsp:spPr>
        <a:xfrm>
          <a:off x="0" y="2326547"/>
          <a:ext cx="5857240" cy="10998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Fewer observations in the IV model (~1,400 less) are due to missing values in instruments, not model flaws.</a:t>
          </a:r>
        </a:p>
      </dsp:txBody>
      <dsp:txXfrm>
        <a:off x="53688" y="2380235"/>
        <a:ext cx="5749864" cy="992424"/>
      </dsp:txXfrm>
    </dsp:sp>
    <dsp:sp modelId="{2AAD936E-ED4B-4327-BB82-FAB0966ED4F7}">
      <dsp:nvSpPr>
        <dsp:cNvPr id="0" name=""/>
        <dsp:cNvSpPr/>
      </dsp:nvSpPr>
      <dsp:spPr>
        <a:xfrm>
          <a:off x="0" y="3483947"/>
          <a:ext cx="5857240" cy="10998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Both models cluster standard errors two ways → robust to serial correlation and heteroskedasticity.</a:t>
          </a:r>
        </a:p>
      </dsp:txBody>
      <dsp:txXfrm>
        <a:off x="53688" y="3537635"/>
        <a:ext cx="5749864" cy="99242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F1A32B-9D0F-4534-BA68-D867C7CA2DEC}">
      <dsp:nvSpPr>
        <dsp:cNvPr id="0" name=""/>
        <dsp:cNvSpPr/>
      </dsp:nvSpPr>
      <dsp:spPr>
        <a:xfrm>
          <a:off x="0" y="476240"/>
          <a:ext cx="2266308" cy="4065285"/>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6690" tIns="330200" rIns="176690" bIns="330200" numCol="1" spcCol="1270" anchor="t" anchorCtr="0">
          <a:noAutofit/>
        </a:bodyPr>
        <a:lstStyle/>
        <a:p>
          <a:pPr marL="0" lvl="0" indent="0" algn="l" defTabSz="800100">
            <a:lnSpc>
              <a:spcPct val="90000"/>
            </a:lnSpc>
            <a:spcBef>
              <a:spcPct val="0"/>
            </a:spcBef>
            <a:spcAft>
              <a:spcPct val="35000"/>
            </a:spcAft>
            <a:buNone/>
          </a:pPr>
          <a:r>
            <a:rPr lang="en-US" sz="1800" kern="1200" dirty="0"/>
            <a:t>GDP per capita has a causal and statistically significant effect on life expectancy</a:t>
          </a:r>
        </a:p>
      </dsp:txBody>
      <dsp:txXfrm>
        <a:off x="0" y="2021049"/>
        <a:ext cx="2266308" cy="2439171"/>
      </dsp:txXfrm>
    </dsp:sp>
    <dsp:sp modelId="{40EADBBC-C35F-4FC8-9CEF-6B33AFC3A15E}">
      <dsp:nvSpPr>
        <dsp:cNvPr id="0" name=""/>
        <dsp:cNvSpPr/>
      </dsp:nvSpPr>
      <dsp:spPr>
        <a:xfrm>
          <a:off x="657229" y="1239750"/>
          <a:ext cx="951849" cy="951849"/>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74210" tIns="12700" rIns="74210" bIns="12700" numCol="1" spcCol="1270" anchor="ctr" anchorCtr="0">
          <a:noAutofit/>
        </a:bodyPr>
        <a:lstStyle/>
        <a:p>
          <a:pPr marL="0" lvl="0" indent="0" algn="ctr" defTabSz="2044700">
            <a:lnSpc>
              <a:spcPct val="90000"/>
            </a:lnSpc>
            <a:spcBef>
              <a:spcPct val="0"/>
            </a:spcBef>
            <a:spcAft>
              <a:spcPct val="35000"/>
            </a:spcAft>
            <a:buNone/>
          </a:pPr>
          <a:r>
            <a:rPr lang="en-US" sz="4600" kern="1200"/>
            <a:t>1</a:t>
          </a:r>
        </a:p>
      </dsp:txBody>
      <dsp:txXfrm>
        <a:off x="796624" y="1379145"/>
        <a:ext cx="673059" cy="673059"/>
      </dsp:txXfrm>
    </dsp:sp>
    <dsp:sp modelId="{DFF82477-4E5A-4B76-8624-463A62C6F004}">
      <dsp:nvSpPr>
        <dsp:cNvPr id="0" name=""/>
        <dsp:cNvSpPr/>
      </dsp:nvSpPr>
      <dsp:spPr>
        <a:xfrm>
          <a:off x="0" y="4095227"/>
          <a:ext cx="2266308" cy="72"/>
        </a:xfrm>
        <a:prstGeom prst="rect">
          <a:avLst/>
        </a:prstGeom>
        <a:solidFill>
          <a:schemeClr val="accent2">
            <a:hueOff val="-1311081"/>
            <a:satOff val="-1555"/>
            <a:lumOff val="-823"/>
            <a:alphaOff val="0"/>
          </a:schemeClr>
        </a:solidFill>
        <a:ln w="19050" cap="flat" cmpd="sng" algn="ctr">
          <a:solidFill>
            <a:schemeClr val="accent2">
              <a:hueOff val="-1311081"/>
              <a:satOff val="-1555"/>
              <a:lumOff val="-823"/>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E207301D-78D3-4248-8602-2FFBEB82CC49}">
      <dsp:nvSpPr>
        <dsp:cNvPr id="0" name=""/>
        <dsp:cNvSpPr/>
      </dsp:nvSpPr>
      <dsp:spPr>
        <a:xfrm>
          <a:off x="2492938" y="476240"/>
          <a:ext cx="2266308" cy="4065285"/>
        </a:xfrm>
        <a:prstGeom prst="rect">
          <a:avLst/>
        </a:prstGeom>
        <a:solidFill>
          <a:schemeClr val="accent2">
            <a:tint val="40000"/>
            <a:alpha val="90000"/>
            <a:hueOff val="-3209462"/>
            <a:satOff val="-5363"/>
            <a:lumOff val="-491"/>
            <a:alphaOff val="0"/>
          </a:schemeClr>
        </a:solidFill>
        <a:ln w="19050" cap="flat" cmpd="sng" algn="ctr">
          <a:solidFill>
            <a:schemeClr val="accent2">
              <a:tint val="40000"/>
              <a:alpha val="90000"/>
              <a:hueOff val="-3209462"/>
              <a:satOff val="-5363"/>
              <a:lumOff val="-49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6690" tIns="330200" rIns="176690" bIns="330200" numCol="1" spcCol="1270" anchor="t" anchorCtr="0">
          <a:noAutofit/>
        </a:bodyPr>
        <a:lstStyle/>
        <a:p>
          <a:pPr marL="0" lvl="0" indent="0" algn="l" defTabSz="800100">
            <a:lnSpc>
              <a:spcPct val="90000"/>
            </a:lnSpc>
            <a:spcBef>
              <a:spcPct val="0"/>
            </a:spcBef>
            <a:spcAft>
              <a:spcPct val="35000"/>
            </a:spcAft>
            <a:buNone/>
          </a:pPr>
          <a:r>
            <a:rPr lang="en-US" sz="1800" kern="1200" dirty="0"/>
            <a:t>IV estimation improves causal interpretation by addressing endogeneity not handled by FE alone</a:t>
          </a:r>
        </a:p>
      </dsp:txBody>
      <dsp:txXfrm>
        <a:off x="2492938" y="2021049"/>
        <a:ext cx="2266308" cy="2439171"/>
      </dsp:txXfrm>
    </dsp:sp>
    <dsp:sp modelId="{AE6709B5-1603-434B-9AF1-F062CD2AE3CA}">
      <dsp:nvSpPr>
        <dsp:cNvPr id="0" name=""/>
        <dsp:cNvSpPr/>
      </dsp:nvSpPr>
      <dsp:spPr>
        <a:xfrm>
          <a:off x="3150168" y="1239750"/>
          <a:ext cx="951849" cy="951849"/>
        </a:xfrm>
        <a:prstGeom prst="ellipse">
          <a:avLst/>
        </a:prstGeom>
        <a:solidFill>
          <a:schemeClr val="accent2">
            <a:hueOff val="-2622161"/>
            <a:satOff val="-3110"/>
            <a:lumOff val="-1647"/>
            <a:alphaOff val="0"/>
          </a:schemeClr>
        </a:solidFill>
        <a:ln w="19050" cap="flat" cmpd="sng" algn="ctr">
          <a:solidFill>
            <a:schemeClr val="accent2">
              <a:hueOff val="-2622161"/>
              <a:satOff val="-3110"/>
              <a:lumOff val="-1647"/>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74210" tIns="12700" rIns="74210" bIns="12700" numCol="1" spcCol="1270" anchor="ctr" anchorCtr="0">
          <a:noAutofit/>
        </a:bodyPr>
        <a:lstStyle/>
        <a:p>
          <a:pPr marL="0" lvl="0" indent="0" algn="ctr" defTabSz="2044700">
            <a:lnSpc>
              <a:spcPct val="90000"/>
            </a:lnSpc>
            <a:spcBef>
              <a:spcPct val="0"/>
            </a:spcBef>
            <a:spcAft>
              <a:spcPct val="35000"/>
            </a:spcAft>
            <a:buNone/>
          </a:pPr>
          <a:r>
            <a:rPr lang="en-US" sz="4600" kern="1200"/>
            <a:t>2</a:t>
          </a:r>
        </a:p>
      </dsp:txBody>
      <dsp:txXfrm>
        <a:off x="3289563" y="1379145"/>
        <a:ext cx="673059" cy="673059"/>
      </dsp:txXfrm>
    </dsp:sp>
    <dsp:sp modelId="{10B38332-3218-4C91-8426-289E461AB680}">
      <dsp:nvSpPr>
        <dsp:cNvPr id="0" name=""/>
        <dsp:cNvSpPr/>
      </dsp:nvSpPr>
      <dsp:spPr>
        <a:xfrm>
          <a:off x="2492938" y="4095227"/>
          <a:ext cx="2266308" cy="72"/>
        </a:xfrm>
        <a:prstGeom prst="rect">
          <a:avLst/>
        </a:prstGeom>
        <a:solidFill>
          <a:schemeClr val="accent2">
            <a:hueOff val="-3933242"/>
            <a:satOff val="-4666"/>
            <a:lumOff val="-2470"/>
            <a:alphaOff val="0"/>
          </a:schemeClr>
        </a:solidFill>
        <a:ln w="19050" cap="flat" cmpd="sng" algn="ctr">
          <a:solidFill>
            <a:schemeClr val="accent2">
              <a:hueOff val="-3933242"/>
              <a:satOff val="-4666"/>
              <a:lumOff val="-247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92D7D3BE-A07B-43AA-838A-34EEDF2CA406}">
      <dsp:nvSpPr>
        <dsp:cNvPr id="0" name=""/>
        <dsp:cNvSpPr/>
      </dsp:nvSpPr>
      <dsp:spPr>
        <a:xfrm>
          <a:off x="4985877" y="476240"/>
          <a:ext cx="2266308" cy="4063000"/>
        </a:xfrm>
        <a:prstGeom prst="rect">
          <a:avLst/>
        </a:prstGeom>
        <a:solidFill>
          <a:schemeClr val="accent2">
            <a:tint val="40000"/>
            <a:alpha val="90000"/>
            <a:hueOff val="-6418923"/>
            <a:satOff val="-10726"/>
            <a:lumOff val="-983"/>
            <a:alphaOff val="0"/>
          </a:schemeClr>
        </a:solidFill>
        <a:ln w="19050" cap="flat" cmpd="sng" algn="ctr">
          <a:solidFill>
            <a:schemeClr val="accent2">
              <a:tint val="40000"/>
              <a:alpha val="90000"/>
              <a:hueOff val="-6418923"/>
              <a:satOff val="-10726"/>
              <a:lumOff val="-98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6690" tIns="330200" rIns="176690" bIns="330200" numCol="1" spcCol="1270" anchor="t" anchorCtr="0">
          <a:noAutofit/>
        </a:bodyPr>
        <a:lstStyle/>
        <a:p>
          <a:pPr marL="0" lvl="0" indent="0" algn="l" defTabSz="800100">
            <a:lnSpc>
              <a:spcPct val="90000"/>
            </a:lnSpc>
            <a:spcBef>
              <a:spcPct val="0"/>
            </a:spcBef>
            <a:spcAft>
              <a:spcPct val="35000"/>
            </a:spcAft>
            <a:buNone/>
          </a:pPr>
          <a:r>
            <a:rPr lang="en-US" sz="1800" kern="1200" dirty="0"/>
            <a:t>Using valid instruments allows for a credible and consistent estimate of GDP’s impact</a:t>
          </a:r>
        </a:p>
      </dsp:txBody>
      <dsp:txXfrm>
        <a:off x="4985877" y="2020181"/>
        <a:ext cx="2266308" cy="2437800"/>
      </dsp:txXfrm>
    </dsp:sp>
    <dsp:sp modelId="{53C3A6FA-59C3-43F5-A9A8-22AFA708E5E3}">
      <dsp:nvSpPr>
        <dsp:cNvPr id="0" name=""/>
        <dsp:cNvSpPr/>
      </dsp:nvSpPr>
      <dsp:spPr>
        <a:xfrm>
          <a:off x="5643107" y="1238608"/>
          <a:ext cx="951849" cy="951849"/>
        </a:xfrm>
        <a:prstGeom prst="ellipse">
          <a:avLst/>
        </a:prstGeom>
        <a:solidFill>
          <a:schemeClr val="accent2">
            <a:hueOff val="-5244323"/>
            <a:satOff val="-6221"/>
            <a:lumOff val="-3294"/>
            <a:alphaOff val="0"/>
          </a:schemeClr>
        </a:solidFill>
        <a:ln w="19050" cap="flat" cmpd="sng" algn="ctr">
          <a:solidFill>
            <a:schemeClr val="accent2">
              <a:hueOff val="-5244323"/>
              <a:satOff val="-6221"/>
              <a:lumOff val="-3294"/>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74210" tIns="12700" rIns="74210" bIns="12700" numCol="1" spcCol="1270" anchor="ctr" anchorCtr="0">
          <a:noAutofit/>
        </a:bodyPr>
        <a:lstStyle/>
        <a:p>
          <a:pPr marL="0" lvl="0" indent="0" algn="ctr" defTabSz="2044700">
            <a:lnSpc>
              <a:spcPct val="90000"/>
            </a:lnSpc>
            <a:spcBef>
              <a:spcPct val="0"/>
            </a:spcBef>
            <a:spcAft>
              <a:spcPct val="35000"/>
            </a:spcAft>
            <a:buNone/>
          </a:pPr>
          <a:r>
            <a:rPr lang="en-US" sz="4600" kern="1200"/>
            <a:t>3</a:t>
          </a:r>
        </a:p>
      </dsp:txBody>
      <dsp:txXfrm>
        <a:off x="5782502" y="1378003"/>
        <a:ext cx="673059" cy="673059"/>
      </dsp:txXfrm>
    </dsp:sp>
    <dsp:sp modelId="{65F50C46-0940-4EA8-8FEC-2ABFD440DF40}">
      <dsp:nvSpPr>
        <dsp:cNvPr id="0" name=""/>
        <dsp:cNvSpPr/>
      </dsp:nvSpPr>
      <dsp:spPr>
        <a:xfrm>
          <a:off x="4985877" y="4094084"/>
          <a:ext cx="2266308" cy="72"/>
        </a:xfrm>
        <a:prstGeom prst="rect">
          <a:avLst/>
        </a:prstGeom>
        <a:solidFill>
          <a:schemeClr val="accent2">
            <a:hueOff val="-6555403"/>
            <a:satOff val="-7776"/>
            <a:lumOff val="-4117"/>
            <a:alphaOff val="0"/>
          </a:schemeClr>
        </a:solidFill>
        <a:ln w="19050" cap="flat" cmpd="sng" algn="ctr">
          <a:solidFill>
            <a:schemeClr val="accent2">
              <a:hueOff val="-6555403"/>
              <a:satOff val="-7776"/>
              <a:lumOff val="-4117"/>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9.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9.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9.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9.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9.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9.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9.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9.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9.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9.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9.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9.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9.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9.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9.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9.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9.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0.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DE099-6C4E-AC1B-64C2-193F40E9CC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90F4D5F-9F3E-B7BB-9C79-6411343AA9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790951-4CA1-5500-E77C-55D05AE77C0E}"/>
              </a:ext>
            </a:extLst>
          </p:cNvPr>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a:extLst>
              <a:ext uri="{FF2B5EF4-FFF2-40B4-BE49-F238E27FC236}">
                <a16:creationId xmlns:a16="http://schemas.microsoft.com/office/drawing/2014/main" id="{5D10A180-AAC5-4A86-D9A0-E12DA4D855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BDFCC4-8195-B346-948F-36F6328D492C}"/>
              </a:ext>
            </a:extLst>
          </p:cNvPr>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896632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C2A6A-B86F-80A4-24A0-1A971F68E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632160-90A1-CFAE-06E7-E13603FC4E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B9177-8ED6-5004-570D-6744E442D0BC}"/>
              </a:ext>
            </a:extLst>
          </p:cNvPr>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a:extLst>
              <a:ext uri="{FF2B5EF4-FFF2-40B4-BE49-F238E27FC236}">
                <a16:creationId xmlns:a16="http://schemas.microsoft.com/office/drawing/2014/main" id="{7DE2E523-F321-06FD-FC7E-31FB1B44D8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0D44FF-D9D7-96B9-A43A-81FF89B32A9D}"/>
              </a:ext>
            </a:extLst>
          </p:cNvPr>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4190108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CAF4D-E25A-CFD4-CE52-CDDCF17E77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18B2C1A-5740-CF38-0635-39BB8CDDFB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4F877B-105E-34E8-AF31-D06C82EA41E6}"/>
              </a:ext>
            </a:extLst>
          </p:cNvPr>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a:extLst>
              <a:ext uri="{FF2B5EF4-FFF2-40B4-BE49-F238E27FC236}">
                <a16:creationId xmlns:a16="http://schemas.microsoft.com/office/drawing/2014/main" id="{EC8AA79A-DE83-0572-01AB-5E2E3AABF3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339913-202D-40A2-59E2-574839CAEC84}"/>
              </a:ext>
            </a:extLst>
          </p:cNvPr>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172001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A9398-5ED5-0AC3-0A7A-AACB7D144E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EEE07C-03B2-20EE-4D5E-DDB73826EA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0DFD02-4408-225A-7B82-C064262221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E40DB0-7F81-5E5D-D642-1DC9DD2A7B72}"/>
              </a:ext>
            </a:extLst>
          </p:cNvPr>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a:extLst>
              <a:ext uri="{FF2B5EF4-FFF2-40B4-BE49-F238E27FC236}">
                <a16:creationId xmlns:a16="http://schemas.microsoft.com/office/drawing/2014/main" id="{0915ACED-2486-2CE8-0CA3-2BF69469AE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9604AC-45DC-1D20-5A51-D62ACF13AC0A}"/>
              </a:ext>
            </a:extLst>
          </p:cNvPr>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57899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EF790-986F-1CBC-B91E-B48B781A498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65FEBBD-95B7-EDD0-BDD6-9A2E6519D0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43DEAC-F97B-BFBD-2C90-85C225EE5B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DA9C35-6660-3893-D8F3-4DF06A20CE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113D30-29E0-2443-6D45-017F49CDC0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620EBC5-3559-2760-91D7-E87488317D06}"/>
              </a:ext>
            </a:extLst>
          </p:cNvPr>
          <p:cNvSpPr>
            <a:spLocks noGrp="1"/>
          </p:cNvSpPr>
          <p:nvPr>
            <p:ph type="dt" sz="half" idx="10"/>
          </p:nvPr>
        </p:nvSpPr>
        <p:spPr/>
        <p:txBody>
          <a:bodyPr/>
          <a:lstStyle/>
          <a:p>
            <a:fld id="{EA1A4010-33A1-4C57-A2C1-06E1ACB7618A}" type="datetimeFigureOut">
              <a:rPr lang="en-US" smtClean="0"/>
              <a:t>7/20/2025</a:t>
            </a:fld>
            <a:endParaRPr lang="en-US"/>
          </a:p>
        </p:txBody>
      </p:sp>
      <p:sp>
        <p:nvSpPr>
          <p:cNvPr id="8" name="Footer Placeholder 7">
            <a:extLst>
              <a:ext uri="{FF2B5EF4-FFF2-40B4-BE49-F238E27FC236}">
                <a16:creationId xmlns:a16="http://schemas.microsoft.com/office/drawing/2014/main" id="{5F3E55BB-93AC-57AF-25D3-95FCC76CCE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F7A6F1-49F0-2468-4D26-D314E0A254C5}"/>
              </a:ext>
            </a:extLst>
          </p:cNvPr>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780067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D3281-DECC-9FB9-99CB-3186AF5A68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454DF5-2C4B-7E9A-A891-360A968D83B6}"/>
              </a:ext>
            </a:extLst>
          </p:cNvPr>
          <p:cNvSpPr>
            <a:spLocks noGrp="1"/>
          </p:cNvSpPr>
          <p:nvPr>
            <p:ph type="dt" sz="half" idx="10"/>
          </p:nvPr>
        </p:nvSpPr>
        <p:spPr/>
        <p:txBody>
          <a:bodyPr/>
          <a:lstStyle/>
          <a:p>
            <a:fld id="{EA1A4010-33A1-4C57-A2C1-06E1ACB7618A}" type="datetimeFigureOut">
              <a:rPr lang="en-US" smtClean="0"/>
              <a:t>7/20/2025</a:t>
            </a:fld>
            <a:endParaRPr lang="en-US"/>
          </a:p>
        </p:txBody>
      </p:sp>
      <p:sp>
        <p:nvSpPr>
          <p:cNvPr id="4" name="Footer Placeholder 3">
            <a:extLst>
              <a:ext uri="{FF2B5EF4-FFF2-40B4-BE49-F238E27FC236}">
                <a16:creationId xmlns:a16="http://schemas.microsoft.com/office/drawing/2014/main" id="{9AC8854B-FC71-F714-CAFA-1D9209BA0A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7C56750-6A7F-6A1D-0840-B098133879BE}"/>
              </a:ext>
            </a:extLst>
          </p:cNvPr>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562304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760CC7-A761-B3FB-289C-470EE047AFBA}"/>
              </a:ext>
            </a:extLst>
          </p:cNvPr>
          <p:cNvSpPr>
            <a:spLocks noGrp="1"/>
          </p:cNvSpPr>
          <p:nvPr>
            <p:ph type="dt" sz="half" idx="10"/>
          </p:nvPr>
        </p:nvSpPr>
        <p:spPr/>
        <p:txBody>
          <a:bodyPr/>
          <a:lstStyle/>
          <a:p>
            <a:fld id="{EA1A4010-33A1-4C57-A2C1-06E1ACB7618A}" type="datetimeFigureOut">
              <a:rPr lang="en-US" smtClean="0"/>
              <a:t>7/20/2025</a:t>
            </a:fld>
            <a:endParaRPr lang="en-US"/>
          </a:p>
        </p:txBody>
      </p:sp>
      <p:sp>
        <p:nvSpPr>
          <p:cNvPr id="3" name="Footer Placeholder 2">
            <a:extLst>
              <a:ext uri="{FF2B5EF4-FFF2-40B4-BE49-F238E27FC236}">
                <a16:creationId xmlns:a16="http://schemas.microsoft.com/office/drawing/2014/main" id="{3FC72BCD-EB6A-CC6C-A93B-A98B27169E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5BDB06E-69F6-8E9B-2BD5-3BABAE335B4E}"/>
              </a:ext>
            </a:extLst>
          </p:cNvPr>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695419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0CBAD-F6A9-97C5-E285-279E11720C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F3BD77-95CB-27DD-2675-6FA7102D00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E8ACA1-AD13-A49B-CB6B-F8FA8E0D1E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670DA2-DC77-E705-448C-9B51ACABF4A0}"/>
              </a:ext>
            </a:extLst>
          </p:cNvPr>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a:extLst>
              <a:ext uri="{FF2B5EF4-FFF2-40B4-BE49-F238E27FC236}">
                <a16:creationId xmlns:a16="http://schemas.microsoft.com/office/drawing/2014/main" id="{7BD0B236-6EB1-3F48-4378-B3381007D2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9840CF-558D-A956-96F7-F06FC0303A63}"/>
              </a:ext>
            </a:extLst>
          </p:cNvPr>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889465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490DA-76A0-D029-4E93-C4857D2805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0DE231-903C-885C-C61A-ED83163487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2ECBAD1-A5AD-D1A2-B300-085E5FBE90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E87FDC-14D8-139F-8A16-83D1225080B7}"/>
              </a:ext>
            </a:extLst>
          </p:cNvPr>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a:extLst>
              <a:ext uri="{FF2B5EF4-FFF2-40B4-BE49-F238E27FC236}">
                <a16:creationId xmlns:a16="http://schemas.microsoft.com/office/drawing/2014/main" id="{AC2E619C-790F-2A0C-D8B5-A0C41ADE35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640438-934E-802C-ECA2-4701AA3F6F16}"/>
              </a:ext>
            </a:extLst>
          </p:cNvPr>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4292139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E599F-972B-84A0-A22C-161E35858F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949278-0305-8859-6186-0ECC3B47C6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F9C809-90FC-9AA9-5AE7-9EFD674A30E3}"/>
              </a:ext>
            </a:extLst>
          </p:cNvPr>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a:extLst>
              <a:ext uri="{FF2B5EF4-FFF2-40B4-BE49-F238E27FC236}">
                <a16:creationId xmlns:a16="http://schemas.microsoft.com/office/drawing/2014/main" id="{4A0FA068-A136-905B-21F3-843D57C3BC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225E24-F96B-6328-0878-2A0B87D72878}"/>
              </a:ext>
            </a:extLst>
          </p:cNvPr>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411158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FF04E1-C572-F6FF-9FDA-501E47BB71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41DE7A-577B-7A25-E1F4-4055356E09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C346F4-D927-D1BF-F758-F91980E4069F}"/>
              </a:ext>
            </a:extLst>
          </p:cNvPr>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a:extLst>
              <a:ext uri="{FF2B5EF4-FFF2-40B4-BE49-F238E27FC236}">
                <a16:creationId xmlns:a16="http://schemas.microsoft.com/office/drawing/2014/main" id="{FCA8EEC7-404D-C7E1-7FA2-89B2C94C40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DECC9C-4C94-44E2-3E51-9C5B13B757EA}"/>
              </a:ext>
            </a:extLst>
          </p:cNvPr>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1114217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7864530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8489999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42124949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4823990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1A4010-33A1-4C57-A2C1-06E1ACB7618A}" type="datetimeFigureOut">
              <a:rPr lang="en-US" smtClean="0"/>
              <a:t>7/20/2025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389053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1A4010-33A1-4C57-A2C1-06E1ACB7618A}" type="datetimeFigureOut">
              <a:rPr lang="en-US" smtClean="0"/>
              <a:t>7/20/2025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0865001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1A4010-33A1-4C57-A2C1-06E1ACB7618A}" type="datetimeFigureOut">
              <a:rPr lang="en-US" smtClean="0"/>
              <a:t>7/20/2025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0320603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4072815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3115268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9281633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7353379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5537818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948598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0065382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40156957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4237434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8568009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9328253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283242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1846285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1A4010-33A1-4C57-A2C1-06E1ACB7618A}" type="datetimeFigureOut">
              <a:rPr lang="en-US" smtClean="0"/>
              <a:t>7/20/2025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42156188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8410176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9122349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3226136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7354719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7245705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88415739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4154297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8299565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31165862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8208036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77587455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99891731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40492558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40668946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596402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16644386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1A4010-33A1-4C57-A2C1-06E1ACB7618A}" type="datetimeFigureOut">
              <a:rPr lang="en-US" smtClean="0"/>
              <a:t>7/20/2025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43241653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1A4010-33A1-4C57-A2C1-06E1ACB7618A}" type="datetimeFigureOut">
              <a:rPr lang="en-US" smtClean="0"/>
              <a:t>7/20/2025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9170799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1A4010-33A1-4C57-A2C1-06E1ACB7618A}" type="datetimeFigureOut">
              <a:rPr lang="en-US" smtClean="0"/>
              <a:t>7/20/2025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64119873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8592797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93441833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021095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61819143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24153892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60530321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3101832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44558212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40100742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61441988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416378509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84080382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54396409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6457116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1A4010-33A1-4C57-A2C1-06E1ACB7618A}" type="datetimeFigureOut">
              <a:rPr lang="en-US" smtClean="0"/>
              <a:t>7/20/2025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06173562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1A4010-33A1-4C57-A2C1-06E1ACB7618A}" type="datetimeFigureOut">
              <a:rPr lang="en-US" smtClean="0"/>
              <a:t>7/20/2025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07932123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1A4010-33A1-4C57-A2C1-06E1ACB7618A}" type="datetimeFigureOut">
              <a:rPr lang="en-US" smtClean="0"/>
              <a:t>7/20/2025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93779691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64660379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75307292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91054972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59378192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31037972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79814425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A1A4010-33A1-4C57-A2C1-06E1ACB7618A}" type="datetimeFigureOut">
              <a:rPr lang="en-US" smtClean="0"/>
              <a:t>7/20/2025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67674238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A1A4010-33A1-4C57-A2C1-06E1ACB7618A}" type="datetimeFigureOut">
              <a:rPr lang="en-US" smtClean="0"/>
              <a:t>7/20/2025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418145044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427386268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78073880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59027423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97554871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03343760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14200621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1A4010-33A1-4C57-A2C1-06E1ACB7618A}" type="datetimeFigureOut">
              <a:rPr lang="en-US" smtClean="0"/>
              <a:t>7/20/2025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42602405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1A4010-33A1-4C57-A2C1-06E1ACB7618A}" type="datetimeFigureOut">
              <a:rPr lang="en-US" smtClean="0"/>
              <a:t>7/20/2025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07516042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1A4010-33A1-4C57-A2C1-06E1ACB7618A}" type="datetimeFigureOut">
              <a:rPr lang="en-US" smtClean="0"/>
              <a:t>7/20/2025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74067916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28635835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853394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401213105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18FA704-C68E-4009-81F5-B1417E7C04F3}"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4942312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49509808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18FA704-C68E-4009-81F5-B1417E7C04F3}"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7436615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88090569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85125564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25638685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a:xfrm>
            <a:off x="1451579" y="329307"/>
            <a:ext cx="5626774" cy="309201"/>
          </a:xfrm>
        </p:spPr>
        <p:txBody>
          <a:bodyPr/>
          <a:lstStyle/>
          <a:p>
            <a:endParaRPr lang="en-US"/>
          </a:p>
        </p:txBody>
      </p:sp>
      <p:sp>
        <p:nvSpPr>
          <p:cNvPr id="6" name="Slide Number Placeholder 5"/>
          <p:cNvSpPr>
            <a:spLocks noGrp="1"/>
          </p:cNvSpPr>
          <p:nvPr>
            <p:ph type="sldNum" sz="quarter" idx="12"/>
          </p:nvPr>
        </p:nvSpPr>
        <p:spPr>
          <a:xfrm>
            <a:off x="476834" y="798973"/>
            <a:ext cx="811019" cy="503578"/>
          </a:xfrm>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60114020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02656367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58720671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39979738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1A4010-33A1-4C57-A2C1-06E1ACB7618A}" type="datetimeFigureOut">
              <a:rPr lang="en-US" smtClean="0"/>
              <a:t>7/20/2025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42907370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1A4010-33A1-4C57-A2C1-06E1ACB7618A}" type="datetimeFigureOut">
              <a:rPr lang="en-US" smtClean="0"/>
              <a:t>7/20/2025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54733521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1A4010-33A1-4C57-A2C1-06E1ACB7618A}" type="datetimeFigureOut">
              <a:rPr lang="en-US" smtClean="0"/>
              <a:t>7/20/2025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144458210"/>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52956456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97315235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94422982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41952282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63001448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82274678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70247866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54451500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1A4010-33A1-4C57-A2C1-06E1ACB7618A}" type="datetimeFigureOut">
              <a:rPr lang="en-US" smtClean="0"/>
              <a:t>7/20/2025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7184826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1A4010-33A1-4C57-A2C1-06E1ACB7618A}" type="datetimeFigureOut">
              <a:rPr lang="en-US" smtClean="0"/>
              <a:t>7/20/2025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90855170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1A4010-33A1-4C57-A2C1-06E1ACB7618A}" type="datetimeFigureOut">
              <a:rPr lang="en-US" smtClean="0"/>
              <a:t>7/20/2025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647270633"/>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40319770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16874807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70241475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07990739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7094972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009269196"/>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946866145"/>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26229872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86700237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77821372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2499313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80368096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91927227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926388019"/>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1A4010-33A1-4C57-A2C1-06E1ACB7618A}" type="datetimeFigureOut">
              <a:rPr lang="en-US" smtClean="0"/>
              <a:t>7/20/2025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4261006309"/>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1A4010-33A1-4C57-A2C1-06E1ACB7618A}" type="datetimeFigureOut">
              <a:rPr lang="en-US" smtClean="0"/>
              <a:t>7/20/2025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528692059"/>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EA1A4010-33A1-4C57-A2C1-06E1ACB7618A}" type="datetimeFigureOut">
              <a:rPr lang="en-US" smtClean="0"/>
              <a:t>7/20/2025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88992115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44684404"/>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58678861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99776613"/>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66643024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7874028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015789653"/>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A1A4010-33A1-4C57-A2C1-06E1ACB7618A}" type="datetimeFigureOut">
              <a:rPr lang="en-US" smtClean="0"/>
              <a:t>7/20/2025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683806159"/>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A1A4010-33A1-4C57-A2C1-06E1ACB7618A}" type="datetimeFigureOut">
              <a:rPr lang="en-US" smtClean="0"/>
              <a:t>7/20/2025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424816775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70809087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03944434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C2A6A-B86F-80A4-24A0-1A971F68E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632160-90A1-CFAE-06E7-E13603FC4E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B9177-8ED6-5004-570D-6744E442D0BC}"/>
              </a:ext>
            </a:extLst>
          </p:cNvPr>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a:extLst>
              <a:ext uri="{FF2B5EF4-FFF2-40B4-BE49-F238E27FC236}">
                <a16:creationId xmlns:a16="http://schemas.microsoft.com/office/drawing/2014/main" id="{7DE2E523-F321-06FD-FC7E-31FB1B44D8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0D44FF-D9D7-96B9-A43A-81FF89B32A9D}"/>
              </a:ext>
            </a:extLst>
          </p:cNvPr>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77832713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646908494"/>
      </p:ext>
    </p:extLst>
  </p:cSld>
  <p:clrMapOvr>
    <a:overrideClrMapping bg1="dk1" tx1="lt1" bg2="dk2" tx2="lt2" accent1="accent1" accent2="accent2" accent3="accent3" accent4="accent4" accent5="accent5" accent6="accent6" hlink="hlink" folHlink="folHlink"/>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41389865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035071020"/>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27538217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1A4010-33A1-4C57-A2C1-06E1ACB7618A}" type="datetimeFigureOut">
              <a:rPr lang="en-US" smtClean="0"/>
              <a:t>7/20/2025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1570824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1A4010-33A1-4C57-A2C1-06E1ACB7618A}" type="datetimeFigureOut">
              <a:rPr lang="en-US" smtClean="0"/>
              <a:t>7/20/2025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409600198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EA1A4010-33A1-4C57-A2C1-06E1ACB7618A}" type="datetimeFigureOut">
              <a:rPr lang="en-US" smtClean="0"/>
              <a:t>7/20/2025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9742654"/>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2841132497"/>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759796063"/>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1A4010-33A1-4C57-A2C1-06E1ACB7618A}"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783512179"/>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48486913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TextBox 11"/>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3" name="TextBox 12"/>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1031535914"/>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407348416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611531292"/>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615500599"/>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617710480"/>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1A4010-33A1-4C57-A2C1-06E1ACB7618A}"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FA704-C68E-4009-81F5-B1417E7C04F3}" type="slidenum">
              <a:rPr lang="en-US" smtClean="0"/>
              <a:t>‹#›</a:t>
            </a:fld>
            <a:endParaRPr lang="en-US"/>
          </a:p>
        </p:txBody>
      </p:sp>
    </p:spTree>
    <p:extLst>
      <p:ext uri="{BB962C8B-B14F-4D97-AF65-F5344CB8AC3E}">
        <p14:creationId xmlns:p14="http://schemas.microsoft.com/office/powerpoint/2010/main" val="3531167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theme" Target="../theme/theme3.xml"/><Relationship Id="rId3" Type="http://schemas.openxmlformats.org/officeDocument/2006/relationships/slideLayout" Target="../slideLayouts/slideLayout30.xml"/><Relationship Id="rId21" Type="http://schemas.openxmlformats.org/officeDocument/2006/relationships/image" Target="../media/image4.png"/><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image" Target="../media/image3.png"/><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10" Type="http://schemas.openxmlformats.org/officeDocument/2006/relationships/slideLayout" Target="../slideLayouts/slideLayout37.xml"/><Relationship Id="rId19" Type="http://schemas.openxmlformats.org/officeDocument/2006/relationships/image" Target="../media/image2.png"/><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18" Type="http://schemas.openxmlformats.org/officeDocument/2006/relationships/theme" Target="../theme/theme4.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18" Type="http://schemas.openxmlformats.org/officeDocument/2006/relationships/theme" Target="../theme/theme5.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 Type="http://schemas.openxmlformats.org/officeDocument/2006/relationships/slideLayout" Target="../slideLayouts/slideLayout63.xml"/><Relationship Id="rId16" Type="http://schemas.openxmlformats.org/officeDocument/2006/relationships/slideLayout" Target="../slideLayouts/slideLayout77.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10" Type="http://schemas.openxmlformats.org/officeDocument/2006/relationships/slideLayout" Target="../slideLayouts/slideLayout71.xml"/><Relationship Id="rId19" Type="http://schemas.openxmlformats.org/officeDocument/2006/relationships/image" Target="../media/image8.png"/><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slideLayout" Target="../slideLayouts/slideLayout91.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17" Type="http://schemas.openxmlformats.org/officeDocument/2006/relationships/theme" Target="../theme/theme6.xml"/><Relationship Id="rId2" Type="http://schemas.openxmlformats.org/officeDocument/2006/relationships/slideLayout" Target="../slideLayouts/slideLayout80.xml"/><Relationship Id="rId16" Type="http://schemas.openxmlformats.org/officeDocument/2006/relationships/slideLayout" Target="../slideLayouts/slideLayout94.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5" Type="http://schemas.openxmlformats.org/officeDocument/2006/relationships/slideLayout" Target="../slideLayouts/slideLayout9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02.xml"/><Relationship Id="rId13" Type="http://schemas.openxmlformats.org/officeDocument/2006/relationships/image" Target="../media/image9.jpg"/><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theme" Target="../theme/theme7.xml"/><Relationship Id="rId2" Type="http://schemas.openxmlformats.org/officeDocument/2006/relationships/slideLayout" Target="../slideLayouts/slideLayout96.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0" Type="http://schemas.openxmlformats.org/officeDocument/2006/relationships/slideLayout" Target="../slideLayouts/slideLayout104.xml"/><Relationship Id="rId4" Type="http://schemas.openxmlformats.org/officeDocument/2006/relationships/slideLayout" Target="../slideLayouts/slideLayout98.xml"/><Relationship Id="rId9" Type="http://schemas.openxmlformats.org/officeDocument/2006/relationships/slideLayout" Target="../slideLayouts/slideLayout103.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13.xml"/><Relationship Id="rId13" Type="http://schemas.openxmlformats.org/officeDocument/2006/relationships/slideLayout" Target="../slideLayouts/slideLayout118.xml"/><Relationship Id="rId18" Type="http://schemas.openxmlformats.org/officeDocument/2006/relationships/theme" Target="../theme/theme8.xml"/><Relationship Id="rId3" Type="http://schemas.openxmlformats.org/officeDocument/2006/relationships/slideLayout" Target="../slideLayouts/slideLayout108.xml"/><Relationship Id="rId7" Type="http://schemas.openxmlformats.org/officeDocument/2006/relationships/slideLayout" Target="../slideLayouts/slideLayout112.xml"/><Relationship Id="rId12" Type="http://schemas.openxmlformats.org/officeDocument/2006/relationships/slideLayout" Target="../slideLayouts/slideLayout117.xml"/><Relationship Id="rId17" Type="http://schemas.openxmlformats.org/officeDocument/2006/relationships/slideLayout" Target="../slideLayouts/slideLayout122.xml"/><Relationship Id="rId2" Type="http://schemas.openxmlformats.org/officeDocument/2006/relationships/slideLayout" Target="../slideLayouts/slideLayout107.xml"/><Relationship Id="rId16" Type="http://schemas.openxmlformats.org/officeDocument/2006/relationships/slideLayout" Target="../slideLayouts/slideLayout121.xml"/><Relationship Id="rId1" Type="http://schemas.openxmlformats.org/officeDocument/2006/relationships/slideLayout" Target="../slideLayouts/slideLayout106.xml"/><Relationship Id="rId6" Type="http://schemas.openxmlformats.org/officeDocument/2006/relationships/slideLayout" Target="../slideLayouts/slideLayout111.xml"/><Relationship Id="rId11" Type="http://schemas.openxmlformats.org/officeDocument/2006/relationships/slideLayout" Target="../slideLayouts/slideLayout116.xml"/><Relationship Id="rId5" Type="http://schemas.openxmlformats.org/officeDocument/2006/relationships/slideLayout" Target="../slideLayouts/slideLayout110.xml"/><Relationship Id="rId15" Type="http://schemas.openxmlformats.org/officeDocument/2006/relationships/slideLayout" Target="../slideLayouts/slideLayout120.xml"/><Relationship Id="rId10" Type="http://schemas.openxmlformats.org/officeDocument/2006/relationships/slideLayout" Target="../slideLayouts/slideLayout115.xml"/><Relationship Id="rId4" Type="http://schemas.openxmlformats.org/officeDocument/2006/relationships/slideLayout" Target="../slideLayouts/slideLayout109.xml"/><Relationship Id="rId9" Type="http://schemas.openxmlformats.org/officeDocument/2006/relationships/slideLayout" Target="../slideLayouts/slideLayout114.xml"/><Relationship Id="rId14" Type="http://schemas.openxmlformats.org/officeDocument/2006/relationships/slideLayout" Target="../slideLayouts/slideLayout119.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30.xml"/><Relationship Id="rId13" Type="http://schemas.openxmlformats.org/officeDocument/2006/relationships/slideLayout" Target="../slideLayouts/slideLayout135.xml"/><Relationship Id="rId18" Type="http://schemas.openxmlformats.org/officeDocument/2006/relationships/slideLayout" Target="../slideLayouts/slideLayout140.xml"/><Relationship Id="rId3" Type="http://schemas.openxmlformats.org/officeDocument/2006/relationships/slideLayout" Target="../slideLayouts/slideLayout125.xml"/><Relationship Id="rId7" Type="http://schemas.openxmlformats.org/officeDocument/2006/relationships/slideLayout" Target="../slideLayouts/slideLayout129.xml"/><Relationship Id="rId12" Type="http://schemas.openxmlformats.org/officeDocument/2006/relationships/slideLayout" Target="../slideLayouts/slideLayout134.xml"/><Relationship Id="rId17" Type="http://schemas.openxmlformats.org/officeDocument/2006/relationships/slideLayout" Target="../slideLayouts/slideLayout139.xml"/><Relationship Id="rId2" Type="http://schemas.openxmlformats.org/officeDocument/2006/relationships/slideLayout" Target="../slideLayouts/slideLayout124.xml"/><Relationship Id="rId16" Type="http://schemas.openxmlformats.org/officeDocument/2006/relationships/slideLayout" Target="../slideLayouts/slideLayout138.xml"/><Relationship Id="rId20" Type="http://schemas.openxmlformats.org/officeDocument/2006/relationships/image" Target="../media/image8.png"/><Relationship Id="rId1" Type="http://schemas.openxmlformats.org/officeDocument/2006/relationships/slideLayout" Target="../slideLayouts/slideLayout123.xml"/><Relationship Id="rId6" Type="http://schemas.openxmlformats.org/officeDocument/2006/relationships/slideLayout" Target="../slideLayouts/slideLayout128.xml"/><Relationship Id="rId11" Type="http://schemas.openxmlformats.org/officeDocument/2006/relationships/slideLayout" Target="../slideLayouts/slideLayout133.xml"/><Relationship Id="rId5" Type="http://schemas.openxmlformats.org/officeDocument/2006/relationships/slideLayout" Target="../slideLayouts/slideLayout127.xml"/><Relationship Id="rId15" Type="http://schemas.openxmlformats.org/officeDocument/2006/relationships/slideLayout" Target="../slideLayouts/slideLayout137.xml"/><Relationship Id="rId10" Type="http://schemas.openxmlformats.org/officeDocument/2006/relationships/slideLayout" Target="../slideLayouts/slideLayout132.xml"/><Relationship Id="rId19" Type="http://schemas.openxmlformats.org/officeDocument/2006/relationships/theme" Target="../theme/theme9.xml"/><Relationship Id="rId4" Type="http://schemas.openxmlformats.org/officeDocument/2006/relationships/slideLayout" Target="../slideLayouts/slideLayout126.xml"/><Relationship Id="rId9" Type="http://schemas.openxmlformats.org/officeDocument/2006/relationships/slideLayout" Target="../slideLayouts/slideLayout131.xml"/><Relationship Id="rId14" Type="http://schemas.openxmlformats.org/officeDocument/2006/relationships/slideLayout" Target="../slideLayouts/slideLayout136.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48.xml"/><Relationship Id="rId13" Type="http://schemas.openxmlformats.org/officeDocument/2006/relationships/slideLayout" Target="../slideLayouts/slideLayout153.xml"/><Relationship Id="rId18" Type="http://schemas.openxmlformats.org/officeDocument/2006/relationships/theme" Target="../theme/theme10.xml"/><Relationship Id="rId3" Type="http://schemas.openxmlformats.org/officeDocument/2006/relationships/slideLayout" Target="../slideLayouts/slideLayout143.xml"/><Relationship Id="rId7" Type="http://schemas.openxmlformats.org/officeDocument/2006/relationships/slideLayout" Target="../slideLayouts/slideLayout147.xml"/><Relationship Id="rId12" Type="http://schemas.openxmlformats.org/officeDocument/2006/relationships/slideLayout" Target="../slideLayouts/slideLayout152.xml"/><Relationship Id="rId17" Type="http://schemas.openxmlformats.org/officeDocument/2006/relationships/slideLayout" Target="../slideLayouts/slideLayout157.xml"/><Relationship Id="rId2" Type="http://schemas.openxmlformats.org/officeDocument/2006/relationships/slideLayout" Target="../slideLayouts/slideLayout142.xml"/><Relationship Id="rId16" Type="http://schemas.openxmlformats.org/officeDocument/2006/relationships/slideLayout" Target="../slideLayouts/slideLayout156.xml"/><Relationship Id="rId1" Type="http://schemas.openxmlformats.org/officeDocument/2006/relationships/slideLayout" Target="../slideLayouts/slideLayout141.xml"/><Relationship Id="rId6" Type="http://schemas.openxmlformats.org/officeDocument/2006/relationships/slideLayout" Target="../slideLayouts/slideLayout146.xml"/><Relationship Id="rId11" Type="http://schemas.openxmlformats.org/officeDocument/2006/relationships/slideLayout" Target="../slideLayouts/slideLayout151.xml"/><Relationship Id="rId5" Type="http://schemas.openxmlformats.org/officeDocument/2006/relationships/slideLayout" Target="../slideLayouts/slideLayout145.xml"/><Relationship Id="rId15" Type="http://schemas.openxmlformats.org/officeDocument/2006/relationships/slideLayout" Target="../slideLayouts/slideLayout155.xml"/><Relationship Id="rId10" Type="http://schemas.openxmlformats.org/officeDocument/2006/relationships/slideLayout" Target="../slideLayouts/slideLayout150.xml"/><Relationship Id="rId4" Type="http://schemas.openxmlformats.org/officeDocument/2006/relationships/slideLayout" Target="../slideLayouts/slideLayout144.xml"/><Relationship Id="rId9" Type="http://schemas.openxmlformats.org/officeDocument/2006/relationships/slideLayout" Target="../slideLayouts/slideLayout149.xml"/><Relationship Id="rId14" Type="http://schemas.openxmlformats.org/officeDocument/2006/relationships/slideLayout" Target="../slideLayouts/slideLayout1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90000"/>
            <a:alpha val="8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C58E2C-0E8D-E1D7-9024-94A32D5834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3317048-13EB-4DF0-8DEF-BF040A4DC8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F69D3E-E724-1143-3B40-7759EE51BB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1A4010-33A1-4C57-A2C1-06E1ACB7618A}" type="datetimeFigureOut">
              <a:rPr lang="en-US" smtClean="0"/>
              <a:t>7/20/2025</a:t>
            </a:fld>
            <a:endParaRPr lang="en-US"/>
          </a:p>
        </p:txBody>
      </p:sp>
      <p:sp>
        <p:nvSpPr>
          <p:cNvPr id="5" name="Footer Placeholder 4">
            <a:extLst>
              <a:ext uri="{FF2B5EF4-FFF2-40B4-BE49-F238E27FC236}">
                <a16:creationId xmlns:a16="http://schemas.microsoft.com/office/drawing/2014/main" id="{65BAD707-1561-CB84-E309-82CE264F4A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3111599-037E-0DA1-3222-2D2463E851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8FA704-C68E-4009-81F5-B1417E7C04F3}" type="slidenum">
              <a:rPr lang="en-US" smtClean="0"/>
              <a:t>‹#›</a:t>
            </a:fld>
            <a:endParaRPr lang="en-US"/>
          </a:p>
        </p:txBody>
      </p:sp>
    </p:spTree>
    <p:extLst>
      <p:ext uri="{BB962C8B-B14F-4D97-AF65-F5344CB8AC3E}">
        <p14:creationId xmlns:p14="http://schemas.microsoft.com/office/powerpoint/2010/main" val="2733254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A1A4010-33A1-4C57-A2C1-06E1ACB7618A}" type="datetimeFigureOut">
              <a:rPr lang="en-US" smtClean="0"/>
              <a:t>7/20/2025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18FA704-C68E-4009-81F5-B1417E7C04F3}" type="slidenum">
              <a:rPr lang="en-US" smtClean="0"/>
              <a:t>‹#›</a:t>
            </a:fld>
            <a:endParaRPr lang="en-US"/>
          </a:p>
        </p:txBody>
      </p:sp>
    </p:spTree>
    <p:extLst>
      <p:ext uri="{BB962C8B-B14F-4D97-AF65-F5344CB8AC3E}">
        <p14:creationId xmlns:p14="http://schemas.microsoft.com/office/powerpoint/2010/main" val="8527726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A1A4010-33A1-4C57-A2C1-06E1ACB7618A}" type="datetimeFigureOut">
              <a:rPr lang="en-US" smtClean="0"/>
              <a:t>7/20/2025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18FA704-C68E-4009-81F5-B1417E7C04F3}" type="slidenum">
              <a:rPr lang="en-US" smtClean="0"/>
              <a:t>‹#›</a:t>
            </a:fld>
            <a:endParaRPr lang="en-US"/>
          </a:p>
        </p:txBody>
      </p:sp>
    </p:spTree>
    <p:extLst>
      <p:ext uri="{BB962C8B-B14F-4D97-AF65-F5344CB8AC3E}">
        <p14:creationId xmlns:p14="http://schemas.microsoft.com/office/powerpoint/2010/main" val="2500890577"/>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A1A4010-33A1-4C57-A2C1-06E1ACB7618A}" type="datetimeFigureOut">
              <a:rPr lang="en-US" smtClean="0"/>
              <a:t>7/20/2025</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18FA704-C68E-4009-81F5-B1417E7C04F3}" type="slidenum">
              <a:rPr lang="en-US" smtClean="0"/>
              <a:t>‹#›</a:t>
            </a:fld>
            <a:endParaRPr lang="en-US"/>
          </a:p>
        </p:txBody>
      </p:sp>
    </p:spTree>
    <p:extLst>
      <p:ext uri="{BB962C8B-B14F-4D97-AF65-F5344CB8AC3E}">
        <p14:creationId xmlns:p14="http://schemas.microsoft.com/office/powerpoint/2010/main" val="2473490730"/>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A1A4010-33A1-4C57-A2C1-06E1ACB7618A}" type="datetimeFigureOut">
              <a:rPr lang="en-US" smtClean="0"/>
              <a:t>7/20/2025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18FA704-C68E-4009-81F5-B1417E7C04F3}" type="slidenum">
              <a:rPr lang="en-US" smtClean="0"/>
              <a:t>‹#›</a:t>
            </a:fld>
            <a:endParaRPr lang="en-US"/>
          </a:p>
        </p:txBody>
      </p:sp>
    </p:spTree>
    <p:extLst>
      <p:ext uri="{BB962C8B-B14F-4D97-AF65-F5344CB8AC3E}">
        <p14:creationId xmlns:p14="http://schemas.microsoft.com/office/powerpoint/2010/main" val="3907547627"/>
      </p:ext>
    </p:extLst>
  </p:cSld>
  <p:clrMap bg1="dk1" tx1="lt1" bg2="dk2" tx2="lt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57" r:id="rId14"/>
    <p:sldLayoutId id="2147483758" r:id="rId15"/>
    <p:sldLayoutId id="2147483759" r:id="rId16"/>
    <p:sldLayoutId id="2147483760"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A1A4010-33A1-4C57-A2C1-06E1ACB7618A}" type="datetimeFigureOut">
              <a:rPr lang="en-US" smtClean="0"/>
              <a:t>7/20/2025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18FA704-C68E-4009-81F5-B1417E7C04F3}" type="slidenum">
              <a:rPr lang="en-US" smtClean="0"/>
              <a:t>‹#›</a:t>
            </a:fld>
            <a:endParaRPr lang="en-US"/>
          </a:p>
        </p:txBody>
      </p:sp>
    </p:spTree>
    <p:extLst>
      <p:ext uri="{BB962C8B-B14F-4D97-AF65-F5344CB8AC3E}">
        <p14:creationId xmlns:p14="http://schemas.microsoft.com/office/powerpoint/2010/main" val="3740231667"/>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A1A4010-33A1-4C57-A2C1-06E1ACB7618A}" type="datetimeFigureOut">
              <a:rPr lang="en-US" smtClean="0"/>
              <a:t>7/20/2025</a:t>
            </a:fld>
            <a:endParaRPr lang="en-US"/>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118FA704-C68E-4009-81F5-B1417E7C04F3}" type="slidenum">
              <a:rPr lang="en-US" smtClean="0"/>
              <a:t>‹#›</a:t>
            </a:fld>
            <a:endParaRPr lang="en-US"/>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561046"/>
      </p:ext>
    </p:extLst>
  </p:cSld>
  <p:clrMap bg1="dk1" tx1="lt1" bg2="dk2" tx2="lt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A1A4010-33A1-4C57-A2C1-06E1ACB7618A}" type="datetimeFigureOut">
              <a:rPr lang="en-US" smtClean="0"/>
              <a:t>7/20/2025</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18FA704-C68E-4009-81F5-B1417E7C04F3}" type="slidenum">
              <a:rPr lang="en-US" smtClean="0"/>
              <a:t>‹#›</a:t>
            </a:fld>
            <a:endParaRPr lang="en-US"/>
          </a:p>
        </p:txBody>
      </p:sp>
    </p:spTree>
    <p:extLst>
      <p:ext uri="{BB962C8B-B14F-4D97-AF65-F5344CB8AC3E}">
        <p14:creationId xmlns:p14="http://schemas.microsoft.com/office/powerpoint/2010/main" val="3643049446"/>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 id="2147483804" r:id="rId14"/>
    <p:sldLayoutId id="2147483805" r:id="rId15"/>
    <p:sldLayoutId id="2147483806" r:id="rId16"/>
    <p:sldLayoutId id="214748380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EA1A4010-33A1-4C57-A2C1-06E1ACB7618A}" type="datetimeFigureOut">
              <a:rPr lang="en-US" smtClean="0"/>
              <a:t>7/20/2025</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118FA704-C68E-4009-81F5-B1417E7C04F3}" type="slidenum">
              <a:rPr lang="en-US" smtClean="0"/>
              <a:t>‹#›</a:t>
            </a:fld>
            <a:endParaRPr lang="en-US"/>
          </a:p>
        </p:txBody>
      </p:sp>
    </p:spTree>
    <p:extLst>
      <p:ext uri="{BB962C8B-B14F-4D97-AF65-F5344CB8AC3E}">
        <p14:creationId xmlns:p14="http://schemas.microsoft.com/office/powerpoint/2010/main" val="1558299578"/>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25" r:id="rId17"/>
    <p:sldLayoutId id="2147483826"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A1A4010-33A1-4C57-A2C1-06E1ACB7618A}" type="datetimeFigureOut">
              <a:rPr lang="en-US" smtClean="0"/>
              <a:t>7/20/2025</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18FA704-C68E-4009-81F5-B1417E7C04F3}" type="slidenum">
              <a:rPr lang="en-US" smtClean="0"/>
              <a:t>‹#›</a:t>
            </a:fld>
            <a:endParaRPr lang="en-US"/>
          </a:p>
        </p:txBody>
      </p:sp>
    </p:spTree>
    <p:extLst>
      <p:ext uri="{BB962C8B-B14F-4D97-AF65-F5344CB8AC3E}">
        <p14:creationId xmlns:p14="http://schemas.microsoft.com/office/powerpoint/2010/main" val="3861626161"/>
      </p:ext>
    </p:extLst>
  </p:cSld>
  <p:clrMap bg1="dk1" tx1="lt1" bg2="dk2" tx2="lt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 id="2147483857" r:id="rId12"/>
    <p:sldLayoutId id="2147483858" r:id="rId13"/>
    <p:sldLayoutId id="2147483859" r:id="rId14"/>
    <p:sldLayoutId id="2147483860" r:id="rId15"/>
    <p:sldLayoutId id="2147483861" r:id="rId16"/>
    <p:sldLayoutId id="2147483862"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100.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9.png"/><Relationship Id="rId1" Type="http://schemas.openxmlformats.org/officeDocument/2006/relationships/slideLayout" Target="../slideLayouts/slideLayout4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3.xml"/></Relationships>
</file>

<file path=ppt/slides/_rels/slide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8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6.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96.xml"/><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10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sv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4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9.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s://cran.r-project.org/package=lmtest" TargetMode="External"/><Relationship Id="rId3" Type="http://schemas.openxmlformats.org/officeDocument/2006/relationships/hyperlink" Target="https://databank.worldbank.org/source/world-development-indicators" TargetMode="External"/><Relationship Id="rId7" Type="http://schemas.openxmlformats.org/officeDocument/2006/relationships/hyperlink" Target="https://cran.r-project.org/package=plm" TargetMode="External"/><Relationship Id="rId2" Type="http://schemas.openxmlformats.org/officeDocument/2006/relationships/image" Target="../media/image41.jpeg"/><Relationship Id="rId1" Type="http://schemas.openxmlformats.org/officeDocument/2006/relationships/slideLayout" Target="../slideLayouts/slideLayout1.xml"/><Relationship Id="rId6" Type="http://schemas.openxmlformats.org/officeDocument/2006/relationships/hyperlink" Target="https://cran.r-project.org/package=fixest" TargetMode="External"/><Relationship Id="rId5" Type="http://schemas.openxmlformats.org/officeDocument/2006/relationships/hyperlink" Target="https://cran.r-project.org/package=ggplot2" TargetMode="External"/><Relationship Id="rId4" Type="http://schemas.openxmlformats.org/officeDocument/2006/relationships/hyperlink" Target="https://cran.r-project.org/package=tidyr" TargetMode="External"/><Relationship Id="rId9" Type="http://schemas.openxmlformats.org/officeDocument/2006/relationships/hyperlink" Target="https://cran.r-project.org/package=car"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F3B7F-7C65-23E6-8A4F-FD38777A719E}"/>
              </a:ext>
            </a:extLst>
          </p:cNvPr>
          <p:cNvSpPr>
            <a:spLocks noGrp="1"/>
          </p:cNvSpPr>
          <p:nvPr>
            <p:ph type="ctrTitle"/>
          </p:nvPr>
        </p:nvSpPr>
        <p:spPr>
          <a:xfrm>
            <a:off x="1452656" y="1444741"/>
            <a:ext cx="9357865" cy="1041901"/>
          </a:xfrm>
        </p:spPr>
        <p:txBody>
          <a:bodyPr vert="horz" lIns="91440" tIns="45720" rIns="91440" bIns="45720" rtlCol="0" anchor="ctr">
            <a:normAutofit fontScale="90000"/>
          </a:bodyPr>
          <a:lstStyle/>
          <a:p>
            <a:pPr algn="l"/>
            <a:r>
              <a:rPr lang="en-US" sz="4000" kern="1200" dirty="0">
                <a:ln w="0"/>
                <a:effectLst>
                  <a:outerShdw blurRad="50800" dist="38100" dir="2700000" algn="tl" rotWithShape="0">
                    <a:prstClr val="black">
                      <a:alpha val="40000"/>
                    </a:prstClr>
                  </a:outerShdw>
                </a:effectLst>
                <a:latin typeface="+mj-lt"/>
                <a:ea typeface="+mj-ea"/>
                <a:cs typeface="+mj-cs"/>
              </a:rPr>
              <a:t>Effect of GDP Per Capita on Life Expectancy</a:t>
            </a:r>
          </a:p>
        </p:txBody>
      </p:sp>
      <p:sp>
        <p:nvSpPr>
          <p:cNvPr id="3" name="Subtitle 2">
            <a:extLst>
              <a:ext uri="{FF2B5EF4-FFF2-40B4-BE49-F238E27FC236}">
                <a16:creationId xmlns:a16="http://schemas.microsoft.com/office/drawing/2014/main" id="{A7A23432-D63D-485A-3A2F-9F897FA71DFD}"/>
              </a:ext>
            </a:extLst>
          </p:cNvPr>
          <p:cNvSpPr>
            <a:spLocks noGrp="1"/>
          </p:cNvSpPr>
          <p:nvPr>
            <p:ph type="subTitle" idx="1"/>
          </p:nvPr>
        </p:nvSpPr>
        <p:spPr>
          <a:xfrm>
            <a:off x="1452656" y="2701427"/>
            <a:ext cx="4483324" cy="2699968"/>
          </a:xfrm>
        </p:spPr>
        <p:txBody>
          <a:bodyPr vert="horz" lIns="91440" tIns="45720" rIns="91440" bIns="45720" rtlCol="0">
            <a:normAutofit/>
          </a:bodyPr>
          <a:lstStyle/>
          <a:p>
            <a:pPr indent="-228600" algn="l">
              <a:buFont typeface="Arial" panose="020B0604020202020204" pitchFamily="34" charset="0"/>
              <a:buChar char="•"/>
            </a:pPr>
            <a:r>
              <a:rPr lang="en-US" sz="2000" dirty="0"/>
              <a:t>Econometrics 2</a:t>
            </a:r>
          </a:p>
          <a:p>
            <a:pPr indent="-228600" algn="l">
              <a:buFont typeface="Arial" panose="020B0604020202020204" pitchFamily="34" charset="0"/>
              <a:buChar char="•"/>
            </a:pPr>
            <a:r>
              <a:rPr lang="en-US" sz="2000" dirty="0"/>
              <a:t>Professor: Lasha </a:t>
            </a:r>
            <a:r>
              <a:rPr lang="en-US" sz="2000" dirty="0" err="1"/>
              <a:t>Chochua</a:t>
            </a:r>
            <a:endParaRPr lang="en-US" sz="2000" dirty="0"/>
          </a:p>
        </p:txBody>
      </p:sp>
      <p:sp>
        <p:nvSpPr>
          <p:cNvPr id="6" name="TextBox 5">
            <a:extLst>
              <a:ext uri="{FF2B5EF4-FFF2-40B4-BE49-F238E27FC236}">
                <a16:creationId xmlns:a16="http://schemas.microsoft.com/office/drawing/2014/main" id="{203B5367-7BB9-DC9C-3F4E-F7486DD07D4C}"/>
              </a:ext>
            </a:extLst>
          </p:cNvPr>
          <p:cNvSpPr txBox="1"/>
          <p:nvPr/>
        </p:nvSpPr>
        <p:spPr>
          <a:xfrm>
            <a:off x="6256020" y="2701427"/>
            <a:ext cx="4554501" cy="269996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dirty="0"/>
              <a:t>Nika Kobakhidze</a:t>
            </a:r>
          </a:p>
          <a:p>
            <a:pPr indent="-228600">
              <a:lnSpc>
                <a:spcPct val="90000"/>
              </a:lnSpc>
              <a:spcAft>
                <a:spcPts val="600"/>
              </a:spcAft>
              <a:buFont typeface="Arial" panose="020B0604020202020204" pitchFamily="34" charset="0"/>
              <a:buChar char="•"/>
            </a:pPr>
            <a:r>
              <a:rPr lang="en-US" sz="2000" dirty="0"/>
              <a:t>Nanuka Kasradze</a:t>
            </a:r>
          </a:p>
          <a:p>
            <a:pPr indent="-228600">
              <a:lnSpc>
                <a:spcPct val="90000"/>
              </a:lnSpc>
              <a:spcAft>
                <a:spcPts val="600"/>
              </a:spcAft>
              <a:buFont typeface="Arial" panose="020B0604020202020204" pitchFamily="34" charset="0"/>
              <a:buChar char="•"/>
            </a:pPr>
            <a:r>
              <a:rPr lang="en-US" sz="2000" dirty="0"/>
              <a:t>Giorgi </a:t>
            </a:r>
            <a:r>
              <a:rPr lang="en-US" sz="2000" dirty="0" err="1"/>
              <a:t>Shekiladze</a:t>
            </a:r>
            <a:endParaRPr lang="en-US" sz="2000" dirty="0"/>
          </a:p>
          <a:p>
            <a:pPr indent="-228600">
              <a:lnSpc>
                <a:spcPct val="90000"/>
              </a:lnSpc>
              <a:spcAft>
                <a:spcPts val="600"/>
              </a:spcAft>
              <a:buFont typeface="Arial" panose="020B0604020202020204" pitchFamily="34" charset="0"/>
              <a:buChar char="•"/>
            </a:pPr>
            <a:r>
              <a:rPr lang="en-US" sz="2000" dirty="0"/>
              <a:t>Durmishkhan Gigineishvili</a:t>
            </a:r>
          </a:p>
          <a:p>
            <a:pPr indent="-228600">
              <a:lnSpc>
                <a:spcPct val="90000"/>
              </a:lnSpc>
              <a:spcAft>
                <a:spcPts val="600"/>
              </a:spcAft>
              <a:buFont typeface="Arial" panose="020B0604020202020204" pitchFamily="34" charset="0"/>
              <a:buChar char="•"/>
            </a:pPr>
            <a:r>
              <a:rPr lang="en-US" sz="2000" dirty="0"/>
              <a:t>Elene Dzneladze</a:t>
            </a:r>
          </a:p>
          <a:p>
            <a:pPr indent="-228600">
              <a:lnSpc>
                <a:spcPct val="90000"/>
              </a:lnSpc>
              <a:spcAft>
                <a:spcPts val="600"/>
              </a:spcAft>
              <a:buFont typeface="Arial" panose="020B0604020202020204" pitchFamily="34" charset="0"/>
              <a:buChar char="•"/>
            </a:pPr>
            <a:endParaRPr lang="en-US" sz="2000" dirty="0"/>
          </a:p>
        </p:txBody>
      </p:sp>
    </p:spTree>
    <p:extLst>
      <p:ext uri="{BB962C8B-B14F-4D97-AF65-F5344CB8AC3E}">
        <p14:creationId xmlns:p14="http://schemas.microsoft.com/office/powerpoint/2010/main" val="415111105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7A20E-3CAA-D6C6-E655-BBFACE910786}"/>
              </a:ext>
            </a:extLst>
          </p:cNvPr>
          <p:cNvSpPr>
            <a:spLocks noGrp="1"/>
          </p:cNvSpPr>
          <p:nvPr>
            <p:ph type="title"/>
          </p:nvPr>
        </p:nvSpPr>
        <p:spPr>
          <a:xfrm>
            <a:off x="230621" y="663240"/>
            <a:ext cx="9872134" cy="1193968"/>
          </a:xfrm>
          <a:solidFill>
            <a:srgbClr val="FFFFFF"/>
          </a:solidFill>
          <a:ln w="38100">
            <a:solidFill>
              <a:srgbClr val="7F7F7F"/>
            </a:solidFill>
            <a:miter lim="800000"/>
          </a:ln>
        </p:spPr>
        <p:txBody>
          <a:bodyPr vert="horz" lIns="91440" tIns="45720" rIns="91440" bIns="45720" rtlCol="0" anchor="ctr">
            <a:normAutofit fontScale="90000"/>
          </a:bodyPr>
          <a:lstStyle/>
          <a:p>
            <a:pPr algn="ctr"/>
            <a:r>
              <a:rPr lang="en-US" sz="3300" kern="1200" dirty="0">
                <a:solidFill>
                  <a:srgbClr val="3F3F3F"/>
                </a:solidFill>
                <a:latin typeface="+mj-lt"/>
                <a:ea typeface="+mj-ea"/>
                <a:cs typeface="+mj-cs"/>
              </a:rPr>
              <a:t>Would government’s decision to increase fiscal spending aimed at economic growth increase life expectancy?</a:t>
            </a:r>
          </a:p>
        </p:txBody>
      </p:sp>
      <p:sp>
        <p:nvSpPr>
          <p:cNvPr id="3" name="Content Placeholder 2">
            <a:extLst>
              <a:ext uri="{FF2B5EF4-FFF2-40B4-BE49-F238E27FC236}">
                <a16:creationId xmlns:a16="http://schemas.microsoft.com/office/drawing/2014/main" id="{146C6C6E-29C2-D6D2-5A38-4FC7DEAC348B}"/>
              </a:ext>
            </a:extLst>
          </p:cNvPr>
          <p:cNvSpPr>
            <a:spLocks noGrp="1"/>
          </p:cNvSpPr>
          <p:nvPr>
            <p:ph idx="1"/>
          </p:nvPr>
        </p:nvSpPr>
        <p:spPr>
          <a:xfrm>
            <a:off x="225864" y="2143129"/>
            <a:ext cx="4297351" cy="2959777"/>
          </a:xfrm>
        </p:spPr>
        <p:txBody>
          <a:bodyPr vert="horz" lIns="91440" tIns="45720" rIns="91440" bIns="45720" rtlCol="0" anchor="t">
            <a:normAutofit/>
          </a:bodyPr>
          <a:lstStyle/>
          <a:p>
            <a:pPr marL="0" indent="0">
              <a:buNone/>
            </a:pPr>
            <a:r>
              <a:rPr lang="en-US" sz="2000" dirty="0"/>
              <a:t>1) Life expectancy is a key indicator of human well-being.</a:t>
            </a:r>
          </a:p>
          <a:p>
            <a:pPr marL="0" indent="0">
              <a:buNone/>
            </a:pPr>
            <a:r>
              <a:rPr lang="en-US" sz="2000" dirty="0"/>
              <a:t>2) It has to be one of top priorities for governments to meet sustainable development goals</a:t>
            </a:r>
          </a:p>
        </p:txBody>
      </p:sp>
      <p:sp>
        <p:nvSpPr>
          <p:cNvPr id="4" name="TextBox 3">
            <a:extLst>
              <a:ext uri="{FF2B5EF4-FFF2-40B4-BE49-F238E27FC236}">
                <a16:creationId xmlns:a16="http://schemas.microsoft.com/office/drawing/2014/main" id="{2F423F44-929D-B5D6-508C-26795DA2B006}"/>
              </a:ext>
            </a:extLst>
          </p:cNvPr>
          <p:cNvSpPr txBox="1"/>
          <p:nvPr/>
        </p:nvSpPr>
        <p:spPr>
          <a:xfrm>
            <a:off x="230621" y="144102"/>
            <a:ext cx="4292594" cy="295977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800" dirty="0"/>
              <a:t>Research question:</a:t>
            </a:r>
          </a:p>
        </p:txBody>
      </p:sp>
      <p:sp>
        <p:nvSpPr>
          <p:cNvPr id="6" name="TextBox 5">
            <a:extLst>
              <a:ext uri="{FF2B5EF4-FFF2-40B4-BE49-F238E27FC236}">
                <a16:creationId xmlns:a16="http://schemas.microsoft.com/office/drawing/2014/main" id="{30CED6EA-EE58-DF06-C2CE-5F7BD93E0EAA}"/>
              </a:ext>
            </a:extLst>
          </p:cNvPr>
          <p:cNvSpPr txBox="1"/>
          <p:nvPr/>
        </p:nvSpPr>
        <p:spPr>
          <a:xfrm>
            <a:off x="5448104" y="2037258"/>
            <a:ext cx="3729761" cy="4708981"/>
          </a:xfrm>
          <a:prstGeom prst="rect">
            <a:avLst/>
          </a:prstGeom>
          <a:noFill/>
        </p:spPr>
        <p:txBody>
          <a:bodyPr wrap="square">
            <a:spAutoFit/>
          </a:bodyPr>
          <a:lstStyle/>
          <a:p>
            <a:r>
              <a:rPr lang="en-US" sz="2000" dirty="0"/>
              <a:t>1) Economic development is assumed to improve health outcomes.</a:t>
            </a:r>
          </a:p>
          <a:p>
            <a:r>
              <a:rPr lang="en-US" sz="2000" dirty="0"/>
              <a:t>2) When fiscal spending goes up, especially through investment in technologies, capital it is going to have positive long-lasting consequences on economy and GDP grows. </a:t>
            </a:r>
          </a:p>
          <a:p>
            <a:r>
              <a:rPr lang="en-US" sz="2000" dirty="0"/>
              <a:t>3) As a result of GDP growth GDP per capita also grows taking into account population does not tend to increase dramatically in a short run</a:t>
            </a:r>
          </a:p>
        </p:txBody>
      </p:sp>
      <p:cxnSp>
        <p:nvCxnSpPr>
          <p:cNvPr id="7" name="Straight Connector 6">
            <a:extLst>
              <a:ext uri="{FF2B5EF4-FFF2-40B4-BE49-F238E27FC236}">
                <a16:creationId xmlns:a16="http://schemas.microsoft.com/office/drawing/2014/main" id="{F36B7EC1-61E5-4BF5-F0F5-38BCFFB8557D}"/>
              </a:ext>
            </a:extLst>
          </p:cNvPr>
          <p:cNvCxnSpPr/>
          <p:nvPr/>
        </p:nvCxnSpPr>
        <p:spPr>
          <a:xfrm>
            <a:off x="4846320" y="2143129"/>
            <a:ext cx="0" cy="4420231"/>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1326092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F168444-0916-1F7D-11D1-ACE51F14E6EA}"/>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Our goal in this project:</a:t>
            </a:r>
          </a:p>
        </p:txBody>
      </p:sp>
      <p:graphicFrame>
        <p:nvGraphicFramePr>
          <p:cNvPr id="5" name="Content Placeholder 2">
            <a:extLst>
              <a:ext uri="{FF2B5EF4-FFF2-40B4-BE49-F238E27FC236}">
                <a16:creationId xmlns:a16="http://schemas.microsoft.com/office/drawing/2014/main" id="{A4EA5C55-9A53-D663-D2B1-FE64B18670F3}"/>
              </a:ext>
            </a:extLst>
          </p:cNvPr>
          <p:cNvGraphicFramePr>
            <a:graphicFrameLocks noGrp="1"/>
          </p:cNvGraphicFramePr>
          <p:nvPr>
            <p:ph idx="1"/>
            <p:extLst>
              <p:ext uri="{D42A27DB-BD31-4B8C-83A1-F6EECF244321}">
                <p14:modId xmlns:p14="http://schemas.microsoft.com/office/powerpoint/2010/main" val="1907040388"/>
              </p:ext>
            </p:extLst>
          </p:nvPr>
        </p:nvGraphicFramePr>
        <p:xfrm>
          <a:off x="226142" y="2615979"/>
          <a:ext cx="11710219" cy="39912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022060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83A9D-C82E-8A1B-CEC9-C092A63466DF}"/>
              </a:ext>
            </a:extLst>
          </p:cNvPr>
          <p:cNvSpPr>
            <a:spLocks noGrp="1"/>
          </p:cNvSpPr>
          <p:nvPr>
            <p:ph type="title"/>
          </p:nvPr>
        </p:nvSpPr>
        <p:spPr>
          <a:xfrm>
            <a:off x="839724" y="0"/>
            <a:ext cx="10512552" cy="3921968"/>
          </a:xfrm>
        </p:spPr>
        <p:txBody>
          <a:bodyPr vert="horz" lIns="91440" tIns="45720" rIns="91440" bIns="45720" rtlCol="0" anchor="b">
            <a:normAutofit/>
          </a:bodyPr>
          <a:lstStyle/>
          <a:p>
            <a:r>
              <a:rPr lang="en-US" sz="6600" kern="1200" dirty="0">
                <a:solidFill>
                  <a:schemeClr val="tx1"/>
                </a:solidFill>
                <a:latin typeface="+mj-lt"/>
                <a:ea typeface="+mj-ea"/>
                <a:cs typeface="+mj-cs"/>
              </a:rPr>
              <a:t>Exploratory data analysis:</a:t>
            </a:r>
          </a:p>
        </p:txBody>
      </p:sp>
      <p:sp>
        <p:nvSpPr>
          <p:cNvPr id="3" name="TextBox 2">
            <a:extLst>
              <a:ext uri="{FF2B5EF4-FFF2-40B4-BE49-F238E27FC236}">
                <a16:creationId xmlns:a16="http://schemas.microsoft.com/office/drawing/2014/main" id="{02DE1714-0FCE-96AA-2043-2D3F363ACC58}"/>
              </a:ext>
            </a:extLst>
          </p:cNvPr>
          <p:cNvSpPr txBox="1"/>
          <p:nvPr/>
        </p:nvSpPr>
        <p:spPr>
          <a:xfrm>
            <a:off x="747893" y="4310328"/>
            <a:ext cx="5766702" cy="830997"/>
          </a:xfrm>
          <a:prstGeom prst="rect">
            <a:avLst/>
          </a:prstGeom>
        </p:spPr>
        <p:txBody>
          <a:bodyPr vert="horz" lIns="91440" tIns="45720" rIns="91440" bIns="45720" rtlCol="0">
            <a:normAutofit/>
          </a:bodyPr>
          <a:lstStyle/>
          <a:p>
            <a:pPr>
              <a:lnSpc>
                <a:spcPct val="90000"/>
              </a:lnSpc>
              <a:spcBef>
                <a:spcPts val="1000"/>
              </a:spcBef>
            </a:pPr>
            <a:r>
              <a:rPr lang="en-US" sz="2400" kern="1200" dirty="0">
                <a:solidFill>
                  <a:schemeClr val="tx1"/>
                </a:solidFill>
                <a:latin typeface="+mn-lt"/>
                <a:ea typeface="+mn-ea"/>
                <a:cs typeface="+mn-cs"/>
              </a:rPr>
              <a:t>The structure of data collected</a:t>
            </a:r>
          </a:p>
        </p:txBody>
      </p:sp>
      <p:sp>
        <p:nvSpPr>
          <p:cNvPr id="4" name="TextBox 3">
            <a:extLst>
              <a:ext uri="{FF2B5EF4-FFF2-40B4-BE49-F238E27FC236}">
                <a16:creationId xmlns:a16="http://schemas.microsoft.com/office/drawing/2014/main" id="{6121F7F3-8276-581F-762C-84CFB75F1782}"/>
              </a:ext>
            </a:extLst>
          </p:cNvPr>
          <p:cNvSpPr txBox="1"/>
          <p:nvPr/>
        </p:nvSpPr>
        <p:spPr>
          <a:xfrm>
            <a:off x="5947317" y="4199095"/>
            <a:ext cx="3677264" cy="1569660"/>
          </a:xfrm>
          <a:prstGeom prst="rect">
            <a:avLst/>
          </a:prstGeom>
          <a:noFill/>
        </p:spPr>
        <p:txBody>
          <a:bodyPr wrap="square" rtlCol="0">
            <a:spAutoFit/>
          </a:bodyPr>
          <a:lstStyle/>
          <a:p>
            <a:pPr>
              <a:spcAft>
                <a:spcPts val="600"/>
              </a:spcAft>
            </a:pPr>
            <a:r>
              <a:rPr lang="en-US" sz="2400" dirty="0"/>
              <a:t>Comparing a large and a small economy to underline importance of time fixed effects </a:t>
            </a:r>
            <a:endParaRPr lang="ru-RU" sz="2400" dirty="0"/>
          </a:p>
        </p:txBody>
      </p:sp>
      <p:sp>
        <p:nvSpPr>
          <p:cNvPr id="5" name="TextBox 4">
            <a:extLst>
              <a:ext uri="{FF2B5EF4-FFF2-40B4-BE49-F238E27FC236}">
                <a16:creationId xmlns:a16="http://schemas.microsoft.com/office/drawing/2014/main" id="{B15BC8DE-3884-014F-7934-5D9434670D05}"/>
              </a:ext>
            </a:extLst>
          </p:cNvPr>
          <p:cNvSpPr txBox="1"/>
          <p:nvPr/>
        </p:nvSpPr>
        <p:spPr>
          <a:xfrm>
            <a:off x="747893" y="5036291"/>
            <a:ext cx="3755922" cy="830997"/>
          </a:xfrm>
          <a:prstGeom prst="rect">
            <a:avLst/>
          </a:prstGeom>
          <a:noFill/>
        </p:spPr>
        <p:txBody>
          <a:bodyPr wrap="square" rtlCol="0">
            <a:spAutoFit/>
          </a:bodyPr>
          <a:lstStyle/>
          <a:p>
            <a:pPr>
              <a:spcAft>
                <a:spcPts val="600"/>
              </a:spcAft>
            </a:pPr>
            <a:r>
              <a:rPr lang="en-US" sz="2400" dirty="0"/>
              <a:t>Importance of country fixed effects</a:t>
            </a:r>
            <a:endParaRPr lang="ru-RU" sz="2400" dirty="0"/>
          </a:p>
        </p:txBody>
      </p:sp>
      <p:pic>
        <p:nvPicPr>
          <p:cNvPr id="8" name="Graphic 7" descr="Checkmark with solid fill">
            <a:extLst>
              <a:ext uri="{FF2B5EF4-FFF2-40B4-BE49-F238E27FC236}">
                <a16:creationId xmlns:a16="http://schemas.microsoft.com/office/drawing/2014/main" id="{88EA9587-069C-DDEE-A454-C7E22A25CE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0693" y="4315853"/>
            <a:ext cx="457200" cy="457200"/>
          </a:xfrm>
          <a:prstGeom prst="rect">
            <a:avLst/>
          </a:prstGeom>
        </p:spPr>
      </p:pic>
      <p:pic>
        <p:nvPicPr>
          <p:cNvPr id="9" name="Picture 8">
            <a:extLst>
              <a:ext uri="{FF2B5EF4-FFF2-40B4-BE49-F238E27FC236}">
                <a16:creationId xmlns:a16="http://schemas.microsoft.com/office/drawing/2014/main" id="{425D2ED1-91A5-1586-5FBB-71B389E21010}"/>
              </a:ext>
            </a:extLst>
          </p:cNvPr>
          <p:cNvPicPr>
            <a:picLocks noChangeAspect="1"/>
          </p:cNvPicPr>
          <p:nvPr/>
        </p:nvPicPr>
        <p:blipFill>
          <a:blip r:embed="rId4"/>
          <a:stretch>
            <a:fillRect/>
          </a:stretch>
        </p:blipFill>
        <p:spPr>
          <a:xfrm>
            <a:off x="5410140" y="4315833"/>
            <a:ext cx="457240" cy="457240"/>
          </a:xfrm>
          <a:prstGeom prst="rect">
            <a:avLst/>
          </a:prstGeom>
        </p:spPr>
      </p:pic>
      <p:pic>
        <p:nvPicPr>
          <p:cNvPr id="23" name="Picture 22">
            <a:extLst>
              <a:ext uri="{FF2B5EF4-FFF2-40B4-BE49-F238E27FC236}">
                <a16:creationId xmlns:a16="http://schemas.microsoft.com/office/drawing/2014/main" id="{3003BFF7-254A-C6FA-077D-1E4223460156}"/>
              </a:ext>
            </a:extLst>
          </p:cNvPr>
          <p:cNvPicPr>
            <a:picLocks noChangeAspect="1"/>
          </p:cNvPicPr>
          <p:nvPr/>
        </p:nvPicPr>
        <p:blipFill>
          <a:blip r:embed="rId4"/>
          <a:stretch>
            <a:fillRect/>
          </a:stretch>
        </p:blipFill>
        <p:spPr>
          <a:xfrm>
            <a:off x="290653" y="5072445"/>
            <a:ext cx="457240" cy="457240"/>
          </a:xfrm>
          <a:prstGeom prst="rect">
            <a:avLst/>
          </a:prstGeom>
        </p:spPr>
      </p:pic>
    </p:spTree>
    <p:extLst>
      <p:ext uri="{BB962C8B-B14F-4D97-AF65-F5344CB8AC3E}">
        <p14:creationId xmlns:p14="http://schemas.microsoft.com/office/powerpoint/2010/main" val="234638640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D5D39-860D-780F-9ABF-930CEA351147}"/>
              </a:ext>
            </a:extLst>
          </p:cNvPr>
          <p:cNvSpPr>
            <a:spLocks noGrp="1"/>
          </p:cNvSpPr>
          <p:nvPr>
            <p:ph type="title"/>
          </p:nvPr>
        </p:nvSpPr>
        <p:spPr>
          <a:xfrm>
            <a:off x="1454929" y="77886"/>
            <a:ext cx="10515600" cy="1325563"/>
          </a:xfrm>
        </p:spPr>
        <p:txBody>
          <a:bodyPr/>
          <a:lstStyle/>
          <a:p>
            <a:pPr algn="ctr"/>
            <a:r>
              <a:rPr lang="en-US" dirty="0"/>
              <a:t>General Econometric Model</a:t>
            </a:r>
          </a:p>
        </p:txBody>
      </p:sp>
      <p:pic>
        <p:nvPicPr>
          <p:cNvPr id="6" name="Content Placeholder 5">
            <a:extLst>
              <a:ext uri="{FF2B5EF4-FFF2-40B4-BE49-F238E27FC236}">
                <a16:creationId xmlns:a16="http://schemas.microsoft.com/office/drawing/2014/main" id="{F37C44BA-1F83-DB40-17B9-E6B85C4B6C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19435" y="2008063"/>
            <a:ext cx="203200" cy="16760"/>
          </a:xfrm>
        </p:spPr>
      </p:pic>
      <p:graphicFrame>
        <p:nvGraphicFramePr>
          <p:cNvPr id="4" name="Diagram 3">
            <a:extLst>
              <a:ext uri="{FF2B5EF4-FFF2-40B4-BE49-F238E27FC236}">
                <a16:creationId xmlns:a16="http://schemas.microsoft.com/office/drawing/2014/main" id="{4AFBADD6-E23C-BFBB-3995-5EC82F337A1D}"/>
              </a:ext>
            </a:extLst>
          </p:cNvPr>
          <p:cNvGraphicFramePr/>
          <p:nvPr>
            <p:extLst>
              <p:ext uri="{D42A27DB-BD31-4B8C-83A1-F6EECF244321}">
                <p14:modId xmlns:p14="http://schemas.microsoft.com/office/powerpoint/2010/main" val="2892709960"/>
              </p:ext>
            </p:extLst>
          </p:nvPr>
        </p:nvGraphicFramePr>
        <p:xfrm>
          <a:off x="3907545" y="434355"/>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a16="http://schemas.microsoft.com/office/drawing/2014/main" id="{EBC72934-857A-56E4-B057-D70041AC7BE2}"/>
              </a:ext>
            </a:extLst>
          </p:cNvPr>
          <p:cNvPicPr>
            <a:picLocks noChangeAspect="1"/>
          </p:cNvPicPr>
          <p:nvPr/>
        </p:nvPicPr>
        <p:blipFill>
          <a:blip r:embed="rId8"/>
          <a:stretch>
            <a:fillRect/>
          </a:stretch>
        </p:blipFill>
        <p:spPr>
          <a:xfrm>
            <a:off x="828149" y="5580995"/>
            <a:ext cx="10535701" cy="809746"/>
          </a:xfrm>
          <a:prstGeom prst="rect">
            <a:avLst/>
          </a:prstGeom>
        </p:spPr>
      </p:pic>
      <p:sp>
        <p:nvSpPr>
          <p:cNvPr id="10" name="TextBox 9">
            <a:extLst>
              <a:ext uri="{FF2B5EF4-FFF2-40B4-BE49-F238E27FC236}">
                <a16:creationId xmlns:a16="http://schemas.microsoft.com/office/drawing/2014/main" id="{517F9C08-C157-EC79-2028-059D645143B4}"/>
              </a:ext>
            </a:extLst>
          </p:cNvPr>
          <p:cNvSpPr txBox="1"/>
          <p:nvPr/>
        </p:nvSpPr>
        <p:spPr>
          <a:xfrm>
            <a:off x="1089715" y="789199"/>
            <a:ext cx="2882845" cy="4708981"/>
          </a:xfrm>
          <a:prstGeom prst="rect">
            <a:avLst/>
          </a:prstGeom>
          <a:noFill/>
        </p:spPr>
        <p:txBody>
          <a:bodyPr wrap="square">
            <a:spAutoFit/>
          </a:bodyPr>
          <a:lstStyle/>
          <a:p>
            <a:r>
              <a:rPr lang="en-US" sz="2000" b="1" dirty="0"/>
              <a:t>We are using log transformed GDP per capita because its values are large in size, probably skewed and harder to interpret but by applying log transformation, which is a monotonic transformation we: </a:t>
            </a:r>
          </a:p>
          <a:p>
            <a:pPr marL="342900" indent="-342900">
              <a:buAutoNum type="arabicParenR"/>
            </a:pPr>
            <a:r>
              <a:rPr lang="en-US" sz="2000" b="1" dirty="0"/>
              <a:t>Reduce Skewness and Scale    </a:t>
            </a:r>
          </a:p>
          <a:p>
            <a:pPr marL="342900" indent="-342900">
              <a:buAutoNum type="arabicParenR"/>
            </a:pPr>
            <a:r>
              <a:rPr lang="en-US" sz="2000" b="1" dirty="0"/>
              <a:t>Can interpret results in terms of %    </a:t>
            </a:r>
          </a:p>
          <a:p>
            <a:pPr marL="342900" indent="-342900">
              <a:buAutoNum type="arabicParenR"/>
            </a:pPr>
            <a:r>
              <a:rPr lang="en-US" sz="2000" b="1" dirty="0"/>
              <a:t>Stabilize Variance</a:t>
            </a:r>
          </a:p>
        </p:txBody>
      </p:sp>
    </p:spTree>
    <p:extLst>
      <p:ext uri="{BB962C8B-B14F-4D97-AF65-F5344CB8AC3E}">
        <p14:creationId xmlns:p14="http://schemas.microsoft.com/office/powerpoint/2010/main" val="388715669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8EB26-B938-684A-42BB-4C9218D846AB}"/>
              </a:ext>
            </a:extLst>
          </p:cNvPr>
          <p:cNvSpPr>
            <a:spLocks noGrp="1"/>
          </p:cNvSpPr>
          <p:nvPr>
            <p:ph type="title"/>
          </p:nvPr>
        </p:nvSpPr>
        <p:spPr>
          <a:xfrm>
            <a:off x="1051560" y="586822"/>
            <a:ext cx="3657600" cy="1645920"/>
          </a:xfrm>
        </p:spPr>
        <p:txBody>
          <a:bodyPr>
            <a:normAutofit/>
          </a:bodyPr>
          <a:lstStyle/>
          <a:p>
            <a:r>
              <a:rPr lang="en-US" sz="2700" dirty="0"/>
              <a:t>Georgia and France chosen to show small and large economy examples:</a:t>
            </a:r>
          </a:p>
        </p:txBody>
      </p:sp>
      <p:sp>
        <p:nvSpPr>
          <p:cNvPr id="32" name="Content Placeholder 16">
            <a:extLst>
              <a:ext uri="{FF2B5EF4-FFF2-40B4-BE49-F238E27FC236}">
                <a16:creationId xmlns:a16="http://schemas.microsoft.com/office/drawing/2014/main" id="{8DE65EA7-C78D-FBE0-845A-12B0B0F425A1}"/>
              </a:ext>
            </a:extLst>
          </p:cNvPr>
          <p:cNvSpPr>
            <a:spLocks noGrp="1"/>
          </p:cNvSpPr>
          <p:nvPr>
            <p:ph idx="1"/>
          </p:nvPr>
        </p:nvSpPr>
        <p:spPr>
          <a:xfrm>
            <a:off x="5250106" y="586822"/>
            <a:ext cx="6106742" cy="1645920"/>
          </a:xfrm>
        </p:spPr>
        <p:txBody>
          <a:bodyPr anchor="ctr">
            <a:normAutofit/>
          </a:bodyPr>
          <a:lstStyle/>
          <a:p>
            <a:pPr algn="ctr"/>
            <a:r>
              <a:rPr lang="en-US" sz="1800" dirty="0"/>
              <a:t>Filtered data from 1987</a:t>
            </a:r>
          </a:p>
          <a:p>
            <a:pPr marL="0" indent="0" algn="ctr">
              <a:buNone/>
            </a:pPr>
            <a:r>
              <a:rPr lang="en-US" sz="2400" b="1" i="1" u="sng" dirty="0"/>
              <a:t>Fluctuations of GDP Per Capita</a:t>
            </a:r>
          </a:p>
        </p:txBody>
      </p:sp>
      <p:pic>
        <p:nvPicPr>
          <p:cNvPr id="10" name="Content Placeholder 9">
            <a:extLst>
              <a:ext uri="{FF2B5EF4-FFF2-40B4-BE49-F238E27FC236}">
                <a16:creationId xmlns:a16="http://schemas.microsoft.com/office/drawing/2014/main" id="{F20872C0-B646-7B5C-76A8-9F884EE960A2}"/>
              </a:ext>
            </a:extLst>
          </p:cNvPr>
          <p:cNvPicPr>
            <a:picLocks noChangeAspect="1"/>
          </p:cNvPicPr>
          <p:nvPr/>
        </p:nvPicPr>
        <p:blipFill>
          <a:blip r:embed="rId2"/>
          <a:stretch>
            <a:fillRect/>
          </a:stretch>
        </p:blipFill>
        <p:spPr>
          <a:xfrm>
            <a:off x="727340" y="2232742"/>
            <a:ext cx="4866969" cy="444676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a:extLst>
              <a:ext uri="{FF2B5EF4-FFF2-40B4-BE49-F238E27FC236}">
                <a16:creationId xmlns:a16="http://schemas.microsoft.com/office/drawing/2014/main" id="{93AE4AA4-D8A7-4B01-F95A-7E903387C4B8}"/>
              </a:ext>
            </a:extLst>
          </p:cNvPr>
          <p:cNvPicPr>
            <a:picLocks noChangeAspect="1"/>
          </p:cNvPicPr>
          <p:nvPr/>
        </p:nvPicPr>
        <p:blipFill>
          <a:blip r:embed="rId3"/>
          <a:stretch>
            <a:fillRect/>
          </a:stretch>
        </p:blipFill>
        <p:spPr>
          <a:xfrm>
            <a:off x="6321649" y="2232742"/>
            <a:ext cx="4866968" cy="444676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490894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2337124-CBE0-03DA-EBBA-37DFB4212874}"/>
              </a:ext>
            </a:extLst>
          </p:cNvPr>
          <p:cNvSpPr>
            <a:spLocks noGrp="1"/>
          </p:cNvSpPr>
          <p:nvPr>
            <p:ph type="title"/>
          </p:nvPr>
        </p:nvSpPr>
        <p:spPr>
          <a:xfrm>
            <a:off x="1137034" y="925569"/>
            <a:ext cx="4593206" cy="145713"/>
          </a:xfrm>
        </p:spPr>
        <p:txBody>
          <a:bodyPr>
            <a:normAutofit fontScale="90000"/>
          </a:bodyPr>
          <a:lstStyle/>
          <a:p>
            <a:r>
              <a:rPr lang="en-US" dirty="0"/>
              <a:t>Importance of fixed effects</a:t>
            </a:r>
          </a:p>
        </p:txBody>
      </p:sp>
      <p:sp>
        <p:nvSpPr>
          <p:cNvPr id="3" name="Content Placeholder 2">
            <a:extLst>
              <a:ext uri="{FF2B5EF4-FFF2-40B4-BE49-F238E27FC236}">
                <a16:creationId xmlns:a16="http://schemas.microsoft.com/office/drawing/2014/main" id="{117795CC-4A26-E2A1-5238-4ABE68243FFA}"/>
              </a:ext>
            </a:extLst>
          </p:cNvPr>
          <p:cNvSpPr>
            <a:spLocks noGrp="1"/>
          </p:cNvSpPr>
          <p:nvPr>
            <p:ph idx="1"/>
          </p:nvPr>
        </p:nvSpPr>
        <p:spPr>
          <a:xfrm>
            <a:off x="1137034" y="1650508"/>
            <a:ext cx="4430646" cy="4924127"/>
          </a:xfrm>
        </p:spPr>
        <p:txBody>
          <a:bodyPr>
            <a:normAutofit lnSpcReduction="10000"/>
          </a:bodyPr>
          <a:lstStyle/>
          <a:p>
            <a:r>
              <a:rPr lang="en-US" sz="2000" dirty="0"/>
              <a:t>common major decrease in GDP came in 2008-2009 which is related to Global Banking Crisis.</a:t>
            </a:r>
          </a:p>
          <a:p>
            <a:r>
              <a:rPr lang="en-US" sz="2000" dirty="0"/>
              <a:t>another common significant drop came in 2020-2021 which corresponds to breakout of COVID-19.</a:t>
            </a:r>
          </a:p>
          <a:p>
            <a:r>
              <a:rPr lang="en-US" sz="2000" dirty="0"/>
              <a:t>That pattern shows why we should include Time fixed effects as well as country fixed effects in the following parts. Time fixed effect will eliminate potential bias coming from unobserved variation due to G.F.C, COVID and other events; As for as geographical and cultural effects and other time invariant effects, they will be eliminated using country fixed effects.</a:t>
            </a:r>
          </a:p>
        </p:txBody>
      </p:sp>
      <p:pic>
        <p:nvPicPr>
          <p:cNvPr id="7" name="Graphic 6" descr="Bar Graph with Downward Trend">
            <a:extLst>
              <a:ext uri="{FF2B5EF4-FFF2-40B4-BE49-F238E27FC236}">
                <a16:creationId xmlns:a16="http://schemas.microsoft.com/office/drawing/2014/main" id="{881027E3-8C2F-8D58-4C1A-706AA37493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80610" y="1071282"/>
            <a:ext cx="4737650" cy="4737650"/>
          </a:xfrm>
          <a:prstGeom prst="rect">
            <a:avLst/>
          </a:prstGeom>
          <a:effectLst>
            <a:glow rad="101600">
              <a:schemeClr val="accent1">
                <a:satMod val="175000"/>
                <a:alpha val="40000"/>
              </a:schemeClr>
            </a:glow>
          </a:effectLst>
        </p:spPr>
      </p:pic>
    </p:spTree>
    <p:extLst>
      <p:ext uri="{BB962C8B-B14F-4D97-AF65-F5344CB8AC3E}">
        <p14:creationId xmlns:p14="http://schemas.microsoft.com/office/powerpoint/2010/main" val="38183140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87C82-B744-1B35-25B7-81E14A93016F}"/>
              </a:ext>
            </a:extLst>
          </p:cNvPr>
          <p:cNvSpPr>
            <a:spLocks noGrp="1"/>
          </p:cNvSpPr>
          <p:nvPr>
            <p:ph type="title"/>
          </p:nvPr>
        </p:nvSpPr>
        <p:spPr>
          <a:xfrm>
            <a:off x="1088135" y="4280345"/>
            <a:ext cx="4245864" cy="1722691"/>
          </a:xfrm>
        </p:spPr>
        <p:txBody>
          <a:bodyPr anchor="ctr">
            <a:normAutofit/>
          </a:bodyPr>
          <a:lstStyle/>
          <a:p>
            <a:r>
              <a:rPr lang="en-US" sz="5000" dirty="0"/>
              <a:t>Fluctuations in life expectancy</a:t>
            </a:r>
          </a:p>
        </p:txBody>
      </p:sp>
      <p:sp>
        <p:nvSpPr>
          <p:cNvPr id="11" name="Content Placeholder 10">
            <a:extLst>
              <a:ext uri="{FF2B5EF4-FFF2-40B4-BE49-F238E27FC236}">
                <a16:creationId xmlns:a16="http://schemas.microsoft.com/office/drawing/2014/main" id="{7F0FA693-7813-91FC-808E-A41F75B40863}"/>
              </a:ext>
            </a:extLst>
          </p:cNvPr>
          <p:cNvSpPr>
            <a:spLocks noGrp="1"/>
          </p:cNvSpPr>
          <p:nvPr>
            <p:ph idx="1"/>
          </p:nvPr>
        </p:nvSpPr>
        <p:spPr>
          <a:xfrm>
            <a:off x="5333999" y="4440365"/>
            <a:ext cx="6214871" cy="1722691"/>
          </a:xfrm>
        </p:spPr>
        <p:txBody>
          <a:bodyPr anchor="ctr">
            <a:normAutofit fontScale="92500"/>
          </a:bodyPr>
          <a:lstStyle/>
          <a:p>
            <a:r>
              <a:rPr lang="en-US" sz="2200" dirty="0"/>
              <a:t>Due to COVID in both country life expectancy decreased in 2020-2021. In Georgia decrease was more dramatic, probably primarily because of Healthcare services, which apparently are at lower level compared to what's available in France on average.</a:t>
            </a:r>
          </a:p>
        </p:txBody>
      </p:sp>
      <p:pic>
        <p:nvPicPr>
          <p:cNvPr id="5" name="Content Placeholder 4" descr="A graph with a red line and green dots&#10;&#10;AI-generated content may be incorrect.">
            <a:extLst>
              <a:ext uri="{FF2B5EF4-FFF2-40B4-BE49-F238E27FC236}">
                <a16:creationId xmlns:a16="http://schemas.microsoft.com/office/drawing/2014/main" id="{19677485-CFA6-0650-D9D2-76A4D5DD0065}"/>
              </a:ext>
            </a:extLst>
          </p:cNvPr>
          <p:cNvPicPr>
            <a:picLocks noChangeAspect="1"/>
          </p:cNvPicPr>
          <p:nvPr/>
        </p:nvPicPr>
        <p:blipFill>
          <a:blip r:embed="rId2"/>
          <a:stretch>
            <a:fillRect/>
          </a:stretch>
        </p:blipFill>
        <p:spPr>
          <a:xfrm>
            <a:off x="580041" y="160020"/>
            <a:ext cx="4534503" cy="41203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descr="A graph with a line&#10;&#10;AI-generated content may be incorrect.">
            <a:extLst>
              <a:ext uri="{FF2B5EF4-FFF2-40B4-BE49-F238E27FC236}">
                <a16:creationId xmlns:a16="http://schemas.microsoft.com/office/drawing/2014/main" id="{830E2970-41E7-8DDF-A914-F3C685E84462}"/>
              </a:ext>
            </a:extLst>
          </p:cNvPr>
          <p:cNvPicPr>
            <a:picLocks noChangeAspect="1"/>
          </p:cNvPicPr>
          <p:nvPr/>
        </p:nvPicPr>
        <p:blipFill>
          <a:blip r:embed="rId3"/>
          <a:stretch>
            <a:fillRect/>
          </a:stretch>
        </p:blipFill>
        <p:spPr>
          <a:xfrm>
            <a:off x="6703568" y="193294"/>
            <a:ext cx="4534503" cy="408705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98606376"/>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972B-17E9-790A-A636-2ED79EDFB656}"/>
              </a:ext>
            </a:extLst>
          </p:cNvPr>
          <p:cNvSpPr>
            <a:spLocks noGrp="1"/>
          </p:cNvSpPr>
          <p:nvPr>
            <p:ph type="title"/>
          </p:nvPr>
        </p:nvSpPr>
        <p:spPr>
          <a:xfrm>
            <a:off x="838200" y="172085"/>
            <a:ext cx="10515600" cy="1325563"/>
          </a:xfrm>
        </p:spPr>
        <p:txBody>
          <a:bodyPr>
            <a:noAutofit/>
          </a:bodyPr>
          <a:lstStyle/>
          <a:p>
            <a:pPr algn="ctr"/>
            <a:r>
              <a:rPr lang="en-US" sz="3600"/>
              <a:t>Let's observe GDP per capita and life expectancy together</a:t>
            </a:r>
            <a:br>
              <a:rPr lang="en-US" sz="3600"/>
            </a:br>
            <a:endParaRPr lang="en-US" sz="3600" dirty="0"/>
          </a:p>
        </p:txBody>
      </p:sp>
      <p:pic>
        <p:nvPicPr>
          <p:cNvPr id="5" name="Content Placeholder 4">
            <a:extLst>
              <a:ext uri="{FF2B5EF4-FFF2-40B4-BE49-F238E27FC236}">
                <a16:creationId xmlns:a16="http://schemas.microsoft.com/office/drawing/2014/main" id="{A2C1D60E-D485-29D8-164F-1048C755069A}"/>
              </a:ext>
            </a:extLst>
          </p:cNvPr>
          <p:cNvPicPr>
            <a:picLocks noGrp="1" noChangeAspect="1"/>
          </p:cNvPicPr>
          <p:nvPr>
            <p:ph idx="1"/>
          </p:nvPr>
        </p:nvPicPr>
        <p:blipFill>
          <a:blip r:embed="rId2"/>
          <a:stretch>
            <a:fillRect/>
          </a:stretch>
        </p:blipFill>
        <p:spPr>
          <a:xfrm>
            <a:off x="594360" y="1375489"/>
            <a:ext cx="4351338" cy="410702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E0701235-0BF4-1E19-2090-E68C599F9108}"/>
              </a:ext>
            </a:extLst>
          </p:cNvPr>
          <p:cNvSpPr txBox="1"/>
          <p:nvPr/>
        </p:nvSpPr>
        <p:spPr>
          <a:xfrm>
            <a:off x="1811734" y="5561469"/>
            <a:ext cx="8568531" cy="1323439"/>
          </a:xfrm>
          <a:prstGeom prst="rect">
            <a:avLst/>
          </a:prstGeom>
          <a:noFill/>
        </p:spPr>
        <p:txBody>
          <a:bodyPr wrap="square" rtlCol="0">
            <a:spAutoFit/>
          </a:bodyPr>
          <a:lstStyle/>
          <a:p>
            <a:r>
              <a:rPr lang="en-US" sz="2000" b="1" dirty="0"/>
              <a:t>As we see from the graphs above both GDP per capita and life expectancy have upwards trend. They are indeed positively correlated and as GDP per capita is causally linked with life expectancy we should expect B1 to be positive.</a:t>
            </a:r>
          </a:p>
        </p:txBody>
      </p:sp>
      <p:pic>
        <p:nvPicPr>
          <p:cNvPr id="8" name="Picture 7">
            <a:extLst>
              <a:ext uri="{FF2B5EF4-FFF2-40B4-BE49-F238E27FC236}">
                <a16:creationId xmlns:a16="http://schemas.microsoft.com/office/drawing/2014/main" id="{A0074E8B-2226-679E-498D-A33D19B2A96D}"/>
              </a:ext>
            </a:extLst>
          </p:cNvPr>
          <p:cNvPicPr>
            <a:picLocks noChangeAspect="1"/>
          </p:cNvPicPr>
          <p:nvPr/>
        </p:nvPicPr>
        <p:blipFill>
          <a:blip r:embed="rId3"/>
          <a:stretch>
            <a:fillRect/>
          </a:stretch>
        </p:blipFill>
        <p:spPr>
          <a:xfrm>
            <a:off x="6954520" y="1406119"/>
            <a:ext cx="4351338" cy="41553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87601326"/>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118CE-4565-14B2-D4FC-9B037DE917AC}"/>
              </a:ext>
            </a:extLst>
          </p:cNvPr>
          <p:cNvSpPr>
            <a:spLocks noGrp="1"/>
          </p:cNvSpPr>
          <p:nvPr>
            <p:ph type="ctrTitle"/>
          </p:nvPr>
        </p:nvSpPr>
        <p:spPr/>
        <p:txBody>
          <a:bodyPr>
            <a:normAutofit fontScale="90000"/>
          </a:bodyPr>
          <a:lstStyle/>
          <a:p>
            <a:r>
              <a:rPr lang="en-US" sz="4400" dirty="0"/>
              <a:t>Before we started working on the models ,We came across potential multicollinearity problem:</a:t>
            </a:r>
            <a:endParaRPr lang="ru-RU" sz="4400" dirty="0"/>
          </a:p>
        </p:txBody>
      </p:sp>
      <p:sp>
        <p:nvSpPr>
          <p:cNvPr id="3" name="Subtitle 2">
            <a:extLst>
              <a:ext uri="{FF2B5EF4-FFF2-40B4-BE49-F238E27FC236}">
                <a16:creationId xmlns:a16="http://schemas.microsoft.com/office/drawing/2014/main" id="{B83251D2-355E-A3A6-4CE5-0F2FCFB9685D}"/>
              </a:ext>
            </a:extLst>
          </p:cNvPr>
          <p:cNvSpPr>
            <a:spLocks noGrp="1"/>
          </p:cNvSpPr>
          <p:nvPr>
            <p:ph type="subTitle" idx="1"/>
          </p:nvPr>
        </p:nvSpPr>
        <p:spPr>
          <a:xfrm>
            <a:off x="1774424" y="3724074"/>
            <a:ext cx="8637072" cy="1664003"/>
          </a:xfrm>
        </p:spPr>
        <p:txBody>
          <a:bodyPr>
            <a:noAutofit/>
          </a:bodyPr>
          <a:lstStyle/>
          <a:p>
            <a:r>
              <a:rPr lang="en-US" sz="2000" b="1" dirty="0">
                <a:solidFill>
                  <a:srgbClr val="FF0000"/>
                </a:solidFill>
              </a:rPr>
              <a:t>V.I.F</a:t>
            </a:r>
            <a:r>
              <a:rPr lang="en-US" sz="2000" dirty="0"/>
              <a:t> factors for age dependency ratio and urban population were both above accepted threshold of 10, so we decided to drop one of them, specifically we dropped age dependency ratio to safely run the other models.</a:t>
            </a:r>
          </a:p>
          <a:p>
            <a:r>
              <a:rPr lang="en-US" sz="2000" dirty="0"/>
              <a:t>After that V.I.F –s remained at most ~5 and below.</a:t>
            </a:r>
            <a:endParaRPr lang="ru-RU" sz="2000" dirty="0"/>
          </a:p>
        </p:txBody>
      </p:sp>
    </p:spTree>
    <p:extLst>
      <p:ext uri="{BB962C8B-B14F-4D97-AF65-F5344CB8AC3E}">
        <p14:creationId xmlns:p14="http://schemas.microsoft.com/office/powerpoint/2010/main" val="1008686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9C28A-EFE7-10EF-FCED-095F22959F1A}"/>
              </a:ext>
            </a:extLst>
          </p:cNvPr>
          <p:cNvSpPr>
            <a:spLocks noGrp="1"/>
          </p:cNvSpPr>
          <p:nvPr>
            <p:ph type="title"/>
          </p:nvPr>
        </p:nvSpPr>
        <p:spPr>
          <a:xfrm>
            <a:off x="1264766" y="233449"/>
            <a:ext cx="9291215" cy="1049235"/>
          </a:xfrm>
        </p:spPr>
        <p:txBody>
          <a:bodyPr/>
          <a:lstStyle/>
          <a:p>
            <a:r>
              <a:rPr lang="en-US" dirty="0"/>
              <a:t>Baseline model : OLS</a:t>
            </a:r>
          </a:p>
        </p:txBody>
      </p:sp>
      <p:pic>
        <p:nvPicPr>
          <p:cNvPr id="5" name="Content Placeholder 4">
            <a:extLst>
              <a:ext uri="{FF2B5EF4-FFF2-40B4-BE49-F238E27FC236}">
                <a16:creationId xmlns:a16="http://schemas.microsoft.com/office/drawing/2014/main" id="{0B52F568-88BC-18DA-1B64-6294D563F6D8}"/>
              </a:ext>
            </a:extLst>
          </p:cNvPr>
          <p:cNvPicPr>
            <a:picLocks noGrp="1" noChangeAspect="1"/>
          </p:cNvPicPr>
          <p:nvPr>
            <p:ph idx="1"/>
          </p:nvPr>
        </p:nvPicPr>
        <p:blipFill>
          <a:blip r:embed="rId2"/>
          <a:stretch>
            <a:fillRect/>
          </a:stretch>
        </p:blipFill>
        <p:spPr>
          <a:xfrm>
            <a:off x="568756" y="1428592"/>
            <a:ext cx="7509365" cy="524192"/>
          </a:xfrm>
        </p:spPr>
      </p:pic>
      <p:graphicFrame>
        <p:nvGraphicFramePr>
          <p:cNvPr id="7" name="Table 6">
            <a:extLst>
              <a:ext uri="{FF2B5EF4-FFF2-40B4-BE49-F238E27FC236}">
                <a16:creationId xmlns:a16="http://schemas.microsoft.com/office/drawing/2014/main" id="{2161AF3B-621D-342C-B4BF-ABED4598C66C}"/>
              </a:ext>
            </a:extLst>
          </p:cNvPr>
          <p:cNvGraphicFramePr>
            <a:graphicFrameLocks noGrp="1"/>
          </p:cNvGraphicFramePr>
          <p:nvPr>
            <p:extLst>
              <p:ext uri="{D42A27DB-BD31-4B8C-83A1-F6EECF244321}">
                <p14:modId xmlns:p14="http://schemas.microsoft.com/office/powerpoint/2010/main" val="2892161795"/>
              </p:ext>
            </p:extLst>
          </p:nvPr>
        </p:nvGraphicFramePr>
        <p:xfrm>
          <a:off x="838200" y="2108200"/>
          <a:ext cx="5397499" cy="3928807"/>
        </p:xfrm>
        <a:graphic>
          <a:graphicData uri="http://schemas.openxmlformats.org/drawingml/2006/table">
            <a:tbl>
              <a:tblPr>
                <a:effectLst>
                  <a:outerShdw blurRad="50800" dist="38100" dir="2700000" algn="tl" rotWithShape="0">
                    <a:prstClr val="black">
                      <a:alpha val="40000"/>
                    </a:prstClr>
                  </a:outerShdw>
                </a:effectLst>
                <a:tableStyleId>{5C22544A-7EE6-4342-B048-85BDC9FD1C3A}</a:tableStyleId>
              </a:tblPr>
              <a:tblGrid>
                <a:gridCol w="808100">
                  <a:extLst>
                    <a:ext uri="{9D8B030D-6E8A-4147-A177-3AD203B41FA5}">
                      <a16:colId xmlns:a16="http://schemas.microsoft.com/office/drawing/2014/main" val="879403301"/>
                    </a:ext>
                  </a:extLst>
                </a:gridCol>
                <a:gridCol w="991066">
                  <a:extLst>
                    <a:ext uri="{9D8B030D-6E8A-4147-A177-3AD203B41FA5}">
                      <a16:colId xmlns:a16="http://schemas.microsoft.com/office/drawing/2014/main" val="2819924071"/>
                    </a:ext>
                  </a:extLst>
                </a:gridCol>
                <a:gridCol w="884336">
                  <a:extLst>
                    <a:ext uri="{9D8B030D-6E8A-4147-A177-3AD203B41FA5}">
                      <a16:colId xmlns:a16="http://schemas.microsoft.com/office/drawing/2014/main" val="1273076296"/>
                    </a:ext>
                  </a:extLst>
                </a:gridCol>
                <a:gridCol w="884336">
                  <a:extLst>
                    <a:ext uri="{9D8B030D-6E8A-4147-A177-3AD203B41FA5}">
                      <a16:colId xmlns:a16="http://schemas.microsoft.com/office/drawing/2014/main" val="3064174808"/>
                    </a:ext>
                  </a:extLst>
                </a:gridCol>
                <a:gridCol w="762359">
                  <a:extLst>
                    <a:ext uri="{9D8B030D-6E8A-4147-A177-3AD203B41FA5}">
                      <a16:colId xmlns:a16="http://schemas.microsoft.com/office/drawing/2014/main" val="2326746075"/>
                    </a:ext>
                  </a:extLst>
                </a:gridCol>
                <a:gridCol w="1067302">
                  <a:extLst>
                    <a:ext uri="{9D8B030D-6E8A-4147-A177-3AD203B41FA5}">
                      <a16:colId xmlns:a16="http://schemas.microsoft.com/office/drawing/2014/main" val="1596169273"/>
                    </a:ext>
                  </a:extLst>
                </a:gridCol>
              </a:tblGrid>
              <a:tr h="392881">
                <a:tc>
                  <a:txBody>
                    <a:bodyPr/>
                    <a:lstStyle/>
                    <a:p>
                      <a:pPr algn="ctr" fontAlgn="ctr">
                        <a:buNone/>
                      </a:pPr>
                      <a:r>
                        <a:rPr lang="en-US" sz="1100" u="none" strike="noStrike">
                          <a:effectLst/>
                        </a:rPr>
                        <a:t>Variable</a:t>
                      </a:r>
                      <a:endParaRPr lang="en-US" sz="1100" b="1" i="0" u="none" strike="noStrike">
                        <a:solidFill>
                          <a:srgbClr val="FFFFFF"/>
                        </a:solidFill>
                        <a:effectLst/>
                        <a:latin typeface="Calibri" panose="020F0502020204030204" pitchFamily="34" charset="0"/>
                      </a:endParaRPr>
                    </a:p>
                  </a:txBody>
                  <a:tcPr marL="7620" marR="7620" marT="7620" marB="0" anchor="ctr"/>
                </a:tc>
                <a:tc>
                  <a:txBody>
                    <a:bodyPr/>
                    <a:lstStyle/>
                    <a:p>
                      <a:pPr algn="ctr" fontAlgn="ctr">
                        <a:buNone/>
                      </a:pPr>
                      <a:r>
                        <a:rPr lang="en-US" sz="1100" u="none" strike="noStrike">
                          <a:effectLst/>
                        </a:rPr>
                        <a:t>Coefficient</a:t>
                      </a:r>
                      <a:endParaRPr lang="en-US" sz="1100" b="1" i="0" u="none" strike="noStrike">
                        <a:solidFill>
                          <a:srgbClr val="FFFFFF"/>
                        </a:solidFill>
                        <a:effectLst/>
                        <a:latin typeface="Calibri" panose="020F0502020204030204" pitchFamily="34" charset="0"/>
                      </a:endParaRPr>
                    </a:p>
                  </a:txBody>
                  <a:tcPr marL="7620" marR="7620" marT="7620" marB="0" anchor="ctr"/>
                </a:tc>
                <a:tc>
                  <a:txBody>
                    <a:bodyPr/>
                    <a:lstStyle/>
                    <a:p>
                      <a:pPr algn="ctr" fontAlgn="ctr">
                        <a:buNone/>
                      </a:pPr>
                      <a:r>
                        <a:rPr lang="en-US" sz="1100" u="none" strike="noStrike">
                          <a:effectLst/>
                        </a:rPr>
                        <a:t>Std. Error</a:t>
                      </a:r>
                      <a:endParaRPr lang="en-US" sz="1100" b="1" i="0" u="none" strike="noStrike">
                        <a:solidFill>
                          <a:srgbClr val="FFFFFF"/>
                        </a:solidFill>
                        <a:effectLst/>
                        <a:latin typeface="Calibri" panose="020F0502020204030204" pitchFamily="34" charset="0"/>
                      </a:endParaRPr>
                    </a:p>
                  </a:txBody>
                  <a:tcPr marL="7620" marR="7620" marT="7620" marB="0" anchor="ctr"/>
                </a:tc>
                <a:tc>
                  <a:txBody>
                    <a:bodyPr/>
                    <a:lstStyle/>
                    <a:p>
                      <a:pPr algn="ctr" fontAlgn="ctr">
                        <a:buNone/>
                      </a:pPr>
                      <a:r>
                        <a:rPr lang="en-US" sz="1100" u="none" strike="noStrike">
                          <a:effectLst/>
                        </a:rPr>
                        <a:t>t-Statistic</a:t>
                      </a:r>
                      <a:endParaRPr lang="en-US" sz="1100" b="1" i="0" u="none" strike="noStrike">
                        <a:solidFill>
                          <a:srgbClr val="FFFFFF"/>
                        </a:solidFill>
                        <a:effectLst/>
                        <a:latin typeface="Calibri" panose="020F0502020204030204" pitchFamily="34" charset="0"/>
                      </a:endParaRPr>
                    </a:p>
                  </a:txBody>
                  <a:tcPr marL="7620" marR="7620" marT="7620" marB="0" anchor="ctr"/>
                </a:tc>
                <a:tc>
                  <a:txBody>
                    <a:bodyPr/>
                    <a:lstStyle/>
                    <a:p>
                      <a:pPr algn="ctr" fontAlgn="ctr">
                        <a:buNone/>
                      </a:pPr>
                      <a:r>
                        <a:rPr lang="en-US" sz="1100" u="none" strike="noStrike">
                          <a:effectLst/>
                        </a:rPr>
                        <a:t>p-value</a:t>
                      </a:r>
                      <a:endParaRPr lang="en-US" sz="1100" b="1" i="0" u="none" strike="noStrike">
                        <a:solidFill>
                          <a:srgbClr val="FFFFFF"/>
                        </a:solidFill>
                        <a:effectLst/>
                        <a:latin typeface="Calibri" panose="020F0502020204030204" pitchFamily="34" charset="0"/>
                      </a:endParaRPr>
                    </a:p>
                  </a:txBody>
                  <a:tcPr marL="7620" marR="7620" marT="7620" marB="0" anchor="ctr"/>
                </a:tc>
                <a:tc>
                  <a:txBody>
                    <a:bodyPr/>
                    <a:lstStyle/>
                    <a:p>
                      <a:pPr algn="ctr" fontAlgn="ctr">
                        <a:buNone/>
                      </a:pPr>
                      <a:r>
                        <a:rPr lang="en-US" sz="1100" u="none" strike="noStrike">
                          <a:effectLst/>
                        </a:rPr>
                        <a:t>Significance</a:t>
                      </a:r>
                      <a:endParaRPr lang="en-US" sz="1100" b="1" i="0" u="none" strike="noStrike">
                        <a:solidFill>
                          <a:srgbClr val="FFFFFF"/>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07588680"/>
                  </a:ext>
                </a:extLst>
              </a:tr>
              <a:tr h="196440">
                <a:tc>
                  <a:txBody>
                    <a:bodyPr/>
                    <a:lstStyle/>
                    <a:p>
                      <a:pPr algn="l" fontAlgn="ctr">
                        <a:buNone/>
                      </a:pPr>
                      <a:r>
                        <a:rPr lang="en-US" sz="1100" u="none" strike="noStrike">
                          <a:effectLst/>
                        </a:rPr>
                        <a:t>Intercept</a:t>
                      </a:r>
                      <a:endParaRPr lang="en-US" sz="1100" b="1" i="0" u="none" strike="noStrike">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b="0" i="0" u="none" strike="noStrike" dirty="0">
                          <a:solidFill>
                            <a:srgbClr val="000000"/>
                          </a:solidFill>
                          <a:effectLst/>
                          <a:latin typeface="Calibri" panose="020F0502020204030204" pitchFamily="34" charset="0"/>
                        </a:rPr>
                        <a:t>50.42</a:t>
                      </a:r>
                    </a:p>
                  </a:txBody>
                  <a:tcPr marL="7620" marR="7620" marT="7620" marB="0" anchor="ctr"/>
                </a:tc>
                <a:tc>
                  <a:txBody>
                    <a:bodyPr/>
                    <a:lstStyle/>
                    <a:p>
                      <a:pPr algn="r" fontAlgn="ctr">
                        <a:buNone/>
                      </a:pPr>
                      <a:r>
                        <a:rPr lang="en-US" sz="1100" u="none" strike="noStrike" dirty="0">
                          <a:effectLst/>
                        </a:rPr>
                        <a:t>0.54</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b="0" i="0" u="none" strike="noStrike" dirty="0">
                          <a:solidFill>
                            <a:srgbClr val="000000"/>
                          </a:solidFill>
                          <a:effectLst/>
                          <a:latin typeface="Calibri" panose="020F0502020204030204" pitchFamily="34" charset="0"/>
                        </a:rPr>
                        <a:t>92.52</a:t>
                      </a:r>
                    </a:p>
                  </a:txBody>
                  <a:tcPr marL="7620" marR="7620" marT="7620" marB="0" anchor="ctr"/>
                </a:tc>
                <a:tc>
                  <a:txBody>
                    <a:bodyPr/>
                    <a:lstStyle/>
                    <a:p>
                      <a:pPr algn="l" fontAlgn="ctr">
                        <a:buNone/>
                      </a:pPr>
                      <a:r>
                        <a:rPr lang="en-US" sz="1100" u="none" strike="noStrike">
                          <a:effectLst/>
                        </a:rPr>
                        <a:t>&lt; 2e–16</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a:effectLst/>
                        </a:rPr>
                        <a:t>***</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530295933"/>
                  </a:ext>
                </a:extLst>
              </a:tr>
              <a:tr h="589321">
                <a:tc>
                  <a:txBody>
                    <a:bodyPr/>
                    <a:lstStyle/>
                    <a:p>
                      <a:pPr algn="l" fontAlgn="ctr">
                        <a:buNone/>
                      </a:pPr>
                      <a:r>
                        <a:rPr lang="en-US" sz="1100" u="none" strike="noStrike">
                          <a:effectLst/>
                        </a:rPr>
                        <a:t>log(GDP per capita)</a:t>
                      </a:r>
                      <a:endParaRPr lang="en-US" sz="1100" b="1" i="0" u="none" strike="noStrike">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2.325</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0.05</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b="0" i="0" u="none" strike="noStrike" dirty="0">
                          <a:solidFill>
                            <a:srgbClr val="000000"/>
                          </a:solidFill>
                          <a:effectLst/>
                          <a:latin typeface="Calibri" panose="020F0502020204030204" pitchFamily="34" charset="0"/>
                        </a:rPr>
                        <a:t>43.18</a:t>
                      </a:r>
                    </a:p>
                  </a:txBody>
                  <a:tcPr marL="7620" marR="7620" marT="7620" marB="0" anchor="ctr"/>
                </a:tc>
                <a:tc>
                  <a:txBody>
                    <a:bodyPr/>
                    <a:lstStyle/>
                    <a:p>
                      <a:pPr algn="l" fontAlgn="ctr">
                        <a:buNone/>
                      </a:pPr>
                      <a:r>
                        <a:rPr lang="en-US" sz="1100" u="none" strike="noStrike">
                          <a:effectLst/>
                        </a:rPr>
                        <a:t>&lt; 2e–16</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950982697"/>
                  </a:ext>
                </a:extLst>
              </a:tr>
              <a:tr h="392881">
                <a:tc>
                  <a:txBody>
                    <a:bodyPr/>
                    <a:lstStyle/>
                    <a:p>
                      <a:pPr algn="l" fontAlgn="ctr">
                        <a:buNone/>
                      </a:pPr>
                      <a:r>
                        <a:rPr lang="en-US" sz="1100" u="none" strike="noStrike">
                          <a:effectLst/>
                        </a:rPr>
                        <a:t>Immunization (DPT)</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0.074</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0.0054</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b="0" i="0" u="none" strike="noStrike" dirty="0">
                          <a:solidFill>
                            <a:srgbClr val="000000"/>
                          </a:solidFill>
                          <a:effectLst/>
                          <a:latin typeface="Calibri" panose="020F0502020204030204" pitchFamily="34" charset="0"/>
                        </a:rPr>
                        <a:t>13.54</a:t>
                      </a:r>
                    </a:p>
                  </a:txBody>
                  <a:tcPr marL="7620" marR="7620" marT="7620" marB="0" anchor="ctr"/>
                </a:tc>
                <a:tc>
                  <a:txBody>
                    <a:bodyPr/>
                    <a:lstStyle/>
                    <a:p>
                      <a:pPr algn="l" fontAlgn="ctr">
                        <a:buNone/>
                      </a:pPr>
                      <a:r>
                        <a:rPr lang="en-US" sz="1100" u="none" strike="noStrike">
                          <a:effectLst/>
                        </a:rPr>
                        <a:t>&lt; 2e–16</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597519213"/>
                  </a:ext>
                </a:extLst>
              </a:tr>
              <a:tr h="589321">
                <a:tc>
                  <a:txBody>
                    <a:bodyPr/>
                    <a:lstStyle/>
                    <a:p>
                      <a:pPr algn="l" fontAlgn="ctr">
                        <a:buNone/>
                      </a:pPr>
                      <a:r>
                        <a:rPr lang="en-US" sz="1100" u="none" strike="noStrike">
                          <a:effectLst/>
                        </a:rPr>
                        <a:t>Immunization (Measles)</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         –0.0148</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0.0052</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           –2.87 </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0.004</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80593656"/>
                  </a:ext>
                </a:extLst>
              </a:tr>
              <a:tr h="589321">
                <a:tc>
                  <a:txBody>
                    <a:bodyPr/>
                    <a:lstStyle/>
                    <a:p>
                      <a:pPr algn="l" fontAlgn="ctr">
                        <a:buNone/>
                      </a:pPr>
                      <a:r>
                        <a:rPr lang="en-US" sz="1100" u="none" strike="noStrike">
                          <a:effectLst/>
                        </a:rPr>
                        <a:t>Urban Population (%)</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0.0314</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0.003</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10.30</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&lt; 2e–16</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a:effectLst/>
                        </a:rPr>
                        <a:t>***</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43308562"/>
                  </a:ext>
                </a:extLst>
              </a:tr>
              <a:tr h="392881">
                <a:tc>
                  <a:txBody>
                    <a:bodyPr/>
                    <a:lstStyle/>
                    <a:p>
                      <a:pPr algn="l" fontAlgn="ctr">
                        <a:buNone/>
                      </a:pPr>
                      <a:r>
                        <a:rPr lang="en-US" sz="1100" u="none" strike="noStrike">
                          <a:effectLst/>
                        </a:rPr>
                        <a:t>Fertility Rate</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            –2.329</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0.04</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         –51.57</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a:effectLst/>
                        </a:rPr>
                        <a:t>&lt; 2e–16</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796877706"/>
                  </a:ext>
                </a:extLst>
              </a:tr>
              <a:tr h="785761">
                <a:tc>
                  <a:txBody>
                    <a:bodyPr/>
                    <a:lstStyle/>
                    <a:p>
                      <a:pPr algn="l" fontAlgn="ctr">
                        <a:buNone/>
                      </a:pPr>
                      <a:r>
                        <a:rPr lang="en-US" sz="1100" u="none" strike="noStrike" dirty="0" err="1">
                          <a:effectLst/>
                        </a:rPr>
                        <a:t>Signif</a:t>
                      </a:r>
                      <a:r>
                        <a:rPr lang="en-US" sz="1100" u="none" strike="noStrike" dirty="0">
                          <a:effectLst/>
                        </a:rPr>
                        <a:t>. Codes:</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dirty="0"/>
                        <a:t>*** p&lt;0.001</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dirty="0"/>
                        <a:t>** p&lt;0.01</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dirty="0"/>
                        <a:t>* p&lt;0.05</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dirty="0"/>
                        <a:t>. p&lt;0.1</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30907266"/>
                  </a:ext>
                </a:extLst>
              </a:tr>
            </a:tbl>
          </a:graphicData>
        </a:graphic>
      </p:graphicFrame>
      <p:sp>
        <p:nvSpPr>
          <p:cNvPr id="9" name="TextBox 8">
            <a:extLst>
              <a:ext uri="{FF2B5EF4-FFF2-40B4-BE49-F238E27FC236}">
                <a16:creationId xmlns:a16="http://schemas.microsoft.com/office/drawing/2014/main" id="{5E34E5AE-CEAE-9AA9-CCE4-B6A6CAC619A3}"/>
              </a:ext>
            </a:extLst>
          </p:cNvPr>
          <p:cNvSpPr txBox="1"/>
          <p:nvPr/>
        </p:nvSpPr>
        <p:spPr>
          <a:xfrm>
            <a:off x="838200" y="6180296"/>
            <a:ext cx="6096000" cy="369332"/>
          </a:xfrm>
          <a:prstGeom prst="rect">
            <a:avLst/>
          </a:prstGeom>
          <a:noFill/>
        </p:spPr>
        <p:txBody>
          <a:bodyPr wrap="square">
            <a:spAutoFit/>
          </a:bodyPr>
          <a:lstStyle/>
          <a:p>
            <a:r>
              <a:rPr lang="en-US" dirty="0"/>
              <a:t>Significance: *** p&lt;0.001, ** p&lt;0.01, * p&lt;0.05, . p&lt;0.1</a:t>
            </a:r>
          </a:p>
        </p:txBody>
      </p:sp>
      <p:sp>
        <p:nvSpPr>
          <p:cNvPr id="13" name="TextBox 12">
            <a:extLst>
              <a:ext uri="{FF2B5EF4-FFF2-40B4-BE49-F238E27FC236}">
                <a16:creationId xmlns:a16="http://schemas.microsoft.com/office/drawing/2014/main" id="{F9C4CFFE-B43F-52D6-E944-597FD7D1D7CD}"/>
              </a:ext>
            </a:extLst>
          </p:cNvPr>
          <p:cNvSpPr txBox="1"/>
          <p:nvPr/>
        </p:nvSpPr>
        <p:spPr>
          <a:xfrm>
            <a:off x="6543477" y="3857156"/>
            <a:ext cx="5214621" cy="2031325"/>
          </a:xfrm>
          <a:prstGeom prst="rect">
            <a:avLst/>
          </a:prstGeom>
          <a:noFill/>
        </p:spPr>
        <p:txBody>
          <a:bodyPr wrap="square">
            <a:spAutoFit/>
          </a:bodyPr>
          <a:lstStyle/>
          <a:p>
            <a:r>
              <a:rPr lang="en-US" dirty="0"/>
              <a:t>The OLS regression results above shows that there is positive relationship between high GDP per capita and Life expectancy. However, it does not account for potential bias coming from time fixed, entity fixed or other omitted variables, and its standard error is also likely to be incorrect as it does not account for heteroskedasticity.</a:t>
            </a:r>
          </a:p>
        </p:txBody>
      </p:sp>
      <p:sp>
        <p:nvSpPr>
          <p:cNvPr id="14" name="Rectangle 1">
            <a:extLst>
              <a:ext uri="{FF2B5EF4-FFF2-40B4-BE49-F238E27FC236}">
                <a16:creationId xmlns:a16="http://schemas.microsoft.com/office/drawing/2014/main" id="{E37323E7-92D0-24DF-EBC9-D6BAB90D2C9F}"/>
              </a:ext>
            </a:extLst>
          </p:cNvPr>
          <p:cNvSpPr>
            <a:spLocks noChangeArrowheads="1"/>
          </p:cNvSpPr>
          <p:nvPr/>
        </p:nvSpPr>
        <p:spPr bwMode="auto">
          <a:xfrm>
            <a:off x="6235699" y="2059932"/>
            <a:ext cx="583017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R²</a:t>
            </a:r>
            <a:r>
              <a:rPr kumimoji="0" lang="en-US" altLang="en-US" sz="1800" b="0" i="0" u="none" strike="noStrike" cap="none" normalizeH="0" baseline="0" dirty="0">
                <a:ln>
                  <a:noFill/>
                </a:ln>
                <a:solidFill>
                  <a:schemeClr val="tx1"/>
                </a:solidFill>
                <a:effectLst/>
                <a:latin typeface="Arial" panose="020B0604020202020204" pitchFamily="34" charset="0"/>
              </a:rPr>
              <a:t>: 0.8175 → 82% of the variation in life expectancy is explained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F-statistic</a:t>
            </a:r>
            <a:r>
              <a:rPr kumimoji="0" lang="en-US" altLang="en-US" sz="1800" b="0" i="0" u="none" strike="noStrike" cap="none" normalizeH="0" baseline="0" dirty="0">
                <a:ln>
                  <a:noFill/>
                </a:ln>
                <a:solidFill>
                  <a:schemeClr val="tx1"/>
                </a:solidFill>
                <a:effectLst/>
                <a:latin typeface="Arial" panose="020B0604020202020204" pitchFamily="34" charset="0"/>
              </a:rPr>
              <a:t>: 5642 (p &lt; 2.2e–16)</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 = 7,565 observations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85018204"/>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1A952-D02D-EC4F-E2F2-34106557FF3B}"/>
              </a:ext>
            </a:extLst>
          </p:cNvPr>
          <p:cNvSpPr>
            <a:spLocks noGrp="1"/>
          </p:cNvSpPr>
          <p:nvPr>
            <p:ph type="title"/>
          </p:nvPr>
        </p:nvSpPr>
        <p:spPr>
          <a:xfrm>
            <a:off x="1363089" y="392064"/>
            <a:ext cx="9291215" cy="1049235"/>
          </a:xfrm>
        </p:spPr>
        <p:txBody>
          <a:bodyPr/>
          <a:lstStyle/>
          <a:p>
            <a:r>
              <a:rPr lang="en-US" dirty="0"/>
              <a:t>Upgraded model: Fixed Effects Regression</a:t>
            </a:r>
          </a:p>
        </p:txBody>
      </p:sp>
      <p:pic>
        <p:nvPicPr>
          <p:cNvPr id="5" name="Content Placeholder 4">
            <a:extLst>
              <a:ext uri="{FF2B5EF4-FFF2-40B4-BE49-F238E27FC236}">
                <a16:creationId xmlns:a16="http://schemas.microsoft.com/office/drawing/2014/main" id="{FFD3CA27-820D-8301-8B6C-29D28BEEEB59}"/>
              </a:ext>
            </a:extLst>
          </p:cNvPr>
          <p:cNvPicPr>
            <a:picLocks noGrp="1" noChangeAspect="1"/>
          </p:cNvPicPr>
          <p:nvPr>
            <p:ph idx="1"/>
          </p:nvPr>
        </p:nvPicPr>
        <p:blipFill>
          <a:blip r:embed="rId2"/>
          <a:stretch>
            <a:fillRect/>
          </a:stretch>
        </p:blipFill>
        <p:spPr>
          <a:xfrm>
            <a:off x="838200" y="1493989"/>
            <a:ext cx="10673080" cy="393398"/>
          </a:xfrm>
        </p:spPr>
      </p:pic>
      <p:pic>
        <p:nvPicPr>
          <p:cNvPr id="7" name="Picture 6">
            <a:extLst>
              <a:ext uri="{FF2B5EF4-FFF2-40B4-BE49-F238E27FC236}">
                <a16:creationId xmlns:a16="http://schemas.microsoft.com/office/drawing/2014/main" id="{56F009FF-8796-B3E9-5A92-3E7C869397D8}"/>
              </a:ext>
            </a:extLst>
          </p:cNvPr>
          <p:cNvPicPr>
            <a:picLocks noChangeAspect="1"/>
          </p:cNvPicPr>
          <p:nvPr/>
        </p:nvPicPr>
        <p:blipFill>
          <a:blip r:embed="rId3"/>
          <a:stretch>
            <a:fillRect/>
          </a:stretch>
        </p:blipFill>
        <p:spPr>
          <a:xfrm>
            <a:off x="932172" y="2020274"/>
            <a:ext cx="246388" cy="223988"/>
          </a:xfrm>
          <a:prstGeom prst="rect">
            <a:avLst/>
          </a:prstGeom>
        </p:spPr>
      </p:pic>
      <p:sp>
        <p:nvSpPr>
          <p:cNvPr id="8" name="TextBox 7">
            <a:extLst>
              <a:ext uri="{FF2B5EF4-FFF2-40B4-BE49-F238E27FC236}">
                <a16:creationId xmlns:a16="http://schemas.microsoft.com/office/drawing/2014/main" id="{FCD97066-D885-E7C9-3EFA-125E2D21FA1F}"/>
              </a:ext>
            </a:extLst>
          </p:cNvPr>
          <p:cNvSpPr txBox="1"/>
          <p:nvPr/>
        </p:nvSpPr>
        <p:spPr>
          <a:xfrm>
            <a:off x="1178560" y="1947602"/>
            <a:ext cx="3779520" cy="369332"/>
          </a:xfrm>
          <a:prstGeom prst="rect">
            <a:avLst/>
          </a:prstGeom>
          <a:noFill/>
        </p:spPr>
        <p:txBody>
          <a:bodyPr wrap="square" rtlCol="0">
            <a:spAutoFit/>
          </a:bodyPr>
          <a:lstStyle/>
          <a:p>
            <a:r>
              <a:rPr lang="en-US" dirty="0"/>
              <a:t>- Country fixed </a:t>
            </a:r>
          </a:p>
        </p:txBody>
      </p:sp>
      <p:pic>
        <p:nvPicPr>
          <p:cNvPr id="10" name="Picture 9">
            <a:extLst>
              <a:ext uri="{FF2B5EF4-FFF2-40B4-BE49-F238E27FC236}">
                <a16:creationId xmlns:a16="http://schemas.microsoft.com/office/drawing/2014/main" id="{957652C2-D84E-F4C4-BDBE-F4337FCB994F}"/>
              </a:ext>
            </a:extLst>
          </p:cNvPr>
          <p:cNvPicPr>
            <a:picLocks noChangeAspect="1"/>
          </p:cNvPicPr>
          <p:nvPr/>
        </p:nvPicPr>
        <p:blipFill>
          <a:blip r:embed="rId4"/>
          <a:stretch>
            <a:fillRect/>
          </a:stretch>
        </p:blipFill>
        <p:spPr>
          <a:xfrm>
            <a:off x="932172" y="2244261"/>
            <a:ext cx="246388" cy="358381"/>
          </a:xfrm>
          <a:prstGeom prst="rect">
            <a:avLst/>
          </a:prstGeom>
        </p:spPr>
      </p:pic>
      <p:sp>
        <p:nvSpPr>
          <p:cNvPr id="12" name="TextBox 11">
            <a:extLst>
              <a:ext uri="{FF2B5EF4-FFF2-40B4-BE49-F238E27FC236}">
                <a16:creationId xmlns:a16="http://schemas.microsoft.com/office/drawing/2014/main" id="{11FF457D-EDBC-17CB-67B0-D701EC223035}"/>
              </a:ext>
            </a:extLst>
          </p:cNvPr>
          <p:cNvSpPr txBox="1"/>
          <p:nvPr/>
        </p:nvSpPr>
        <p:spPr>
          <a:xfrm>
            <a:off x="1178560" y="2210157"/>
            <a:ext cx="6096000" cy="369332"/>
          </a:xfrm>
          <a:prstGeom prst="rect">
            <a:avLst/>
          </a:prstGeom>
          <a:noFill/>
        </p:spPr>
        <p:txBody>
          <a:bodyPr wrap="square">
            <a:spAutoFit/>
          </a:bodyPr>
          <a:lstStyle/>
          <a:p>
            <a:r>
              <a:rPr lang="en-US" dirty="0"/>
              <a:t>- Time fixed </a:t>
            </a:r>
          </a:p>
        </p:txBody>
      </p:sp>
      <p:graphicFrame>
        <p:nvGraphicFramePr>
          <p:cNvPr id="13" name="Table 12">
            <a:extLst>
              <a:ext uri="{FF2B5EF4-FFF2-40B4-BE49-F238E27FC236}">
                <a16:creationId xmlns:a16="http://schemas.microsoft.com/office/drawing/2014/main" id="{F2D89C1A-C264-8FD4-0E7C-F0104D675EFE}"/>
              </a:ext>
            </a:extLst>
          </p:cNvPr>
          <p:cNvGraphicFramePr>
            <a:graphicFrameLocks noGrp="1"/>
          </p:cNvGraphicFramePr>
          <p:nvPr>
            <p:extLst>
              <p:ext uri="{D42A27DB-BD31-4B8C-83A1-F6EECF244321}">
                <p14:modId xmlns:p14="http://schemas.microsoft.com/office/powerpoint/2010/main" val="3485529842"/>
              </p:ext>
            </p:extLst>
          </p:nvPr>
        </p:nvGraphicFramePr>
        <p:xfrm>
          <a:off x="838200" y="2827959"/>
          <a:ext cx="5257799" cy="3664918"/>
        </p:xfrm>
        <a:graphic>
          <a:graphicData uri="http://schemas.openxmlformats.org/drawingml/2006/table">
            <a:tbl>
              <a:tblPr>
                <a:effectLst>
                  <a:outerShdw blurRad="50800" dist="38100" dir="2700000" algn="tl" rotWithShape="0">
                    <a:prstClr val="black">
                      <a:alpha val="40000"/>
                    </a:prstClr>
                  </a:outerShdw>
                </a:effectLst>
                <a:tableStyleId>{5C22544A-7EE6-4342-B048-85BDC9FD1C3A}</a:tableStyleId>
              </a:tblPr>
              <a:tblGrid>
                <a:gridCol w="787185">
                  <a:extLst>
                    <a:ext uri="{9D8B030D-6E8A-4147-A177-3AD203B41FA5}">
                      <a16:colId xmlns:a16="http://schemas.microsoft.com/office/drawing/2014/main" val="2292251141"/>
                    </a:ext>
                  </a:extLst>
                </a:gridCol>
                <a:gridCol w="965415">
                  <a:extLst>
                    <a:ext uri="{9D8B030D-6E8A-4147-A177-3AD203B41FA5}">
                      <a16:colId xmlns:a16="http://schemas.microsoft.com/office/drawing/2014/main" val="3962466462"/>
                    </a:ext>
                  </a:extLst>
                </a:gridCol>
                <a:gridCol w="861447">
                  <a:extLst>
                    <a:ext uri="{9D8B030D-6E8A-4147-A177-3AD203B41FA5}">
                      <a16:colId xmlns:a16="http://schemas.microsoft.com/office/drawing/2014/main" val="183527502"/>
                    </a:ext>
                  </a:extLst>
                </a:gridCol>
                <a:gridCol w="861447">
                  <a:extLst>
                    <a:ext uri="{9D8B030D-6E8A-4147-A177-3AD203B41FA5}">
                      <a16:colId xmlns:a16="http://schemas.microsoft.com/office/drawing/2014/main" val="272680211"/>
                    </a:ext>
                  </a:extLst>
                </a:gridCol>
                <a:gridCol w="742627">
                  <a:extLst>
                    <a:ext uri="{9D8B030D-6E8A-4147-A177-3AD203B41FA5}">
                      <a16:colId xmlns:a16="http://schemas.microsoft.com/office/drawing/2014/main" val="1720246439"/>
                    </a:ext>
                  </a:extLst>
                </a:gridCol>
                <a:gridCol w="1039678">
                  <a:extLst>
                    <a:ext uri="{9D8B030D-6E8A-4147-A177-3AD203B41FA5}">
                      <a16:colId xmlns:a16="http://schemas.microsoft.com/office/drawing/2014/main" val="838675998"/>
                    </a:ext>
                  </a:extLst>
                </a:gridCol>
              </a:tblGrid>
              <a:tr h="195576">
                <a:tc>
                  <a:txBody>
                    <a:bodyPr/>
                    <a:lstStyle/>
                    <a:p>
                      <a:pPr algn="ctr" fontAlgn="ctr">
                        <a:buNone/>
                      </a:pPr>
                      <a:r>
                        <a:rPr lang="en-US" sz="1100" u="none" strike="noStrike">
                          <a:effectLst/>
                        </a:rPr>
                        <a:t>Variable</a:t>
                      </a:r>
                      <a:endParaRPr lang="en-US" sz="1100" b="1" i="0" u="none" strike="noStrike">
                        <a:solidFill>
                          <a:srgbClr val="FFFFFF"/>
                        </a:solidFill>
                        <a:effectLst/>
                        <a:latin typeface="Calibri" panose="020F0502020204030204" pitchFamily="34" charset="0"/>
                      </a:endParaRPr>
                    </a:p>
                  </a:txBody>
                  <a:tcPr marL="7620" marR="7620" marT="7620" marB="0" anchor="ctr"/>
                </a:tc>
                <a:tc>
                  <a:txBody>
                    <a:bodyPr/>
                    <a:lstStyle/>
                    <a:p>
                      <a:pPr algn="ctr" fontAlgn="ctr">
                        <a:buNone/>
                      </a:pPr>
                      <a:r>
                        <a:rPr lang="en-US" sz="1100" u="none" strike="noStrike">
                          <a:effectLst/>
                        </a:rPr>
                        <a:t>Coefficient</a:t>
                      </a:r>
                      <a:endParaRPr lang="en-US" sz="1100" b="1" i="0" u="none" strike="noStrike">
                        <a:solidFill>
                          <a:srgbClr val="FFFFFF"/>
                        </a:solidFill>
                        <a:effectLst/>
                        <a:latin typeface="Calibri" panose="020F0502020204030204" pitchFamily="34" charset="0"/>
                      </a:endParaRPr>
                    </a:p>
                  </a:txBody>
                  <a:tcPr marL="7620" marR="7620" marT="7620" marB="0" anchor="ctr"/>
                </a:tc>
                <a:tc>
                  <a:txBody>
                    <a:bodyPr/>
                    <a:lstStyle/>
                    <a:p>
                      <a:pPr algn="ctr" fontAlgn="ctr">
                        <a:buNone/>
                      </a:pPr>
                      <a:r>
                        <a:rPr lang="en-US" sz="1100" u="none" strike="noStrike">
                          <a:effectLst/>
                        </a:rPr>
                        <a:t>Std. Error</a:t>
                      </a:r>
                      <a:endParaRPr lang="en-US" sz="1100" b="1" i="0" u="none" strike="noStrike">
                        <a:solidFill>
                          <a:srgbClr val="FFFFFF"/>
                        </a:solidFill>
                        <a:effectLst/>
                        <a:latin typeface="Calibri" panose="020F0502020204030204" pitchFamily="34" charset="0"/>
                      </a:endParaRPr>
                    </a:p>
                  </a:txBody>
                  <a:tcPr marL="7620" marR="7620" marT="7620" marB="0" anchor="ctr"/>
                </a:tc>
                <a:tc>
                  <a:txBody>
                    <a:bodyPr/>
                    <a:lstStyle/>
                    <a:p>
                      <a:pPr algn="ctr" fontAlgn="ctr">
                        <a:buNone/>
                      </a:pPr>
                      <a:r>
                        <a:rPr lang="en-US" sz="1100" u="none" strike="noStrike">
                          <a:effectLst/>
                        </a:rPr>
                        <a:t>t-Statistic</a:t>
                      </a:r>
                      <a:endParaRPr lang="en-US" sz="1100" b="1" i="0" u="none" strike="noStrike">
                        <a:solidFill>
                          <a:srgbClr val="FFFFFF"/>
                        </a:solidFill>
                        <a:effectLst/>
                        <a:latin typeface="Calibri" panose="020F0502020204030204" pitchFamily="34" charset="0"/>
                      </a:endParaRPr>
                    </a:p>
                  </a:txBody>
                  <a:tcPr marL="7620" marR="7620" marT="7620" marB="0" anchor="ctr"/>
                </a:tc>
                <a:tc>
                  <a:txBody>
                    <a:bodyPr/>
                    <a:lstStyle/>
                    <a:p>
                      <a:pPr algn="ctr" fontAlgn="ctr">
                        <a:buNone/>
                      </a:pPr>
                      <a:r>
                        <a:rPr lang="en-US" sz="1100" u="none" strike="noStrike">
                          <a:effectLst/>
                        </a:rPr>
                        <a:t>p-value</a:t>
                      </a:r>
                      <a:endParaRPr lang="en-US" sz="1100" b="1" i="0" u="none" strike="noStrike">
                        <a:solidFill>
                          <a:srgbClr val="FFFFFF"/>
                        </a:solidFill>
                        <a:effectLst/>
                        <a:latin typeface="Calibri" panose="020F0502020204030204" pitchFamily="34" charset="0"/>
                      </a:endParaRPr>
                    </a:p>
                  </a:txBody>
                  <a:tcPr marL="7620" marR="7620" marT="7620" marB="0" anchor="ctr"/>
                </a:tc>
                <a:tc>
                  <a:txBody>
                    <a:bodyPr/>
                    <a:lstStyle/>
                    <a:p>
                      <a:pPr algn="ctr" fontAlgn="ctr">
                        <a:buNone/>
                      </a:pPr>
                      <a:r>
                        <a:rPr lang="en-US" sz="1100" u="none" strike="noStrike">
                          <a:effectLst/>
                        </a:rPr>
                        <a:t>Significance</a:t>
                      </a:r>
                      <a:endParaRPr lang="en-US" sz="1100" b="1" i="0" u="none" strike="noStrike">
                        <a:solidFill>
                          <a:srgbClr val="FFFFFF"/>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524375601"/>
                  </a:ext>
                </a:extLst>
              </a:tr>
              <a:tr h="612237">
                <a:tc>
                  <a:txBody>
                    <a:bodyPr/>
                    <a:lstStyle/>
                    <a:p>
                      <a:pPr algn="l" fontAlgn="ctr">
                        <a:buNone/>
                      </a:pPr>
                      <a:r>
                        <a:rPr lang="en-US" sz="1100" u="none" strike="noStrike">
                          <a:effectLst/>
                        </a:rPr>
                        <a:t>log(GDP per capita)</a:t>
                      </a:r>
                      <a:endParaRPr lang="en-US" sz="1100" b="1" i="0" u="none" strike="noStrike">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b="0" i="0" u="none" strike="noStrike" dirty="0">
                          <a:solidFill>
                            <a:srgbClr val="000000"/>
                          </a:solidFill>
                          <a:effectLst/>
                          <a:latin typeface="Calibri" panose="020F0502020204030204" pitchFamily="34" charset="0"/>
                        </a:rPr>
                        <a:t>0.7</a:t>
                      </a:r>
                    </a:p>
                  </a:txBody>
                  <a:tcPr marL="7620" marR="7620" marT="7620" marB="0" anchor="ctr"/>
                </a:tc>
                <a:tc>
                  <a:txBody>
                    <a:bodyPr/>
                    <a:lstStyle/>
                    <a:p>
                      <a:pPr algn="r" fontAlgn="ctr">
                        <a:buNone/>
                      </a:pPr>
                      <a:r>
                        <a:rPr lang="en-US" sz="1100" u="none" strike="noStrike" dirty="0">
                          <a:effectLst/>
                        </a:rPr>
                        <a:t>0.29</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b="0" i="0" u="none" strike="noStrike" dirty="0">
                          <a:solidFill>
                            <a:srgbClr val="000000"/>
                          </a:solidFill>
                          <a:effectLst/>
                          <a:latin typeface="Calibri" panose="020F0502020204030204" pitchFamily="34" charset="0"/>
                        </a:rPr>
                        <a:t>2.41</a:t>
                      </a:r>
                    </a:p>
                  </a:txBody>
                  <a:tcPr marL="7620" marR="7620" marT="7620" marB="0" anchor="ctr"/>
                </a:tc>
                <a:tc>
                  <a:txBody>
                    <a:bodyPr/>
                    <a:lstStyle/>
                    <a:p>
                      <a:pPr algn="r" fontAlgn="ctr">
                        <a:buNone/>
                      </a:pPr>
                      <a:r>
                        <a:rPr lang="en-US" sz="1100" u="none" strike="noStrike" dirty="0">
                          <a:effectLst/>
                        </a:rPr>
                        <a:t>0.016</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430777633"/>
                  </a:ext>
                </a:extLst>
              </a:tr>
              <a:tr h="408158">
                <a:tc>
                  <a:txBody>
                    <a:bodyPr/>
                    <a:lstStyle/>
                    <a:p>
                      <a:pPr algn="l" fontAlgn="ctr">
                        <a:buNone/>
                      </a:pPr>
                      <a:r>
                        <a:rPr lang="en-US" sz="1100" u="none" strike="noStrike">
                          <a:effectLst/>
                        </a:rPr>
                        <a:t>Immunization (DPT)</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0.06</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0.01</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5.87</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     1.8e-08</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665361730"/>
                  </a:ext>
                </a:extLst>
              </a:tr>
              <a:tr h="612237">
                <a:tc>
                  <a:txBody>
                    <a:bodyPr/>
                    <a:lstStyle/>
                    <a:p>
                      <a:pPr algn="l" fontAlgn="ctr">
                        <a:buNone/>
                      </a:pPr>
                      <a:r>
                        <a:rPr lang="en-US" sz="1100" u="none" strike="noStrike">
                          <a:effectLst/>
                        </a:rPr>
                        <a:t>Immunization (Measles)</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0.013</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0.0093</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b="0" i="0" u="none" strike="noStrike" dirty="0">
                          <a:solidFill>
                            <a:srgbClr val="000000"/>
                          </a:solidFill>
                          <a:effectLst/>
                          <a:latin typeface="Calibri" panose="020F0502020204030204" pitchFamily="34" charset="0"/>
                        </a:rPr>
                        <a:t>1.39</a:t>
                      </a:r>
                    </a:p>
                  </a:txBody>
                  <a:tcPr marL="7620" marR="7620" marT="7620" marB="0" anchor="ctr"/>
                </a:tc>
                <a:tc>
                  <a:txBody>
                    <a:bodyPr/>
                    <a:lstStyle/>
                    <a:p>
                      <a:pPr algn="r" fontAlgn="ctr">
                        <a:buNone/>
                      </a:pPr>
                      <a:r>
                        <a:rPr lang="en-US" sz="1100" u="none" strike="noStrike" dirty="0">
                          <a:effectLst/>
                        </a:rPr>
                        <a:t>0.16</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150582923"/>
                  </a:ext>
                </a:extLst>
              </a:tr>
              <a:tr h="612237">
                <a:tc>
                  <a:txBody>
                    <a:bodyPr/>
                    <a:lstStyle/>
                    <a:p>
                      <a:pPr algn="l" fontAlgn="ctr">
                        <a:buNone/>
                      </a:pPr>
                      <a:r>
                        <a:rPr lang="en-US" sz="1100" u="none" strike="noStrike">
                          <a:effectLst/>
                        </a:rPr>
                        <a:t>Urban Population (%)</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0.04</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0.032</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1.24</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0.21</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endParaRPr lang="en-US"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072795275"/>
                  </a:ext>
                </a:extLst>
              </a:tr>
              <a:tr h="408158">
                <a:tc>
                  <a:txBody>
                    <a:bodyPr/>
                    <a:lstStyle/>
                    <a:p>
                      <a:pPr algn="l" fontAlgn="ctr">
                        <a:buNone/>
                      </a:pPr>
                      <a:r>
                        <a:rPr lang="en-US" sz="1100" u="none" strike="noStrike">
                          <a:effectLst/>
                        </a:rPr>
                        <a:t>Fertility Rate</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                  –0.92</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0.3268</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                 –3.43</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      97.37e-04</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a:effectLst/>
                        </a:rPr>
                        <a:t>***</a:t>
                      </a:r>
                      <a:endParaRPr lang="en-US"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295133945"/>
                  </a:ext>
                </a:extLst>
              </a:tr>
              <a:tr h="816315">
                <a:tc>
                  <a:txBody>
                    <a:bodyPr/>
                    <a:lstStyle/>
                    <a:p>
                      <a:pPr algn="l" fontAlgn="ctr">
                        <a:buNone/>
                      </a:pPr>
                      <a:r>
                        <a:rPr lang="en-US" sz="1100" u="none" strike="noStrike" dirty="0" err="1">
                          <a:effectLst/>
                        </a:rPr>
                        <a:t>Signif</a:t>
                      </a:r>
                      <a:r>
                        <a:rPr lang="en-US" sz="1100" u="none" strike="noStrike" dirty="0">
                          <a:effectLst/>
                        </a:rPr>
                        <a:t>. Codes:</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dirty="0"/>
                        <a:t>*** p&lt;0.001</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dirty="0"/>
                        <a:t>** p&lt;0.01</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dirty="0"/>
                        <a:t>* p&lt;0.05</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dirty="0"/>
                        <a:t>. p&lt;0.1</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787707455"/>
                  </a:ext>
                </a:extLst>
              </a:tr>
            </a:tbl>
          </a:graphicData>
        </a:graphic>
      </p:graphicFrame>
      <p:sp>
        <p:nvSpPr>
          <p:cNvPr id="14" name="Rectangle 1">
            <a:extLst>
              <a:ext uri="{FF2B5EF4-FFF2-40B4-BE49-F238E27FC236}">
                <a16:creationId xmlns:a16="http://schemas.microsoft.com/office/drawing/2014/main" id="{A83BBA31-8A07-417B-7614-FA7A3EAC596C}"/>
              </a:ext>
            </a:extLst>
          </p:cNvPr>
          <p:cNvSpPr>
            <a:spLocks noChangeArrowheads="1"/>
          </p:cNvSpPr>
          <p:nvPr/>
        </p:nvSpPr>
        <p:spPr bwMode="auto">
          <a:xfrm>
            <a:off x="6339840" y="2692738"/>
            <a:ext cx="348364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Observations</a:t>
            </a:r>
            <a:r>
              <a:rPr kumimoji="0" lang="en-US" altLang="en-US" sz="1800" b="0" i="0" u="none" strike="noStrike" cap="none" normalizeH="0" baseline="0" dirty="0">
                <a:ln>
                  <a:noFill/>
                </a:ln>
                <a:solidFill>
                  <a:schemeClr val="tx1"/>
                </a:solidFill>
                <a:effectLst/>
                <a:latin typeface="Arial" panose="020B0604020202020204" pitchFamily="34" charset="0"/>
              </a:rPr>
              <a:t>: 7,565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Countries (Fixed effects)</a:t>
            </a:r>
            <a:r>
              <a:rPr kumimoji="0" lang="en-US" altLang="en-US" sz="1800" b="0" i="0" u="none" strike="noStrike" cap="none" normalizeH="0" baseline="0" dirty="0">
                <a:ln>
                  <a:noFill/>
                </a:ln>
                <a:solidFill>
                  <a:schemeClr val="tx1"/>
                </a:solidFill>
                <a:effectLst/>
                <a:latin typeface="Arial" panose="020B0604020202020204" pitchFamily="34" charset="0"/>
              </a:rPr>
              <a:t>: 192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Years (Fixed effects)</a:t>
            </a:r>
            <a:r>
              <a:rPr kumimoji="0" lang="en-US" altLang="en-US" sz="1800" b="0" i="0" u="none" strike="noStrike" cap="none" normalizeH="0" baseline="0" dirty="0">
                <a:ln>
                  <a:noFill/>
                </a:ln>
                <a:solidFill>
                  <a:schemeClr val="tx1"/>
                </a:solidFill>
                <a:effectLst/>
                <a:latin typeface="Arial" panose="020B0604020202020204" pitchFamily="34" charset="0"/>
              </a:rPr>
              <a:t>: 44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Clustered SEs</a:t>
            </a:r>
            <a:r>
              <a:rPr kumimoji="0" lang="en-US" altLang="en-US" sz="1800" b="0" i="0" u="none" strike="noStrike" cap="none" normalizeH="0" baseline="0" dirty="0">
                <a:ln>
                  <a:noFill/>
                </a:ln>
                <a:solidFill>
                  <a:schemeClr val="tx1"/>
                </a:solidFill>
                <a:effectLst/>
                <a:latin typeface="Arial" panose="020B0604020202020204" pitchFamily="34" charset="0"/>
              </a:rPr>
              <a:t>: By country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RMSE</a:t>
            </a:r>
            <a:r>
              <a:rPr kumimoji="0" lang="en-US" altLang="en-US" sz="1800" b="0" i="0" u="none" strike="noStrike" cap="none" normalizeH="0" baseline="0" dirty="0">
                <a:ln>
                  <a:noFill/>
                </a:ln>
                <a:solidFill>
                  <a:schemeClr val="tx1"/>
                </a:solidFill>
                <a:effectLst/>
                <a:latin typeface="Arial" panose="020B0604020202020204" pitchFamily="34" charset="0"/>
              </a:rPr>
              <a:t>: 2.24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Adjusted R²</a:t>
            </a:r>
            <a:r>
              <a:rPr kumimoji="0" lang="en-US" altLang="en-US" sz="1800" b="0" i="0" u="none" strike="noStrike" cap="none" normalizeH="0" baseline="0" dirty="0">
                <a:ln>
                  <a:noFill/>
                </a:ln>
                <a:solidFill>
                  <a:schemeClr val="tx1"/>
                </a:solidFill>
                <a:effectLst/>
                <a:latin typeface="Arial" panose="020B0604020202020204" pitchFamily="34" charset="0"/>
              </a:rPr>
              <a:t>: 0.94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Within R²</a:t>
            </a:r>
            <a:r>
              <a:rPr kumimoji="0" lang="en-US" altLang="en-US" sz="1800" b="0" i="0" u="none" strike="noStrike" cap="none" normalizeH="0" baseline="0" dirty="0">
                <a:ln>
                  <a:noFill/>
                </a:ln>
                <a:solidFill>
                  <a:schemeClr val="tx1"/>
                </a:solidFill>
                <a:effectLst/>
                <a:latin typeface="Arial" panose="020B0604020202020204" pitchFamily="34" charset="0"/>
              </a:rPr>
              <a:t>: 0.184</a:t>
            </a:r>
          </a:p>
        </p:txBody>
      </p:sp>
      <p:sp>
        <p:nvSpPr>
          <p:cNvPr id="16" name="TextBox 15">
            <a:extLst>
              <a:ext uri="{FF2B5EF4-FFF2-40B4-BE49-F238E27FC236}">
                <a16:creationId xmlns:a16="http://schemas.microsoft.com/office/drawing/2014/main" id="{C61AA6A0-8BF8-7976-5D24-AFC19605F3E6}"/>
              </a:ext>
            </a:extLst>
          </p:cNvPr>
          <p:cNvSpPr txBox="1"/>
          <p:nvPr/>
        </p:nvSpPr>
        <p:spPr>
          <a:xfrm>
            <a:off x="6095999" y="4863016"/>
            <a:ext cx="6096000" cy="1754326"/>
          </a:xfrm>
          <a:prstGeom prst="rect">
            <a:avLst/>
          </a:prstGeom>
          <a:noFill/>
        </p:spPr>
        <p:txBody>
          <a:bodyPr wrap="square">
            <a:spAutoFit/>
          </a:bodyPr>
          <a:lstStyle/>
          <a:p>
            <a:r>
              <a:rPr lang="en-US" dirty="0"/>
              <a:t>Note that compared to ordinary linear regression B coefficient of GDP per capita dropped from 2.32 to 0.7 which hints at the fact that GDP per capita without controlling for fixed effects was capturing effect of unobserved fixed factors too, which probably inflated its coefficient.</a:t>
            </a:r>
          </a:p>
        </p:txBody>
      </p:sp>
    </p:spTree>
    <p:extLst>
      <p:ext uri="{BB962C8B-B14F-4D97-AF65-F5344CB8AC3E}">
        <p14:creationId xmlns:p14="http://schemas.microsoft.com/office/powerpoint/2010/main" val="2992437435"/>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B3CB0-BF5D-437E-4592-4A069B9EA70C}"/>
              </a:ext>
            </a:extLst>
          </p:cNvPr>
          <p:cNvSpPr>
            <a:spLocks noGrp="1"/>
          </p:cNvSpPr>
          <p:nvPr>
            <p:ph type="title"/>
          </p:nvPr>
        </p:nvSpPr>
        <p:spPr>
          <a:xfrm>
            <a:off x="1167073" y="414203"/>
            <a:ext cx="4992427" cy="1077218"/>
          </a:xfrm>
          <a:ln>
            <a:solidFill>
              <a:schemeClr val="tx1"/>
            </a:solidFill>
          </a:ln>
        </p:spPr>
        <p:txBody>
          <a:bodyPr>
            <a:normAutofit fontScale="90000"/>
          </a:bodyPr>
          <a:lstStyle/>
          <a:p>
            <a:pPr algn="ctr"/>
            <a:r>
              <a:rPr lang="en-US" sz="3600" i="1" dirty="0" err="1"/>
              <a:t>Woorldridge</a:t>
            </a:r>
            <a:r>
              <a:rPr lang="en-US" sz="3600" i="1" dirty="0"/>
              <a:t> Test for autocorrelation</a:t>
            </a:r>
          </a:p>
        </p:txBody>
      </p:sp>
      <p:sp>
        <p:nvSpPr>
          <p:cNvPr id="4" name="Rectangle 1">
            <a:extLst>
              <a:ext uri="{FF2B5EF4-FFF2-40B4-BE49-F238E27FC236}">
                <a16:creationId xmlns:a16="http://schemas.microsoft.com/office/drawing/2014/main" id="{8E67D5A9-8220-D99D-DB6B-EB30D1376C26}"/>
              </a:ext>
            </a:extLst>
          </p:cNvPr>
          <p:cNvSpPr>
            <a:spLocks noGrp="1" noChangeArrowheads="1"/>
          </p:cNvSpPr>
          <p:nvPr>
            <p:ph idx="1"/>
          </p:nvPr>
        </p:nvSpPr>
        <p:spPr bwMode="auto">
          <a:xfrm>
            <a:off x="1230574" y="1921803"/>
            <a:ext cx="486542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Null Hypothesis: </a:t>
            </a:r>
            <a:r>
              <a:rPr kumimoji="0" lang="en-US" altLang="en-US" sz="1800" b="1" i="0" u="none" strike="noStrike" cap="none" normalizeH="0" baseline="0" dirty="0">
                <a:ln>
                  <a:noFill/>
                </a:ln>
                <a:solidFill>
                  <a:srgbClr val="FF0000"/>
                </a:solidFill>
                <a:effectLst/>
                <a:latin typeface="Arial" panose="020B0604020202020204" pitchFamily="34" charset="0"/>
              </a:rPr>
              <a:t>No autocorrelation in errors</a:t>
            </a:r>
          </a:p>
          <a:p>
            <a:pPr marL="0" lvl="0" indent="0" defTabSz="914400" eaLnBrk="0" fontAlgn="base" hangingPunct="0">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Test statistic:</a:t>
            </a:r>
            <a:r>
              <a:rPr kumimoji="0" lang="en-US" altLang="en-US" sz="1800" b="0" i="0" u="none" strike="noStrike" cap="none" normalizeH="0" baseline="0" dirty="0">
                <a:ln>
                  <a:noFill/>
                </a:ln>
                <a:solidFill>
                  <a:schemeClr val="tx1"/>
                </a:solidFill>
                <a:effectLst/>
                <a:latin typeface="Arial" panose="020B0604020202020204" pitchFamily="34" charset="0"/>
              </a:rPr>
              <a:t> χ² = 4826, </a:t>
            </a:r>
            <a:r>
              <a:rPr kumimoji="0" lang="en-US" altLang="en-US" sz="1800" b="1" i="0" u="none" strike="noStrike" cap="none" normalizeH="0" baseline="0" dirty="0">
                <a:ln>
                  <a:noFill/>
                </a:ln>
                <a:solidFill>
                  <a:schemeClr val="tx1"/>
                </a:solidFill>
                <a:effectLst/>
                <a:latin typeface="Arial" panose="020B0604020202020204" pitchFamily="34" charset="0"/>
              </a:rPr>
              <a:t>p &lt; 0.001 </a:t>
            </a:r>
            <a:r>
              <a:rPr kumimoji="0" lang="en-US" altLang="en-US" sz="1800" b="1" i="0" u="none" strike="noStrike" cap="none" normalizeH="0" baseline="0" dirty="0">
                <a:ln>
                  <a:noFill/>
                </a:ln>
                <a:solidFill>
                  <a:srgbClr val="FF0000"/>
                </a:solidFill>
                <a:effectLst/>
                <a:latin typeface="Arial" panose="020B0604020202020204" pitchFamily="34" charset="0"/>
              </a:rPr>
              <a:t>Reject null hypothesis</a:t>
            </a:r>
            <a:endParaRPr kumimoji="0" lang="en-US" altLang="en-US" sz="1800" b="0"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Evidence of </a:t>
            </a:r>
            <a:r>
              <a:rPr kumimoji="0" lang="en-US" altLang="en-US" sz="1800" b="1" i="0" u="none" strike="noStrike" cap="none" normalizeH="0" baseline="0" dirty="0">
                <a:ln>
                  <a:noFill/>
                </a:ln>
                <a:solidFill>
                  <a:schemeClr val="tx1"/>
                </a:solidFill>
                <a:effectLst/>
                <a:latin typeface="Arial" panose="020B0604020202020204" pitchFamily="34" charset="0"/>
              </a:rPr>
              <a:t>autocorrelation</a:t>
            </a:r>
            <a:r>
              <a:rPr kumimoji="0" lang="en-US" altLang="en-US" sz="1800" b="0" i="0" u="none" strike="noStrike" cap="none" normalizeH="0" baseline="0" dirty="0">
                <a:ln>
                  <a:noFill/>
                </a:ln>
                <a:solidFill>
                  <a:schemeClr val="tx1"/>
                </a:solidFill>
                <a:effectLst/>
                <a:latin typeface="Arial" panose="020B0604020202020204" pitchFamily="34" charset="0"/>
              </a:rPr>
              <a:t> in panel residuals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Handled via </a:t>
            </a:r>
            <a:r>
              <a:rPr kumimoji="0" lang="en-US" altLang="en-US" sz="1800" b="1" i="0" u="none" strike="noStrike" cap="none" normalizeH="0" baseline="0" dirty="0">
                <a:ln>
                  <a:noFill/>
                </a:ln>
                <a:solidFill>
                  <a:schemeClr val="tx1"/>
                </a:solidFill>
                <a:effectLst/>
                <a:latin typeface="Arial" panose="020B0604020202020204" pitchFamily="34" charset="0"/>
              </a:rPr>
              <a:t>clustered standard errors by country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BA75A19E-C9FC-424F-5991-AE7EF8565F9E}"/>
              </a:ext>
            </a:extLst>
          </p:cNvPr>
          <p:cNvSpPr>
            <a:spLocks noChangeArrowheads="1"/>
          </p:cNvSpPr>
          <p:nvPr/>
        </p:nvSpPr>
        <p:spPr bwMode="auto">
          <a:xfrm>
            <a:off x="6539174" y="1921803"/>
            <a:ext cx="499242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Null Hypothesis: </a:t>
            </a:r>
            <a:r>
              <a:rPr kumimoji="0" lang="en-US" altLang="en-US" sz="1800" b="1" i="0" u="none" strike="noStrike" cap="none" normalizeH="0" baseline="0" dirty="0">
                <a:ln>
                  <a:noFill/>
                </a:ln>
                <a:solidFill>
                  <a:srgbClr val="FF0000"/>
                </a:solidFill>
                <a:effectLst/>
                <a:latin typeface="Arial" panose="020B0604020202020204" pitchFamily="34" charset="0"/>
              </a:rPr>
              <a:t>No cross-sectional dependence</a:t>
            </a:r>
          </a:p>
          <a:p>
            <a:pPr lvl="0" eaLnBrk="0" fontAlgn="base" hangingPunct="0">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Test statistic:</a:t>
            </a:r>
            <a:r>
              <a:rPr kumimoji="0" lang="en-US" altLang="en-US" sz="1800" b="0" i="0" u="none" strike="noStrike" cap="none" normalizeH="0" baseline="0" dirty="0">
                <a:ln>
                  <a:noFill/>
                </a:ln>
                <a:solidFill>
                  <a:schemeClr val="tx1"/>
                </a:solidFill>
                <a:effectLst/>
                <a:latin typeface="Arial" panose="020B0604020202020204" pitchFamily="34" charset="0"/>
              </a:rPr>
              <a:t> z = 88.256, </a:t>
            </a:r>
            <a:r>
              <a:rPr kumimoji="0" lang="en-US" altLang="en-US" sz="1800" b="1" i="0" u="none" strike="noStrike" cap="none" normalizeH="0" baseline="0" dirty="0">
                <a:ln>
                  <a:noFill/>
                </a:ln>
                <a:solidFill>
                  <a:schemeClr val="tx1"/>
                </a:solidFill>
                <a:effectLst/>
                <a:latin typeface="Arial" panose="020B0604020202020204" pitchFamily="34" charset="0"/>
              </a:rPr>
              <a:t>p &lt; 0.001 </a:t>
            </a:r>
            <a:r>
              <a:rPr kumimoji="0" lang="en-US" altLang="en-US" sz="1800" b="1" i="0" u="none" strike="noStrike" cap="none" normalizeH="0" baseline="0" dirty="0">
                <a:ln>
                  <a:noFill/>
                </a:ln>
                <a:solidFill>
                  <a:srgbClr val="FF0000"/>
                </a:solidFill>
                <a:effectLst/>
                <a:latin typeface="Arial" panose="020B0604020202020204" pitchFamily="34" charset="0"/>
              </a:rPr>
              <a:t>Reject null hypothesis</a:t>
            </a:r>
            <a:endParaRPr kumimoji="0" lang="en-US" altLang="en-US" sz="1800" b="0"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Evidence of </a:t>
            </a:r>
            <a:r>
              <a:rPr kumimoji="0" lang="en-US" altLang="en-US" sz="1800" b="1" i="0" u="none" strike="noStrike" cap="none" normalizeH="0" baseline="0" dirty="0">
                <a:ln>
                  <a:noFill/>
                </a:ln>
                <a:solidFill>
                  <a:schemeClr val="tx1"/>
                </a:solidFill>
                <a:effectLst/>
                <a:latin typeface="Arial" panose="020B0604020202020204" pitchFamily="34" charset="0"/>
              </a:rPr>
              <a:t>cross-sectional dependence</a:t>
            </a:r>
            <a:r>
              <a:rPr kumimoji="0" lang="en-US" altLang="en-US" sz="1800" b="0" i="0" u="none" strike="noStrike" cap="none" normalizeH="0" baseline="0" dirty="0">
                <a:ln>
                  <a:noFill/>
                </a:ln>
                <a:solidFill>
                  <a:schemeClr val="tx1"/>
                </a:solidFill>
                <a:effectLst/>
                <a:latin typeface="Arial" panose="020B0604020202020204" pitchFamily="34" charset="0"/>
              </a:rPr>
              <a:t> (common shocks across countries)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Addressed using </a:t>
            </a:r>
            <a:r>
              <a:rPr lang="en-US" altLang="en-US" b="1" dirty="0">
                <a:latin typeface="Arial" panose="020B0604020202020204" pitchFamily="34" charset="0"/>
              </a:rPr>
              <a:t>clustering across time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953054CD-14B3-DCA9-5657-9D5E158F7C42}"/>
              </a:ext>
            </a:extLst>
          </p:cNvPr>
          <p:cNvSpPr txBox="1"/>
          <p:nvPr/>
        </p:nvSpPr>
        <p:spPr>
          <a:xfrm>
            <a:off x="6366454" y="414203"/>
            <a:ext cx="4992426" cy="1077218"/>
          </a:xfrm>
          <a:prstGeom prst="rect">
            <a:avLst/>
          </a:prstGeom>
          <a:noFill/>
          <a:ln>
            <a:solidFill>
              <a:schemeClr val="tx1"/>
            </a:solidFill>
          </a:ln>
        </p:spPr>
        <p:txBody>
          <a:bodyPr wrap="square">
            <a:spAutoFit/>
          </a:bodyPr>
          <a:lstStyle/>
          <a:p>
            <a:pPr algn="ctr"/>
            <a:r>
              <a:rPr lang="en-US" sz="3200" i="1" dirty="0" err="1"/>
              <a:t>Pesaran</a:t>
            </a:r>
            <a:r>
              <a:rPr lang="en-US" sz="3200" i="1" dirty="0"/>
              <a:t> CD Test for Cross-Sectional Dependence</a:t>
            </a:r>
          </a:p>
        </p:txBody>
      </p:sp>
      <p:sp>
        <p:nvSpPr>
          <p:cNvPr id="9" name="TextBox 8">
            <a:extLst>
              <a:ext uri="{FF2B5EF4-FFF2-40B4-BE49-F238E27FC236}">
                <a16:creationId xmlns:a16="http://schemas.microsoft.com/office/drawing/2014/main" id="{8BE78482-F859-289C-9E40-9B518803604E}"/>
              </a:ext>
            </a:extLst>
          </p:cNvPr>
          <p:cNvSpPr txBox="1"/>
          <p:nvPr/>
        </p:nvSpPr>
        <p:spPr>
          <a:xfrm>
            <a:off x="1817314" y="4813892"/>
            <a:ext cx="9443720" cy="923330"/>
          </a:xfrm>
          <a:prstGeom prst="rect">
            <a:avLst/>
          </a:prstGeom>
          <a:noFill/>
          <a:ln>
            <a:solidFill>
              <a:schemeClr val="tx1"/>
            </a:solidFill>
          </a:ln>
        </p:spPr>
        <p:txBody>
          <a:bodyPr wrap="square">
            <a:spAutoFit/>
          </a:bodyPr>
          <a:lstStyle/>
          <a:p>
            <a:r>
              <a:rPr lang="en-US" dirty="0"/>
              <a:t>As we see in both of the cases we reject null hypothesis, so there is autocorrelation in errors and cross-sectional dependence, meaning that we should cluster both across countries and across time  to make sure we get unbiased standard error estimates.</a:t>
            </a:r>
          </a:p>
        </p:txBody>
      </p:sp>
      <p:pic>
        <p:nvPicPr>
          <p:cNvPr id="11" name="Graphic 10" descr="Presentation with pie chart with solid fill">
            <a:extLst>
              <a:ext uri="{FF2B5EF4-FFF2-40B4-BE49-F238E27FC236}">
                <a16:creationId xmlns:a16="http://schemas.microsoft.com/office/drawing/2014/main" id="{5C06B632-AB69-ADA8-93E0-F2978043325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766" y="4722004"/>
            <a:ext cx="914400" cy="914400"/>
          </a:xfrm>
          <a:prstGeom prst="rect">
            <a:avLst/>
          </a:prstGeom>
        </p:spPr>
      </p:pic>
    </p:spTree>
    <p:extLst>
      <p:ext uri="{BB962C8B-B14F-4D97-AF65-F5344CB8AC3E}">
        <p14:creationId xmlns:p14="http://schemas.microsoft.com/office/powerpoint/2010/main" val="29198916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E30C3-8034-511E-1561-0EB117625BAD}"/>
              </a:ext>
            </a:extLst>
          </p:cNvPr>
          <p:cNvSpPr>
            <a:spLocks noGrp="1"/>
          </p:cNvSpPr>
          <p:nvPr>
            <p:ph type="title"/>
          </p:nvPr>
        </p:nvSpPr>
        <p:spPr>
          <a:xfrm>
            <a:off x="1025236" y="523274"/>
            <a:ext cx="10364451" cy="1596177"/>
          </a:xfrm>
        </p:spPr>
        <p:txBody>
          <a:bodyPr/>
          <a:lstStyle/>
          <a:p>
            <a:pPr algn="ctr"/>
            <a:r>
              <a:rPr lang="en-US" dirty="0"/>
              <a:t>FE regression with "Two-way" clustered standard errors</a:t>
            </a:r>
          </a:p>
        </p:txBody>
      </p:sp>
      <p:graphicFrame>
        <p:nvGraphicFramePr>
          <p:cNvPr id="4" name="Content Placeholder 3">
            <a:extLst>
              <a:ext uri="{FF2B5EF4-FFF2-40B4-BE49-F238E27FC236}">
                <a16:creationId xmlns:a16="http://schemas.microsoft.com/office/drawing/2014/main" id="{66D1FE82-BAB6-7AD1-6F5E-1030B14B651B}"/>
              </a:ext>
            </a:extLst>
          </p:cNvPr>
          <p:cNvGraphicFramePr>
            <a:graphicFrameLocks noGrp="1"/>
          </p:cNvGraphicFramePr>
          <p:nvPr>
            <p:ph idx="1"/>
            <p:extLst>
              <p:ext uri="{D42A27DB-BD31-4B8C-83A1-F6EECF244321}">
                <p14:modId xmlns:p14="http://schemas.microsoft.com/office/powerpoint/2010/main" val="1321539849"/>
              </p:ext>
            </p:extLst>
          </p:nvPr>
        </p:nvGraphicFramePr>
        <p:xfrm>
          <a:off x="838200" y="1874810"/>
          <a:ext cx="4998719" cy="3771104"/>
        </p:xfrm>
        <a:graphic>
          <a:graphicData uri="http://schemas.openxmlformats.org/drawingml/2006/table">
            <a:tbl>
              <a:tblPr>
                <a:effectLst>
                  <a:outerShdw blurRad="50800" dist="38100" dir="2700000" algn="tl" rotWithShape="0">
                    <a:prstClr val="black">
                      <a:alpha val="40000"/>
                    </a:prstClr>
                  </a:outerShdw>
                </a:effectLst>
                <a:tableStyleId>{5C22544A-7EE6-4342-B048-85BDC9FD1C3A}</a:tableStyleId>
              </a:tblPr>
              <a:tblGrid>
                <a:gridCol w="871487">
                  <a:extLst>
                    <a:ext uri="{9D8B030D-6E8A-4147-A177-3AD203B41FA5}">
                      <a16:colId xmlns:a16="http://schemas.microsoft.com/office/drawing/2014/main" val="4206882707"/>
                    </a:ext>
                  </a:extLst>
                </a:gridCol>
                <a:gridCol w="1068805">
                  <a:extLst>
                    <a:ext uri="{9D8B030D-6E8A-4147-A177-3AD203B41FA5}">
                      <a16:colId xmlns:a16="http://schemas.microsoft.com/office/drawing/2014/main" val="3865066248"/>
                    </a:ext>
                  </a:extLst>
                </a:gridCol>
                <a:gridCol w="953703">
                  <a:extLst>
                    <a:ext uri="{9D8B030D-6E8A-4147-A177-3AD203B41FA5}">
                      <a16:colId xmlns:a16="http://schemas.microsoft.com/office/drawing/2014/main" val="1502794301"/>
                    </a:ext>
                  </a:extLst>
                </a:gridCol>
                <a:gridCol w="953703">
                  <a:extLst>
                    <a:ext uri="{9D8B030D-6E8A-4147-A177-3AD203B41FA5}">
                      <a16:colId xmlns:a16="http://schemas.microsoft.com/office/drawing/2014/main" val="3990953172"/>
                    </a:ext>
                  </a:extLst>
                </a:gridCol>
                <a:gridCol w="1151021">
                  <a:extLst>
                    <a:ext uri="{9D8B030D-6E8A-4147-A177-3AD203B41FA5}">
                      <a16:colId xmlns:a16="http://schemas.microsoft.com/office/drawing/2014/main" val="2840414191"/>
                    </a:ext>
                  </a:extLst>
                </a:gridCol>
              </a:tblGrid>
              <a:tr h="471388">
                <a:tc>
                  <a:txBody>
                    <a:bodyPr/>
                    <a:lstStyle/>
                    <a:p>
                      <a:pPr algn="ctr" fontAlgn="ctr">
                        <a:buNone/>
                      </a:pPr>
                      <a:r>
                        <a:rPr lang="en-US" sz="1100" u="none" strike="noStrike">
                          <a:effectLst/>
                        </a:rPr>
                        <a:t>Variable</a:t>
                      </a:r>
                      <a:endParaRPr lang="en-US" sz="1100" b="1" i="0" u="none" strike="noStrike">
                        <a:solidFill>
                          <a:srgbClr val="FFFFFF"/>
                        </a:solidFill>
                        <a:effectLst/>
                        <a:latin typeface="Calibri" panose="020F0502020204030204" pitchFamily="34" charset="0"/>
                      </a:endParaRPr>
                    </a:p>
                  </a:txBody>
                  <a:tcPr marL="7620" marR="7620" marT="7620" marB="0" anchor="ctr"/>
                </a:tc>
                <a:tc>
                  <a:txBody>
                    <a:bodyPr/>
                    <a:lstStyle/>
                    <a:p>
                      <a:pPr algn="ctr" fontAlgn="ctr">
                        <a:buNone/>
                      </a:pPr>
                      <a:r>
                        <a:rPr lang="en-US" sz="1100" u="none" strike="noStrike" dirty="0">
                          <a:effectLst/>
                        </a:rPr>
                        <a:t>Estimate</a:t>
                      </a:r>
                      <a:endParaRPr lang="en-US" sz="1100" b="1" i="0" u="none" strike="noStrike" dirty="0">
                        <a:solidFill>
                          <a:srgbClr val="FFFFFF"/>
                        </a:solidFill>
                        <a:effectLst/>
                        <a:latin typeface="Calibri" panose="020F0502020204030204" pitchFamily="34" charset="0"/>
                      </a:endParaRPr>
                    </a:p>
                  </a:txBody>
                  <a:tcPr marL="7620" marR="7620" marT="7620" marB="0" anchor="ctr"/>
                </a:tc>
                <a:tc>
                  <a:txBody>
                    <a:bodyPr/>
                    <a:lstStyle/>
                    <a:p>
                      <a:pPr algn="ctr" fontAlgn="ctr">
                        <a:buNone/>
                      </a:pPr>
                      <a:r>
                        <a:rPr lang="en-US" sz="1100" u="none" strike="noStrike">
                          <a:effectLst/>
                        </a:rPr>
                        <a:t>Std. Error</a:t>
                      </a:r>
                      <a:endParaRPr lang="en-US" sz="1100" b="1" i="0" u="none" strike="noStrike">
                        <a:solidFill>
                          <a:srgbClr val="FFFFFF"/>
                        </a:solidFill>
                        <a:effectLst/>
                        <a:latin typeface="Calibri" panose="020F0502020204030204" pitchFamily="34" charset="0"/>
                      </a:endParaRPr>
                    </a:p>
                  </a:txBody>
                  <a:tcPr marL="7620" marR="7620" marT="7620" marB="0" anchor="ctr"/>
                </a:tc>
                <a:tc>
                  <a:txBody>
                    <a:bodyPr/>
                    <a:lstStyle/>
                    <a:p>
                      <a:pPr algn="ctr" fontAlgn="ctr">
                        <a:buNone/>
                      </a:pPr>
                      <a:r>
                        <a:rPr lang="en-US" sz="1100" u="none" strike="noStrike" dirty="0">
                          <a:effectLst/>
                        </a:rPr>
                        <a:t>t value</a:t>
                      </a:r>
                      <a:endParaRPr lang="en-US" sz="1100" b="1" i="0" u="none" strike="noStrike" dirty="0">
                        <a:solidFill>
                          <a:srgbClr val="FFFFFF"/>
                        </a:solidFill>
                        <a:effectLst/>
                        <a:latin typeface="Calibri" panose="020F0502020204030204" pitchFamily="34" charset="0"/>
                      </a:endParaRPr>
                    </a:p>
                  </a:txBody>
                  <a:tcPr marL="7620" marR="7620" marT="7620" marB="0" anchor="ctr"/>
                </a:tc>
                <a:tc>
                  <a:txBody>
                    <a:bodyPr/>
                    <a:lstStyle/>
                    <a:p>
                      <a:pPr algn="ctr" fontAlgn="ctr">
                        <a:buNone/>
                      </a:pPr>
                      <a:r>
                        <a:rPr lang="en-US" sz="1100" u="none" strike="noStrike">
                          <a:effectLst/>
                        </a:rPr>
                        <a:t>Significance</a:t>
                      </a:r>
                      <a:endParaRPr lang="en-US" sz="1100" b="1" i="0" u="none" strike="noStrike">
                        <a:solidFill>
                          <a:srgbClr val="FFFFFF"/>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07842799"/>
                  </a:ext>
                </a:extLst>
              </a:tr>
              <a:tr h="471388">
                <a:tc>
                  <a:txBody>
                    <a:bodyPr/>
                    <a:lstStyle/>
                    <a:p>
                      <a:pPr algn="l" fontAlgn="ctr">
                        <a:buNone/>
                      </a:pPr>
                      <a:r>
                        <a:rPr lang="en-US" sz="1100" u="none" strike="noStrike">
                          <a:effectLst/>
                        </a:rPr>
                        <a:t>log(GDP_per_capita)</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b="0" i="0" u="none" strike="noStrike" dirty="0">
                          <a:solidFill>
                            <a:srgbClr val="000000"/>
                          </a:solidFill>
                          <a:effectLst/>
                          <a:latin typeface="Calibri" panose="020F0502020204030204" pitchFamily="34" charset="0"/>
                        </a:rPr>
                        <a:t>0.7</a:t>
                      </a:r>
                    </a:p>
                  </a:txBody>
                  <a:tcPr marL="7620" marR="7620" marT="7620" marB="0" anchor="ctr"/>
                </a:tc>
                <a:tc>
                  <a:txBody>
                    <a:bodyPr/>
                    <a:lstStyle/>
                    <a:p>
                      <a:pPr algn="r" fontAlgn="ctr">
                        <a:buNone/>
                      </a:pPr>
                      <a:r>
                        <a:rPr lang="en-US" sz="1100" u="none" strike="noStrike" dirty="0">
                          <a:effectLst/>
                        </a:rPr>
                        <a:t>0.30</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b="0" i="0" u="none" strike="noStrike" dirty="0">
                          <a:solidFill>
                            <a:srgbClr val="000000"/>
                          </a:solidFill>
                          <a:effectLst/>
                          <a:latin typeface="Calibri" panose="020F0502020204030204" pitchFamily="34" charset="0"/>
                        </a:rPr>
                        <a:t>2.35</a:t>
                      </a:r>
                    </a:p>
                  </a:txBody>
                  <a:tcPr marL="7620" marR="7620" marT="7620" marB="0" anchor="ctr"/>
                </a:tc>
                <a:tc>
                  <a:txBody>
                    <a:bodyPr/>
                    <a:lstStyle/>
                    <a:p>
                      <a:pPr algn="l" fontAlgn="ctr">
                        <a:buNone/>
                      </a:pPr>
                      <a:r>
                        <a:rPr lang="en-US" sz="1100" u="none" strike="noStrike" dirty="0">
                          <a:effectLst/>
                        </a:rPr>
                        <a:t>p &lt; 0.05</a:t>
                      </a:r>
                      <a:endParaRPr lang="en-US" sz="1100" b="1"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96027825"/>
                  </a:ext>
                </a:extLst>
              </a:tr>
              <a:tr h="471388">
                <a:tc>
                  <a:txBody>
                    <a:bodyPr/>
                    <a:lstStyle/>
                    <a:p>
                      <a:pPr algn="l" fontAlgn="ctr">
                        <a:buNone/>
                      </a:pPr>
                      <a:r>
                        <a:rPr lang="en-US" sz="1100" u="none" strike="noStrike">
                          <a:effectLst/>
                        </a:rPr>
                        <a:t>Immunization_DPT</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0.046</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0.01</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5.75</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p &lt; 0.001</a:t>
                      </a:r>
                      <a:endParaRPr lang="en-US" sz="1100" b="1" i="1"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411316635"/>
                  </a:ext>
                </a:extLst>
              </a:tr>
              <a:tr h="707082">
                <a:tc>
                  <a:txBody>
                    <a:bodyPr/>
                    <a:lstStyle/>
                    <a:p>
                      <a:pPr algn="l" fontAlgn="ctr">
                        <a:buNone/>
                      </a:pPr>
                      <a:r>
                        <a:rPr lang="en-US" sz="1100" u="none" strike="noStrike">
                          <a:effectLst/>
                        </a:rPr>
                        <a:t>Immunization_measles</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0.013</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0.0091</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b="0" i="0" u="none" strike="noStrike" dirty="0">
                          <a:solidFill>
                            <a:srgbClr val="000000"/>
                          </a:solidFill>
                          <a:effectLst/>
                          <a:latin typeface="Calibri" panose="020F0502020204030204" pitchFamily="34" charset="0"/>
                        </a:rPr>
                        <a:t>1.42</a:t>
                      </a:r>
                    </a:p>
                  </a:txBody>
                  <a:tcPr marL="7620" marR="7620" marT="7620" marB="0" anchor="ctr"/>
                </a:tc>
                <a:tc>
                  <a:txBody>
                    <a:bodyPr/>
                    <a:lstStyle/>
                    <a:p>
                      <a:pPr algn="l" fontAlgn="ctr">
                        <a:buNone/>
                      </a:pPr>
                      <a:r>
                        <a:rPr lang="en-US" sz="1100" u="none" strike="noStrike" dirty="0">
                          <a:effectLst/>
                        </a:rPr>
                        <a:t>p Not significant</a:t>
                      </a:r>
                      <a:endParaRPr lang="en-US" sz="1100" b="0" i="1"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515244715"/>
                  </a:ext>
                </a:extLst>
              </a:tr>
              <a:tr h="471388">
                <a:tc>
                  <a:txBody>
                    <a:bodyPr/>
                    <a:lstStyle/>
                    <a:p>
                      <a:pPr algn="l" fontAlgn="ctr">
                        <a:buNone/>
                      </a:pPr>
                      <a:r>
                        <a:rPr lang="en-US" sz="1100" u="none" strike="noStrike">
                          <a:effectLst/>
                        </a:rPr>
                        <a:t>Urban_population</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0.04</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0.031</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1.28</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a:effectLst/>
                        </a:rPr>
                        <a:t>Not significant</a:t>
                      </a:r>
                      <a:endParaRPr lang="en-US"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903191257"/>
                  </a:ext>
                </a:extLst>
              </a:tr>
              <a:tr h="471388">
                <a:tc>
                  <a:txBody>
                    <a:bodyPr/>
                    <a:lstStyle/>
                    <a:p>
                      <a:pPr algn="l" fontAlgn="ctr">
                        <a:buNone/>
                      </a:pPr>
                      <a:r>
                        <a:rPr lang="en-US" sz="1100" u="none" strike="noStrike">
                          <a:effectLst/>
                        </a:rPr>
                        <a:t>Fertility_rate</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-0.92</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0.277</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-3.32</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p &lt; 0.01</a:t>
                      </a:r>
                      <a:endParaRPr lang="en-US" sz="1100" b="1" i="1"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059264529"/>
                  </a:ext>
                </a:extLst>
              </a:tr>
              <a:tr h="707082">
                <a:tc>
                  <a:txBody>
                    <a:bodyPr/>
                    <a:lstStyle/>
                    <a:p>
                      <a:pPr algn="l" fontAlgn="ctr">
                        <a:buNone/>
                      </a:pPr>
                      <a:r>
                        <a:rPr lang="en-US" sz="1100" u="none" strike="noStrike" dirty="0" err="1">
                          <a:effectLst/>
                        </a:rPr>
                        <a:t>Signif</a:t>
                      </a:r>
                      <a:r>
                        <a:rPr lang="en-US" sz="1100" u="none" strike="noStrike" dirty="0">
                          <a:effectLst/>
                        </a:rPr>
                        <a:t>. Codes:</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dirty="0"/>
                        <a:t>*** p&lt;0.001</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dirty="0"/>
                        <a:t>** p&lt;0.01</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dirty="0"/>
                        <a:t>. p&lt;0.1</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endParaRPr lang="en-US" sz="1100" b="1"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838426066"/>
                  </a:ext>
                </a:extLst>
              </a:tr>
            </a:tbl>
          </a:graphicData>
        </a:graphic>
      </p:graphicFrame>
      <p:sp>
        <p:nvSpPr>
          <p:cNvPr id="7" name="TextBox 6">
            <a:extLst>
              <a:ext uri="{FF2B5EF4-FFF2-40B4-BE49-F238E27FC236}">
                <a16:creationId xmlns:a16="http://schemas.microsoft.com/office/drawing/2014/main" id="{7FC9E532-3C3A-1823-2446-CAD3F1F9B405}"/>
              </a:ext>
            </a:extLst>
          </p:cNvPr>
          <p:cNvSpPr txBox="1"/>
          <p:nvPr/>
        </p:nvSpPr>
        <p:spPr>
          <a:xfrm>
            <a:off x="6009640" y="1948656"/>
            <a:ext cx="6101080" cy="369332"/>
          </a:xfrm>
          <a:prstGeom prst="rect">
            <a:avLst/>
          </a:prstGeom>
          <a:noFill/>
        </p:spPr>
        <p:txBody>
          <a:bodyPr wrap="square">
            <a:spAutoFit/>
          </a:bodyPr>
          <a:lstStyle/>
          <a:p>
            <a:endParaRPr lang="en-US" dirty="0"/>
          </a:p>
        </p:txBody>
      </p:sp>
      <p:sp>
        <p:nvSpPr>
          <p:cNvPr id="8" name="Rectangle 2">
            <a:extLst>
              <a:ext uri="{FF2B5EF4-FFF2-40B4-BE49-F238E27FC236}">
                <a16:creationId xmlns:a16="http://schemas.microsoft.com/office/drawing/2014/main" id="{2A3EFD74-E164-9B96-256D-91D3C0E6284B}"/>
              </a:ext>
            </a:extLst>
          </p:cNvPr>
          <p:cNvSpPr>
            <a:spLocks noChangeArrowheads="1"/>
          </p:cNvSpPr>
          <p:nvPr/>
        </p:nvSpPr>
        <p:spPr bwMode="auto">
          <a:xfrm>
            <a:off x="762000" y="5852158"/>
            <a:ext cx="4998719"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RMSE: 2.24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Adjusted R²: 0.9</a:t>
            </a:r>
            <a:r>
              <a:rPr lang="en-US" altLang="en-US" dirty="0">
                <a:latin typeface="Arial" panose="020B0604020202020204" pitchFamily="34" charset="0"/>
              </a:rPr>
              <a:t>4</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Within R²: 0.184</a:t>
            </a:r>
          </a:p>
        </p:txBody>
      </p:sp>
      <p:sp>
        <p:nvSpPr>
          <p:cNvPr id="9" name="Rectangle 3">
            <a:extLst>
              <a:ext uri="{FF2B5EF4-FFF2-40B4-BE49-F238E27FC236}">
                <a16:creationId xmlns:a16="http://schemas.microsoft.com/office/drawing/2014/main" id="{518C73CE-E8E5-7089-3B01-1B00F504046E}"/>
              </a:ext>
            </a:extLst>
          </p:cNvPr>
          <p:cNvSpPr>
            <a:spLocks noChangeArrowheads="1"/>
          </p:cNvSpPr>
          <p:nvPr/>
        </p:nvSpPr>
        <p:spPr bwMode="auto">
          <a:xfrm>
            <a:off x="6078220" y="1959987"/>
            <a:ext cx="544576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Coefficient estimates remain the same, but standard errors are now adjusted.</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Clustered SEs correct for bias from heteroskedasticity, autocorrelation, and cross-sectional dependence.</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Now, GDP per capita is significant at the 5% level.</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When clustering by countries only</a:t>
            </a:r>
            <a:r>
              <a:rPr lang="en-US" altLang="en-US" dirty="0">
                <a:latin typeface="Arial" panose="020B0604020202020204" pitchFamily="34" charset="0"/>
              </a:rPr>
              <a:t> also significant at 5% as std error increased by 0.01 only.</a:t>
            </a: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
        <p:nvSpPr>
          <p:cNvPr id="11" name="Rectangle 5">
            <a:extLst>
              <a:ext uri="{FF2B5EF4-FFF2-40B4-BE49-F238E27FC236}">
                <a16:creationId xmlns:a16="http://schemas.microsoft.com/office/drawing/2014/main" id="{FD771A01-AEA4-444D-E2D1-7914C56374CB}"/>
              </a:ext>
            </a:extLst>
          </p:cNvPr>
          <p:cNvSpPr>
            <a:spLocks noChangeArrowheads="1"/>
          </p:cNvSpPr>
          <p:nvPr/>
        </p:nvSpPr>
        <p:spPr bwMode="auto">
          <a:xfrm>
            <a:off x="6009640" y="4738549"/>
            <a:ext cx="591312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1% increase</a:t>
            </a:r>
            <a:r>
              <a:rPr kumimoji="0" lang="en-US" altLang="en-US" sz="1800" b="0" i="0" u="none" strike="noStrike" cap="none" normalizeH="0" baseline="0" dirty="0">
                <a:ln>
                  <a:noFill/>
                </a:ln>
                <a:solidFill>
                  <a:schemeClr val="tx1"/>
                </a:solidFill>
                <a:effectLst/>
                <a:latin typeface="Arial" panose="020B0604020202020204" pitchFamily="34" charset="0"/>
              </a:rPr>
              <a:t> in GDP per capita → </a:t>
            </a:r>
            <a:r>
              <a:rPr kumimoji="0" lang="en-US" altLang="en-US" sz="1800" b="1" i="0" u="none" strike="noStrike" cap="none" normalizeH="0" baseline="0" dirty="0">
                <a:ln>
                  <a:noFill/>
                </a:ln>
                <a:solidFill>
                  <a:schemeClr val="tx1"/>
                </a:solidFill>
                <a:effectLst/>
                <a:latin typeface="Arial" panose="020B0604020202020204" pitchFamily="34" charset="0"/>
              </a:rPr>
              <a:t>+0.007 years</a:t>
            </a:r>
            <a:r>
              <a:rPr kumimoji="0" lang="en-US" altLang="en-US" sz="1800" b="0" i="0" u="none" strike="noStrike" cap="none" normalizeH="0" baseline="0" dirty="0">
                <a:ln>
                  <a:noFill/>
                </a:ln>
                <a:solidFill>
                  <a:schemeClr val="tx1"/>
                </a:solidFill>
                <a:effectLst/>
                <a:latin typeface="Arial" panose="020B0604020202020204" pitchFamily="34" charset="0"/>
              </a:rPr>
              <a:t> of life expectancy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 </a:t>
            </a:r>
            <a:r>
              <a:rPr lang="en-US" altLang="en-US" b="1" dirty="0">
                <a:latin typeface="Arial" panose="020B0604020202020204" pitchFamily="34" charset="0"/>
              </a:rPr>
              <a:t>2.55</a:t>
            </a:r>
            <a:r>
              <a:rPr kumimoji="0" lang="en-US" altLang="en-US" sz="1800" b="1" i="0" u="none" strike="noStrike" cap="none" normalizeH="0" baseline="0" dirty="0">
                <a:ln>
                  <a:noFill/>
                </a:ln>
                <a:solidFill>
                  <a:schemeClr val="tx1"/>
                </a:solidFill>
                <a:effectLst/>
                <a:latin typeface="Arial" panose="020B0604020202020204" pitchFamily="34" charset="0"/>
              </a:rPr>
              <a:t> extra days of life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a:t>
            </a:r>
            <a:r>
              <a:rPr kumimoji="0" lang="en-US" altLang="en-US" sz="1800" b="1" i="0" u="none" strike="noStrike" cap="none" normalizeH="0" baseline="0" dirty="0">
                <a:ln>
                  <a:noFill/>
                </a:ln>
                <a:solidFill>
                  <a:schemeClr val="tx1"/>
                </a:solidFill>
                <a:effectLst/>
                <a:latin typeface="Arial" panose="020B0604020202020204" pitchFamily="34" charset="0"/>
              </a:rPr>
              <a:t>GDP per capita doubles</a:t>
            </a:r>
            <a:r>
              <a:rPr kumimoji="0" lang="en-US" altLang="en-US" sz="1800" b="0" i="0" u="none" strike="noStrike" cap="none" normalizeH="0" baseline="0" dirty="0">
                <a:ln>
                  <a:noFill/>
                </a:ln>
                <a:solidFill>
                  <a:schemeClr val="tx1"/>
                </a:solidFill>
                <a:effectLst/>
                <a:latin typeface="Arial" panose="020B0604020202020204" pitchFamily="34" charset="0"/>
              </a:rPr>
              <a:t> (≈ 100% increase)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Life expectancy increases by </a:t>
            </a:r>
            <a:r>
              <a:rPr kumimoji="0" lang="en-US" altLang="en-US" sz="1800" b="1" i="0" u="none" strike="noStrike" cap="none" normalizeH="0" baseline="0" dirty="0">
                <a:ln>
                  <a:noFill/>
                </a:ln>
                <a:solidFill>
                  <a:schemeClr val="tx1"/>
                </a:solidFill>
                <a:effectLst/>
                <a:latin typeface="Arial" panose="020B0604020202020204" pitchFamily="34" charset="0"/>
              </a:rPr>
              <a:t>0.491 years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 </a:t>
            </a:r>
            <a:r>
              <a:rPr lang="en-US" altLang="en-US" b="1" dirty="0">
                <a:latin typeface="Arial" panose="020B0604020202020204" pitchFamily="34" charset="0"/>
              </a:rPr>
              <a:t>179</a:t>
            </a:r>
            <a:r>
              <a:rPr kumimoji="0" lang="en-US" altLang="en-US" sz="1800" b="1" i="0" u="none" strike="noStrike" cap="none" normalizeH="0" baseline="0" dirty="0">
                <a:ln>
                  <a:noFill/>
                </a:ln>
                <a:solidFill>
                  <a:schemeClr val="tx1"/>
                </a:solidFill>
                <a:effectLst/>
                <a:latin typeface="Arial" panose="020B0604020202020204" pitchFamily="34" charset="0"/>
              </a:rPr>
              <a:t> days</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1" i="0" u="none" strike="noStrike" cap="none" normalizeH="0" baseline="0" dirty="0">
                <a:ln>
                  <a:noFill/>
                </a:ln>
                <a:solidFill>
                  <a:schemeClr val="tx1"/>
                </a:solidFill>
                <a:effectLst/>
                <a:latin typeface="Arial" panose="020B0604020202020204" pitchFamily="34" charset="0"/>
              </a:rPr>
              <a:t>~6 months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178134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70117F1-F5B0-93B5-4458-6CE5C99BC595}"/>
              </a:ext>
            </a:extLst>
          </p:cNvPr>
          <p:cNvSpPr>
            <a:spLocks noGrp="1"/>
          </p:cNvSpPr>
          <p:nvPr>
            <p:ph type="ctrTitle"/>
          </p:nvPr>
        </p:nvSpPr>
        <p:spPr>
          <a:xfrm>
            <a:off x="826396" y="586855"/>
            <a:ext cx="4230100" cy="3387497"/>
          </a:xfrm>
        </p:spPr>
        <p:txBody>
          <a:bodyPr vert="horz" lIns="91440" tIns="45720" rIns="91440" bIns="45720" rtlCol="0" anchor="b">
            <a:normAutofit/>
          </a:bodyPr>
          <a:lstStyle/>
          <a:p>
            <a:pPr algn="r"/>
            <a:r>
              <a:rPr lang="en-US" sz="4000" kern="1200">
                <a:solidFill>
                  <a:srgbClr val="FFFFFF"/>
                </a:solidFill>
                <a:latin typeface="+mj-lt"/>
                <a:ea typeface="+mj-ea"/>
                <a:cs typeface="+mj-cs"/>
              </a:rPr>
              <a:t>FE regression with IV</a:t>
            </a:r>
            <a:br>
              <a:rPr lang="en-US" sz="4000" kern="1200">
                <a:solidFill>
                  <a:srgbClr val="FFFFFF"/>
                </a:solidFill>
                <a:latin typeface="+mj-lt"/>
                <a:ea typeface="+mj-ea"/>
                <a:cs typeface="+mj-cs"/>
              </a:rPr>
            </a:br>
            <a:r>
              <a:rPr lang="en-US" sz="4000" kern="1200">
                <a:solidFill>
                  <a:srgbClr val="FFFFFF"/>
                </a:solidFill>
                <a:latin typeface="+mj-lt"/>
                <a:ea typeface="+mj-ea"/>
                <a:cs typeface="+mj-cs"/>
              </a:rPr>
              <a:t>IV-s used:</a:t>
            </a:r>
          </a:p>
        </p:txBody>
      </p:sp>
      <p:sp>
        <p:nvSpPr>
          <p:cNvPr id="3" name="Subtitle 2">
            <a:extLst>
              <a:ext uri="{FF2B5EF4-FFF2-40B4-BE49-F238E27FC236}">
                <a16:creationId xmlns:a16="http://schemas.microsoft.com/office/drawing/2014/main" id="{616A774A-12F1-2DF7-4664-F08906373564}"/>
              </a:ext>
            </a:extLst>
          </p:cNvPr>
          <p:cNvSpPr>
            <a:spLocks noGrp="1"/>
          </p:cNvSpPr>
          <p:nvPr>
            <p:ph type="subTitle" idx="1"/>
          </p:nvPr>
        </p:nvSpPr>
        <p:spPr>
          <a:xfrm>
            <a:off x="6503158" y="254000"/>
            <a:ext cx="4862447" cy="6238240"/>
          </a:xfrm>
        </p:spPr>
        <p:txBody>
          <a:bodyPr vert="horz" lIns="91440" tIns="45720" rIns="91440" bIns="45720" rtlCol="0" anchor="ctr">
            <a:normAutofit/>
          </a:bodyPr>
          <a:lstStyle/>
          <a:p>
            <a:pPr indent="-228600" algn="l">
              <a:buFont typeface="Arial" panose="020B0604020202020204" pitchFamily="34" charset="0"/>
              <a:buChar char="•"/>
            </a:pPr>
            <a:r>
              <a:rPr lang="en-US" sz="2800" dirty="0"/>
              <a:t>Exports </a:t>
            </a:r>
          </a:p>
          <a:p>
            <a:pPr indent="-228600" algn="l">
              <a:buFont typeface="Arial" panose="020B0604020202020204" pitchFamily="34" charset="0"/>
              <a:buChar char="•"/>
            </a:pPr>
            <a:r>
              <a:rPr lang="en-US" sz="2800" dirty="0"/>
              <a:t>Foreign direct investment</a:t>
            </a:r>
          </a:p>
          <a:p>
            <a:pPr indent="-228600" algn="l">
              <a:buFont typeface="Arial" panose="020B0604020202020204" pitchFamily="34" charset="0"/>
              <a:buChar char="•"/>
            </a:pPr>
            <a:r>
              <a:rPr lang="en-US" sz="2800" i="1" dirty="0"/>
              <a:t>Why we thought they could be good instruments?</a:t>
            </a:r>
          </a:p>
          <a:p>
            <a:pPr indent="-228600" algn="l">
              <a:buFont typeface="Arial" panose="020B0604020202020204" pitchFamily="34" charset="0"/>
              <a:buChar char="•"/>
            </a:pPr>
            <a:r>
              <a:rPr lang="en-US" sz="2800" dirty="0"/>
              <a:t>When exports or FDI go up GDP per capita goes up holding other variables constant but they does not necessarily affect life expectancy, correlation with error term is not expected</a:t>
            </a:r>
          </a:p>
          <a:p>
            <a:pPr indent="-228600" algn="l">
              <a:buFont typeface="Arial" panose="020B0604020202020204" pitchFamily="34" charset="0"/>
              <a:buChar char="•"/>
            </a:pPr>
            <a:endParaRPr lang="en-US" sz="2000" dirty="0"/>
          </a:p>
        </p:txBody>
      </p:sp>
    </p:spTree>
    <p:extLst>
      <p:ext uri="{BB962C8B-B14F-4D97-AF65-F5344CB8AC3E}">
        <p14:creationId xmlns:p14="http://schemas.microsoft.com/office/powerpoint/2010/main" val="35986619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85F7A-AB19-E755-4882-9C5D4D872B0C}"/>
              </a:ext>
            </a:extLst>
          </p:cNvPr>
          <p:cNvSpPr>
            <a:spLocks noGrp="1"/>
          </p:cNvSpPr>
          <p:nvPr>
            <p:ph type="title"/>
          </p:nvPr>
        </p:nvSpPr>
        <p:spPr>
          <a:xfrm>
            <a:off x="307258" y="111952"/>
            <a:ext cx="10515600" cy="1325563"/>
          </a:xfrm>
        </p:spPr>
        <p:txBody>
          <a:bodyPr/>
          <a:lstStyle/>
          <a:p>
            <a:pPr algn="ctr"/>
            <a:r>
              <a:rPr lang="en-US" dirty="0"/>
              <a:t>FE+IV Regression</a:t>
            </a:r>
          </a:p>
        </p:txBody>
      </p:sp>
      <p:pic>
        <p:nvPicPr>
          <p:cNvPr id="5" name="Content Placeholder 4">
            <a:extLst>
              <a:ext uri="{FF2B5EF4-FFF2-40B4-BE49-F238E27FC236}">
                <a16:creationId xmlns:a16="http://schemas.microsoft.com/office/drawing/2014/main" id="{D20C4459-A87B-C7AC-D0CE-F57B1619F601}"/>
              </a:ext>
            </a:extLst>
          </p:cNvPr>
          <p:cNvPicPr>
            <a:picLocks noGrp="1" noChangeAspect="1"/>
          </p:cNvPicPr>
          <p:nvPr>
            <p:ph idx="1"/>
          </p:nvPr>
        </p:nvPicPr>
        <p:blipFill>
          <a:blip r:embed="rId2"/>
          <a:srcRect l="1" r="47823" b="-1432"/>
          <a:stretch>
            <a:fillRect/>
          </a:stretch>
        </p:blipFill>
        <p:spPr>
          <a:xfrm>
            <a:off x="437544" y="1342098"/>
            <a:ext cx="8542715" cy="404458"/>
          </a:xfrm>
        </p:spPr>
      </p:pic>
      <p:pic>
        <p:nvPicPr>
          <p:cNvPr id="7" name="Picture 6">
            <a:extLst>
              <a:ext uri="{FF2B5EF4-FFF2-40B4-BE49-F238E27FC236}">
                <a16:creationId xmlns:a16="http://schemas.microsoft.com/office/drawing/2014/main" id="{412CE9D9-87BF-5C99-488E-F5BFF770E789}"/>
              </a:ext>
            </a:extLst>
          </p:cNvPr>
          <p:cNvPicPr>
            <a:picLocks noChangeAspect="1"/>
          </p:cNvPicPr>
          <p:nvPr/>
        </p:nvPicPr>
        <p:blipFill>
          <a:blip r:embed="rId2"/>
          <a:srcRect l="51210" t="-32378" b="-1"/>
          <a:stretch>
            <a:fillRect/>
          </a:stretch>
        </p:blipFill>
        <p:spPr>
          <a:xfrm>
            <a:off x="441471" y="1746556"/>
            <a:ext cx="8534860" cy="567364"/>
          </a:xfrm>
          <a:prstGeom prst="rect">
            <a:avLst/>
          </a:prstGeom>
        </p:spPr>
      </p:pic>
      <p:pic>
        <p:nvPicPr>
          <p:cNvPr id="9" name="Picture 8">
            <a:extLst>
              <a:ext uri="{FF2B5EF4-FFF2-40B4-BE49-F238E27FC236}">
                <a16:creationId xmlns:a16="http://schemas.microsoft.com/office/drawing/2014/main" id="{17D55412-7524-F745-BDD7-DF83174E7CEC}"/>
              </a:ext>
            </a:extLst>
          </p:cNvPr>
          <p:cNvPicPr>
            <a:picLocks noChangeAspect="1"/>
          </p:cNvPicPr>
          <p:nvPr/>
        </p:nvPicPr>
        <p:blipFill>
          <a:blip r:embed="rId3"/>
          <a:stretch>
            <a:fillRect/>
          </a:stretch>
        </p:blipFill>
        <p:spPr>
          <a:xfrm>
            <a:off x="437544" y="2504764"/>
            <a:ext cx="10611788" cy="427227"/>
          </a:xfrm>
          <a:prstGeom prst="rect">
            <a:avLst/>
          </a:prstGeom>
        </p:spPr>
      </p:pic>
      <p:graphicFrame>
        <p:nvGraphicFramePr>
          <p:cNvPr id="10" name="Table 9">
            <a:extLst>
              <a:ext uri="{FF2B5EF4-FFF2-40B4-BE49-F238E27FC236}">
                <a16:creationId xmlns:a16="http://schemas.microsoft.com/office/drawing/2014/main" id="{B8E69C61-7B14-60EF-DB3A-1B1C8CF27791}"/>
              </a:ext>
            </a:extLst>
          </p:cNvPr>
          <p:cNvGraphicFramePr>
            <a:graphicFrameLocks noGrp="1"/>
          </p:cNvGraphicFramePr>
          <p:nvPr>
            <p:extLst>
              <p:ext uri="{D42A27DB-BD31-4B8C-83A1-F6EECF244321}">
                <p14:modId xmlns:p14="http://schemas.microsoft.com/office/powerpoint/2010/main" val="4018890500"/>
              </p:ext>
            </p:extLst>
          </p:nvPr>
        </p:nvGraphicFramePr>
        <p:xfrm>
          <a:off x="525876" y="3152176"/>
          <a:ext cx="5448204" cy="3502624"/>
        </p:xfrm>
        <a:graphic>
          <a:graphicData uri="http://schemas.openxmlformats.org/drawingml/2006/table">
            <a:tbl>
              <a:tblPr>
                <a:effectLst>
                  <a:outerShdw blurRad="50800" dist="38100" dir="2700000" algn="tl" rotWithShape="0">
                    <a:prstClr val="black">
                      <a:alpha val="40000"/>
                    </a:prstClr>
                  </a:outerShdw>
                </a:effectLst>
                <a:tableStyleId>{5C22544A-7EE6-4342-B048-85BDC9FD1C3A}</a:tableStyleId>
              </a:tblPr>
              <a:tblGrid>
                <a:gridCol w="778250">
                  <a:extLst>
                    <a:ext uri="{9D8B030D-6E8A-4147-A177-3AD203B41FA5}">
                      <a16:colId xmlns:a16="http://schemas.microsoft.com/office/drawing/2014/main" val="2207850005"/>
                    </a:ext>
                  </a:extLst>
                </a:gridCol>
                <a:gridCol w="954457">
                  <a:extLst>
                    <a:ext uri="{9D8B030D-6E8A-4147-A177-3AD203B41FA5}">
                      <a16:colId xmlns:a16="http://schemas.microsoft.com/office/drawing/2014/main" val="790475382"/>
                    </a:ext>
                  </a:extLst>
                </a:gridCol>
                <a:gridCol w="851670">
                  <a:extLst>
                    <a:ext uri="{9D8B030D-6E8A-4147-A177-3AD203B41FA5}">
                      <a16:colId xmlns:a16="http://schemas.microsoft.com/office/drawing/2014/main" val="2709071100"/>
                    </a:ext>
                  </a:extLst>
                </a:gridCol>
                <a:gridCol w="851670">
                  <a:extLst>
                    <a:ext uri="{9D8B030D-6E8A-4147-A177-3AD203B41FA5}">
                      <a16:colId xmlns:a16="http://schemas.microsoft.com/office/drawing/2014/main" val="1400515604"/>
                    </a:ext>
                  </a:extLst>
                </a:gridCol>
                <a:gridCol w="1027877">
                  <a:extLst>
                    <a:ext uri="{9D8B030D-6E8A-4147-A177-3AD203B41FA5}">
                      <a16:colId xmlns:a16="http://schemas.microsoft.com/office/drawing/2014/main" val="3947756928"/>
                    </a:ext>
                  </a:extLst>
                </a:gridCol>
                <a:gridCol w="984280">
                  <a:extLst>
                    <a:ext uri="{9D8B030D-6E8A-4147-A177-3AD203B41FA5}">
                      <a16:colId xmlns:a16="http://schemas.microsoft.com/office/drawing/2014/main" val="1185139143"/>
                    </a:ext>
                  </a:extLst>
                </a:gridCol>
              </a:tblGrid>
              <a:tr h="218914">
                <a:tc>
                  <a:txBody>
                    <a:bodyPr/>
                    <a:lstStyle/>
                    <a:p>
                      <a:pPr algn="ctr" fontAlgn="ctr">
                        <a:buNone/>
                      </a:pPr>
                      <a:r>
                        <a:rPr lang="en-US" sz="1100" u="none" strike="noStrike">
                          <a:effectLst/>
                        </a:rPr>
                        <a:t>Variable</a:t>
                      </a:r>
                      <a:endParaRPr lang="en-US" sz="1100" b="1" i="0" u="none" strike="noStrike">
                        <a:solidFill>
                          <a:srgbClr val="FFFFFF"/>
                        </a:solidFill>
                        <a:effectLst/>
                        <a:latin typeface="Calibri" panose="020F0502020204030204" pitchFamily="34" charset="0"/>
                      </a:endParaRPr>
                    </a:p>
                  </a:txBody>
                  <a:tcPr marL="7620" marR="7620" marT="7620" marB="0" anchor="ctr"/>
                </a:tc>
                <a:tc>
                  <a:txBody>
                    <a:bodyPr/>
                    <a:lstStyle/>
                    <a:p>
                      <a:pPr algn="ctr" fontAlgn="ctr">
                        <a:buNone/>
                      </a:pPr>
                      <a:r>
                        <a:rPr lang="en-US" sz="1100" u="none" strike="noStrike">
                          <a:effectLst/>
                        </a:rPr>
                        <a:t>Estimate</a:t>
                      </a:r>
                      <a:endParaRPr lang="en-US" sz="1100" b="1" i="0" u="none" strike="noStrike">
                        <a:solidFill>
                          <a:srgbClr val="FFFFFF"/>
                        </a:solidFill>
                        <a:effectLst/>
                        <a:latin typeface="Calibri" panose="020F0502020204030204" pitchFamily="34" charset="0"/>
                      </a:endParaRPr>
                    </a:p>
                  </a:txBody>
                  <a:tcPr marL="7620" marR="7620" marT="7620" marB="0" anchor="ctr"/>
                </a:tc>
                <a:tc>
                  <a:txBody>
                    <a:bodyPr/>
                    <a:lstStyle/>
                    <a:p>
                      <a:pPr algn="ctr" fontAlgn="ctr">
                        <a:buNone/>
                      </a:pPr>
                      <a:r>
                        <a:rPr lang="en-US" sz="1100" u="none" strike="noStrike">
                          <a:effectLst/>
                        </a:rPr>
                        <a:t>Std. Error</a:t>
                      </a:r>
                      <a:endParaRPr lang="en-US" sz="1100" b="1" i="0" u="none" strike="noStrike">
                        <a:solidFill>
                          <a:srgbClr val="FFFFFF"/>
                        </a:solidFill>
                        <a:effectLst/>
                        <a:latin typeface="Calibri" panose="020F0502020204030204" pitchFamily="34" charset="0"/>
                      </a:endParaRPr>
                    </a:p>
                  </a:txBody>
                  <a:tcPr marL="7620" marR="7620" marT="7620" marB="0" anchor="ctr"/>
                </a:tc>
                <a:tc>
                  <a:txBody>
                    <a:bodyPr/>
                    <a:lstStyle/>
                    <a:p>
                      <a:pPr algn="ctr" fontAlgn="ctr">
                        <a:buNone/>
                      </a:pPr>
                      <a:r>
                        <a:rPr lang="en-US" sz="1100" u="none" strike="noStrike">
                          <a:effectLst/>
                        </a:rPr>
                        <a:t>t value</a:t>
                      </a:r>
                      <a:endParaRPr lang="en-US" sz="1100" b="1" i="0" u="none" strike="noStrike">
                        <a:solidFill>
                          <a:srgbClr val="FFFFFF"/>
                        </a:solidFill>
                        <a:effectLst/>
                        <a:latin typeface="Calibri" panose="020F0502020204030204" pitchFamily="34" charset="0"/>
                      </a:endParaRPr>
                    </a:p>
                  </a:txBody>
                  <a:tcPr marL="7620" marR="7620" marT="7620" marB="0" anchor="ctr"/>
                </a:tc>
                <a:tc>
                  <a:txBody>
                    <a:bodyPr/>
                    <a:lstStyle/>
                    <a:p>
                      <a:pPr algn="ctr" fontAlgn="ctr">
                        <a:buNone/>
                      </a:pPr>
                      <a:r>
                        <a:rPr lang="en-US" sz="1100" u="none" strike="noStrike">
                          <a:effectLst/>
                        </a:rPr>
                        <a:t>p-value</a:t>
                      </a:r>
                      <a:endParaRPr lang="en-US" sz="1100" b="1" i="0" u="none" strike="noStrike">
                        <a:solidFill>
                          <a:srgbClr val="FFFFFF"/>
                        </a:solidFill>
                        <a:effectLst/>
                        <a:latin typeface="Calibri" panose="020F0502020204030204" pitchFamily="34" charset="0"/>
                      </a:endParaRPr>
                    </a:p>
                  </a:txBody>
                  <a:tcPr marL="7620" marR="7620" marT="7620" marB="0" anchor="ctr"/>
                </a:tc>
                <a:tc>
                  <a:txBody>
                    <a:bodyPr/>
                    <a:lstStyle/>
                    <a:p>
                      <a:pPr algn="ctr" fontAlgn="ctr">
                        <a:buNone/>
                      </a:pPr>
                      <a:r>
                        <a:rPr lang="en-US" sz="1100" u="none" strike="noStrike">
                          <a:effectLst/>
                        </a:rPr>
                        <a:t>Signif.</a:t>
                      </a:r>
                      <a:endParaRPr lang="en-US" sz="1100" b="1" i="0" u="none" strike="noStrike">
                        <a:solidFill>
                          <a:srgbClr val="FFFFFF"/>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87612257"/>
                  </a:ext>
                </a:extLst>
              </a:tr>
              <a:tr h="656742">
                <a:tc>
                  <a:txBody>
                    <a:bodyPr/>
                    <a:lstStyle/>
                    <a:p>
                      <a:pPr algn="l" fontAlgn="ctr">
                        <a:buNone/>
                      </a:pPr>
                      <a:r>
                        <a:rPr lang="en-US" sz="1100" u="none" strike="noStrike">
                          <a:effectLst/>
                        </a:rPr>
                        <a:t>fit_log(GDP_per_capita)</a:t>
                      </a:r>
                      <a:endParaRPr lang="en-US" sz="1100" b="1" i="0" u="none" strike="noStrike">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1.32</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0.62</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2.13</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0.038</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1601518"/>
                  </a:ext>
                </a:extLst>
              </a:tr>
              <a:tr h="437828">
                <a:tc>
                  <a:txBody>
                    <a:bodyPr/>
                    <a:lstStyle/>
                    <a:p>
                      <a:pPr algn="l" fontAlgn="ctr">
                        <a:buNone/>
                      </a:pPr>
                      <a:r>
                        <a:rPr lang="en-US" sz="1100" u="none" strike="noStrike">
                          <a:effectLst/>
                        </a:rPr>
                        <a:t>Immunization_DPT</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0.04</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0.01</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4.31</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0.00093</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04334851"/>
                  </a:ext>
                </a:extLst>
              </a:tr>
              <a:tr h="656742">
                <a:tc>
                  <a:txBody>
                    <a:bodyPr/>
                    <a:lstStyle/>
                    <a:p>
                      <a:pPr algn="l" fontAlgn="ctr">
                        <a:buNone/>
                      </a:pPr>
                      <a:r>
                        <a:rPr lang="en-US" sz="1100" u="none" strike="noStrike">
                          <a:effectLst/>
                        </a:rPr>
                        <a:t>Immunization_measles</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0.028</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0.0099</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b="0" i="0" u="none" strike="noStrike" dirty="0">
                          <a:solidFill>
                            <a:srgbClr val="000000"/>
                          </a:solidFill>
                          <a:effectLst/>
                          <a:latin typeface="Calibri" panose="020F0502020204030204" pitchFamily="34" charset="0"/>
                        </a:rPr>
                        <a:t>2.84</a:t>
                      </a:r>
                    </a:p>
                  </a:txBody>
                  <a:tcPr marL="7620" marR="7620" marT="7620" marB="0" anchor="ctr"/>
                </a:tc>
                <a:tc>
                  <a:txBody>
                    <a:bodyPr/>
                    <a:lstStyle/>
                    <a:p>
                      <a:pPr algn="r" fontAlgn="ctr">
                        <a:buNone/>
                      </a:pPr>
                      <a:r>
                        <a:rPr lang="en-US" sz="1100" u="none" strike="noStrike" dirty="0">
                          <a:effectLst/>
                        </a:rPr>
                        <a:t>0.0028</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774157109"/>
                  </a:ext>
                </a:extLst>
              </a:tr>
              <a:tr h="437828">
                <a:tc>
                  <a:txBody>
                    <a:bodyPr/>
                    <a:lstStyle/>
                    <a:p>
                      <a:pPr algn="l" fontAlgn="ctr">
                        <a:buNone/>
                      </a:pPr>
                      <a:r>
                        <a:rPr lang="en-US" sz="1100" u="none" strike="noStrike">
                          <a:effectLst/>
                        </a:rPr>
                        <a:t>Urban_population</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0.0032</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0.036</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0.088</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0.93</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707853156"/>
                  </a:ext>
                </a:extLst>
              </a:tr>
              <a:tr h="437828">
                <a:tc>
                  <a:txBody>
                    <a:bodyPr/>
                    <a:lstStyle/>
                    <a:p>
                      <a:pPr algn="l" fontAlgn="ctr">
                        <a:buNone/>
                      </a:pPr>
                      <a:r>
                        <a:rPr lang="en-US" sz="1100" u="none" strike="noStrike">
                          <a:effectLst/>
                        </a:rPr>
                        <a:t>Fertility_rate</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-1.08</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0.27</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-3.96</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r>
                        <a:rPr lang="en-US" sz="1100" u="none" strike="noStrike" dirty="0">
                          <a:effectLst/>
                        </a:rPr>
                        <a:t>2.76E-04</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100" u="none" strike="noStrike" dirty="0">
                          <a:effectLst/>
                        </a:rPr>
                        <a:t>***</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274887582"/>
                  </a:ext>
                </a:extLst>
              </a:tr>
              <a:tr h="656742">
                <a:tc>
                  <a:txBody>
                    <a:bodyPr/>
                    <a:lstStyle/>
                    <a:p>
                      <a:pPr algn="l" fontAlgn="ctr">
                        <a:buNone/>
                      </a:pPr>
                      <a:r>
                        <a:rPr lang="en-US" sz="1100" u="none" strike="noStrike" dirty="0" err="1">
                          <a:effectLst/>
                        </a:rPr>
                        <a:t>Signif</a:t>
                      </a:r>
                      <a:r>
                        <a:rPr lang="en-US" sz="1100" u="none" strike="noStrike" dirty="0">
                          <a:effectLst/>
                        </a:rPr>
                        <a:t>. Codes</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sz="1100" dirty="0"/>
                        <a:t>*** p&lt;0.001</a:t>
                      </a:r>
                      <a:endParaRPr lang="en-US" sz="1100" b="0" i="0" u="none" strike="noStrike" dirty="0">
                        <a:solidFill>
                          <a:srgbClr val="000000"/>
                        </a:solidFill>
                        <a:effectLst/>
                        <a:latin typeface="Calibri" panose="020F0502020204030204" pitchFamily="34" charset="0"/>
                      </a:endParaRPr>
                    </a:p>
                    <a:p>
                      <a:pPr algn="r" fontAlgn="ctr">
                        <a:buNone/>
                      </a:pP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sz="1100" dirty="0"/>
                        <a:t>** p&lt;0.01</a:t>
                      </a:r>
                      <a:endParaRPr lang="en-US" sz="1100" b="0" i="0" u="none" strike="noStrike" dirty="0">
                        <a:solidFill>
                          <a:srgbClr val="000000"/>
                        </a:solidFill>
                        <a:effectLst/>
                        <a:latin typeface="Calibri" panose="020F0502020204030204" pitchFamily="34" charset="0"/>
                      </a:endParaRPr>
                    </a:p>
                    <a:p>
                      <a:pPr algn="r" fontAlgn="ctr">
                        <a:buNone/>
                      </a:pP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sz="1100" dirty="0"/>
                        <a:t>. p&lt;0.1</a:t>
                      </a:r>
                      <a:endParaRPr lang="en-US" sz="1100" b="0" i="0" u="none" strike="noStrike" dirty="0">
                        <a:solidFill>
                          <a:srgbClr val="000000"/>
                        </a:solidFill>
                        <a:effectLst/>
                        <a:latin typeface="Calibri" panose="020F0502020204030204" pitchFamily="34" charset="0"/>
                      </a:endParaRPr>
                    </a:p>
                    <a:p>
                      <a:pPr algn="r" fontAlgn="ctr">
                        <a:buNone/>
                      </a:pP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fontAlgn="ctr">
                        <a:buNone/>
                      </a:pP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12900321"/>
                  </a:ext>
                </a:extLst>
              </a:tr>
            </a:tbl>
          </a:graphicData>
        </a:graphic>
      </p:graphicFrame>
      <p:sp>
        <p:nvSpPr>
          <p:cNvPr id="11" name="Rectangle 1">
            <a:extLst>
              <a:ext uri="{FF2B5EF4-FFF2-40B4-BE49-F238E27FC236}">
                <a16:creationId xmlns:a16="http://schemas.microsoft.com/office/drawing/2014/main" id="{26935EAE-AB91-F238-5F8B-27C0B0E91B8E}"/>
              </a:ext>
            </a:extLst>
          </p:cNvPr>
          <p:cNvSpPr>
            <a:spLocks noChangeArrowheads="1"/>
          </p:cNvSpPr>
          <p:nvPr/>
        </p:nvSpPr>
        <p:spPr bwMode="auto">
          <a:xfrm>
            <a:off x="5974080" y="3013677"/>
            <a:ext cx="671576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RMSE</a:t>
            </a:r>
            <a:r>
              <a:rPr kumimoji="0" lang="en-US" altLang="en-US" sz="1800" b="0" i="0" u="none" strike="noStrike" cap="none" normalizeH="0" baseline="0" dirty="0">
                <a:ln>
                  <a:noFill/>
                </a:ln>
                <a:solidFill>
                  <a:schemeClr val="tx1"/>
                </a:solidFill>
                <a:effectLst/>
                <a:latin typeface="Arial" panose="020B0604020202020204" pitchFamily="34" charset="0"/>
              </a:rPr>
              <a:t>: 1.99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Adjusted R²</a:t>
            </a:r>
            <a:r>
              <a:rPr kumimoji="0" lang="en-US" altLang="en-US" sz="1800" b="0" i="0" u="none" strike="noStrike" cap="none" normalizeH="0" baseline="0" dirty="0">
                <a:ln>
                  <a:noFill/>
                </a:ln>
                <a:solidFill>
                  <a:schemeClr val="tx1"/>
                </a:solidFill>
                <a:effectLst/>
                <a:latin typeface="Arial" panose="020B0604020202020204" pitchFamily="34" charset="0"/>
              </a:rPr>
              <a:t>: 0.952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Within R²</a:t>
            </a:r>
            <a:r>
              <a:rPr kumimoji="0" lang="en-US" altLang="en-US" sz="1800" b="0" i="0" u="none" strike="noStrike" cap="none" normalizeH="0" baseline="0" dirty="0">
                <a:ln>
                  <a:noFill/>
                </a:ln>
                <a:solidFill>
                  <a:schemeClr val="tx1"/>
                </a:solidFill>
                <a:effectLst/>
                <a:latin typeface="Arial" panose="020B0604020202020204" pitchFamily="34" charset="0"/>
              </a:rPr>
              <a:t>: 0.181</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dirty="0">
                <a:latin typeface="Arial" panose="020B0604020202020204" pitchFamily="34" charset="0"/>
              </a:rPr>
              <a:t>Observations: </a:t>
            </a:r>
            <a:r>
              <a:rPr lang="en-US" altLang="en-US" dirty="0">
                <a:latin typeface="Arial" panose="020B0604020202020204" pitchFamily="34" charset="0"/>
              </a:rPr>
              <a:t>6190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3" name="Graphic 12" descr="Research with solid fill">
            <a:extLst>
              <a:ext uri="{FF2B5EF4-FFF2-40B4-BE49-F238E27FC236}">
                <a16:creationId xmlns:a16="http://schemas.microsoft.com/office/drawing/2014/main" id="{E3EF5A9C-8B53-7456-9D07-13E85B0725D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30359" y="317534"/>
            <a:ext cx="914400" cy="914400"/>
          </a:xfrm>
          <a:prstGeom prst="rect">
            <a:avLst/>
          </a:prstGeom>
        </p:spPr>
      </p:pic>
    </p:spTree>
    <p:extLst>
      <p:ext uri="{BB962C8B-B14F-4D97-AF65-F5344CB8AC3E}">
        <p14:creationId xmlns:p14="http://schemas.microsoft.com/office/powerpoint/2010/main" val="256649564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5E46D-18BB-B640-AC51-38AE64A4106F}"/>
              </a:ext>
            </a:extLst>
          </p:cNvPr>
          <p:cNvSpPr>
            <a:spLocks noGrp="1"/>
          </p:cNvSpPr>
          <p:nvPr>
            <p:ph type="title"/>
          </p:nvPr>
        </p:nvSpPr>
        <p:spPr/>
        <p:txBody>
          <a:bodyPr/>
          <a:lstStyle/>
          <a:p>
            <a:r>
              <a:rPr lang="en-US" dirty="0"/>
              <a:t>Discussion of results of F.E. Regression with IV</a:t>
            </a:r>
          </a:p>
        </p:txBody>
      </p:sp>
      <p:graphicFrame>
        <p:nvGraphicFramePr>
          <p:cNvPr id="6" name="Content Placeholder 2">
            <a:extLst>
              <a:ext uri="{FF2B5EF4-FFF2-40B4-BE49-F238E27FC236}">
                <a16:creationId xmlns:a16="http://schemas.microsoft.com/office/drawing/2014/main" id="{F203BD79-F2F8-DEBC-CD19-525C90AE90CA}"/>
              </a:ext>
            </a:extLst>
          </p:cNvPr>
          <p:cNvGraphicFramePr>
            <a:graphicFrameLocks noGrp="1"/>
          </p:cNvGraphicFramePr>
          <p:nvPr>
            <p:ph idx="1"/>
            <p:extLst>
              <p:ext uri="{D42A27DB-BD31-4B8C-83A1-F6EECF244321}">
                <p14:modId xmlns:p14="http://schemas.microsoft.com/office/powerpoint/2010/main" val="4186710859"/>
              </p:ext>
            </p:extLst>
          </p:nvPr>
        </p:nvGraphicFramePr>
        <p:xfrm>
          <a:off x="502920" y="1784985"/>
          <a:ext cx="5857240" cy="45954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1">
            <a:extLst>
              <a:ext uri="{FF2B5EF4-FFF2-40B4-BE49-F238E27FC236}">
                <a16:creationId xmlns:a16="http://schemas.microsoft.com/office/drawing/2014/main" id="{65FBC710-AE62-9ACD-98A4-BFBD82EC0C81}"/>
              </a:ext>
            </a:extLst>
          </p:cNvPr>
          <p:cNvSpPr>
            <a:spLocks noChangeArrowheads="1"/>
          </p:cNvSpPr>
          <p:nvPr/>
        </p:nvSpPr>
        <p:spPr bwMode="auto">
          <a:xfrm>
            <a:off x="6764808" y="2551837"/>
            <a:ext cx="515112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First-stage F-stat = 2,514</a:t>
            </a:r>
            <a:r>
              <a:rPr kumimoji="0" lang="en-US" altLang="en-US" sz="1800" b="0" i="0" u="none" strike="noStrike" cap="none" normalizeH="0" baseline="0" dirty="0">
                <a:ln>
                  <a:noFill/>
                </a:ln>
                <a:solidFill>
                  <a:schemeClr val="tx1"/>
                </a:solidFill>
                <a:effectLst/>
                <a:latin typeface="Arial" panose="020B0604020202020204" pitchFamily="34" charset="0"/>
              </a:rPr>
              <a:t> → strong instruments (Stock-Yogo rule: F &gt; 10)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Wu–Hausman test (p = </a:t>
            </a:r>
            <a:r>
              <a:rPr lang="en-US" altLang="en-US" b="1" dirty="0">
                <a:latin typeface="Arial" panose="020B0604020202020204" pitchFamily="34" charset="0"/>
              </a:rPr>
              <a:t>5.3e-12</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 GDP per capita is clearly </a:t>
            </a:r>
            <a:r>
              <a:rPr kumimoji="0" lang="en-US" altLang="en-US" sz="1800" b="1" i="0" u="none" strike="noStrike" cap="none" normalizeH="0" baseline="0" dirty="0">
                <a:ln>
                  <a:noFill/>
                </a:ln>
                <a:solidFill>
                  <a:schemeClr val="tx1"/>
                </a:solidFill>
                <a:effectLst/>
                <a:latin typeface="Arial" panose="020B0604020202020204" pitchFamily="34" charset="0"/>
              </a:rPr>
              <a:t>endogenous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Sargan</a:t>
            </a:r>
            <a:r>
              <a:rPr kumimoji="0" lang="en-US" altLang="en-US" sz="1800" b="1" i="0" u="none" strike="noStrike" cap="none" normalizeH="0" baseline="0" dirty="0">
                <a:ln>
                  <a:noFill/>
                </a:ln>
                <a:solidFill>
                  <a:schemeClr val="tx1"/>
                </a:solidFill>
                <a:effectLst/>
                <a:latin typeface="Arial" panose="020B0604020202020204" pitchFamily="34" charset="0"/>
              </a:rPr>
              <a:t> test (p = 0.87)</a:t>
            </a:r>
            <a:r>
              <a:rPr kumimoji="0" lang="en-US" altLang="en-US" sz="1800" b="0" i="0" u="none" strike="noStrike" cap="none" normalizeH="0" baseline="0" dirty="0">
                <a:ln>
                  <a:noFill/>
                </a:ln>
                <a:solidFill>
                  <a:schemeClr val="tx1"/>
                </a:solidFill>
                <a:effectLst/>
                <a:latin typeface="Arial" panose="020B0604020202020204" pitchFamily="34" charset="0"/>
              </a:rPr>
              <a:t> → instruments are </a:t>
            </a:r>
            <a:r>
              <a:rPr kumimoji="0" lang="en-US" altLang="en-US" sz="1800" b="1" i="0" u="none" strike="noStrike" cap="none" normalizeH="0" baseline="0" dirty="0">
                <a:ln>
                  <a:noFill/>
                </a:ln>
                <a:solidFill>
                  <a:schemeClr val="tx1"/>
                </a:solidFill>
                <a:effectLst/>
                <a:latin typeface="Arial" panose="020B0604020202020204" pitchFamily="34" charset="0"/>
              </a:rPr>
              <a:t>valid and uncorrelated with the error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39361260"/>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9C57EA9-DBF9-6DFE-7355-BD4AA9A5EA25}"/>
              </a:ext>
            </a:extLst>
          </p:cNvPr>
          <p:cNvSpPr>
            <a:spLocks noGrp="1"/>
          </p:cNvSpPr>
          <p:nvPr>
            <p:ph type="ctrTitle"/>
          </p:nvPr>
        </p:nvSpPr>
        <p:spPr>
          <a:xfrm>
            <a:off x="1314824" y="735106"/>
            <a:ext cx="10053763" cy="2928470"/>
          </a:xfrm>
        </p:spPr>
        <p:txBody>
          <a:bodyPr vert="horz" lIns="91440" tIns="45720" rIns="91440" bIns="45720" rtlCol="0" anchor="b">
            <a:normAutofit/>
          </a:bodyPr>
          <a:lstStyle/>
          <a:p>
            <a:pPr algn="l"/>
            <a:r>
              <a:rPr lang="en-US" sz="4800" kern="1200">
                <a:solidFill>
                  <a:srgbClr val="FFFFFF"/>
                </a:solidFill>
                <a:latin typeface="+mj-lt"/>
                <a:ea typeface="+mj-ea"/>
                <a:cs typeface="+mj-cs"/>
              </a:rPr>
              <a:t>Interpretation of coefficient of GDP per capita after eliminating bias coming from fixed effects and omitted variables:</a:t>
            </a:r>
          </a:p>
        </p:txBody>
      </p:sp>
      <p:sp>
        <p:nvSpPr>
          <p:cNvPr id="3" name="Subtitle 2">
            <a:extLst>
              <a:ext uri="{FF2B5EF4-FFF2-40B4-BE49-F238E27FC236}">
                <a16:creationId xmlns:a16="http://schemas.microsoft.com/office/drawing/2014/main" id="{E6884220-CCA7-8374-E3A1-29C1393D80AF}"/>
              </a:ext>
            </a:extLst>
          </p:cNvPr>
          <p:cNvSpPr>
            <a:spLocks noGrp="1"/>
          </p:cNvSpPr>
          <p:nvPr>
            <p:ph type="subTitle" idx="1"/>
          </p:nvPr>
        </p:nvSpPr>
        <p:spPr>
          <a:xfrm>
            <a:off x="1350682" y="4870824"/>
            <a:ext cx="10005951" cy="1458258"/>
          </a:xfrm>
        </p:spPr>
        <p:txBody>
          <a:bodyPr vert="horz" lIns="91440" tIns="45720" rIns="91440" bIns="45720" rtlCol="0" anchor="ctr">
            <a:normAutofit/>
          </a:bodyPr>
          <a:lstStyle/>
          <a:p>
            <a:pPr lvl="0" indent="-228600" algn="l" fontAlgn="base">
              <a:spcBef>
                <a:spcPct val="0"/>
              </a:spcBef>
              <a:spcAft>
                <a:spcPct val="0"/>
              </a:spcAft>
              <a:buFont typeface="Arial" panose="020B0604020202020204" pitchFamily="34" charset="0"/>
              <a:buChar char="•"/>
            </a:pPr>
            <a:r>
              <a:rPr lang="en-US" altLang="en-US" sz="1900" dirty="0"/>
              <a:t>A </a:t>
            </a:r>
            <a:r>
              <a:rPr lang="en-US" altLang="en-US" sz="1900" b="1" dirty="0"/>
              <a:t>1% increase</a:t>
            </a:r>
            <a:r>
              <a:rPr lang="en-US" altLang="en-US" sz="1900" dirty="0"/>
              <a:t> in GDP per capita → </a:t>
            </a:r>
            <a:r>
              <a:rPr lang="en-US" altLang="en-US" sz="1900" b="1" dirty="0"/>
              <a:t>+0.0132 years</a:t>
            </a:r>
            <a:r>
              <a:rPr lang="en-US" altLang="en-US" sz="1900" dirty="0"/>
              <a:t> of life expectancy</a:t>
            </a:r>
            <a:br>
              <a:rPr lang="en-US" altLang="en-US" sz="1900" dirty="0"/>
            </a:br>
            <a:r>
              <a:rPr lang="en-US" altLang="en-US" sz="1900" dirty="0"/>
              <a:t>→ ≈ </a:t>
            </a:r>
            <a:r>
              <a:rPr lang="en-US" altLang="en-US" sz="1900" b="1" dirty="0"/>
              <a:t>54.8 extra days of life</a:t>
            </a:r>
            <a:endParaRPr lang="en-US" altLang="en-US" sz="1900" dirty="0"/>
          </a:p>
          <a:p>
            <a:pPr lvl="0" indent="-228600" algn="l" fontAlgn="base">
              <a:spcBef>
                <a:spcPct val="0"/>
              </a:spcBef>
              <a:spcAft>
                <a:spcPct val="0"/>
              </a:spcAft>
              <a:buFont typeface="Arial" panose="020B0604020202020204" pitchFamily="34" charset="0"/>
              <a:buChar char="•"/>
            </a:pPr>
            <a:r>
              <a:rPr lang="en-US" altLang="en-US" sz="1900" dirty="0"/>
              <a:t>If </a:t>
            </a:r>
            <a:r>
              <a:rPr lang="en-US" altLang="en-US" sz="1900" b="1" dirty="0"/>
              <a:t>GDP per capita doubles</a:t>
            </a:r>
            <a:r>
              <a:rPr lang="en-US" altLang="en-US" sz="1900" dirty="0"/>
              <a:t> (≈ 100% increase) →</a:t>
            </a:r>
            <a:br>
              <a:rPr lang="en-US" altLang="en-US" sz="1900" dirty="0"/>
            </a:br>
            <a:r>
              <a:rPr lang="en-US" altLang="en-US" sz="1900" dirty="0"/>
              <a:t>Life expectancy increases by </a:t>
            </a:r>
            <a:r>
              <a:rPr lang="en-US" altLang="en-US" sz="1900" b="1" dirty="0"/>
              <a:t>0.922 years</a:t>
            </a:r>
            <a:br>
              <a:rPr lang="en-US" altLang="en-US" sz="1900" dirty="0"/>
            </a:br>
            <a:r>
              <a:rPr lang="en-US" altLang="en-US" sz="1900" dirty="0"/>
              <a:t>→ ≈ </a:t>
            </a:r>
            <a:r>
              <a:rPr lang="en-US" altLang="en-US" sz="1900" b="1" dirty="0"/>
              <a:t>336.5 days</a:t>
            </a:r>
            <a:r>
              <a:rPr lang="en-US" altLang="en-US" sz="1900" dirty="0"/>
              <a:t> or </a:t>
            </a:r>
            <a:r>
              <a:rPr lang="en-US" altLang="en-US" sz="1900" b="1" dirty="0"/>
              <a:t>~11.2 months</a:t>
            </a:r>
            <a:endParaRPr lang="en-US" altLang="en-US" sz="1900" dirty="0"/>
          </a:p>
          <a:p>
            <a:pPr indent="-228600" algn="l">
              <a:buFont typeface="Arial" panose="020B0604020202020204" pitchFamily="34" charset="0"/>
              <a:buChar char="•"/>
            </a:pPr>
            <a:endParaRPr lang="en-US" sz="1900" dirty="0"/>
          </a:p>
        </p:txBody>
      </p:sp>
    </p:spTree>
    <p:extLst>
      <p:ext uri="{BB962C8B-B14F-4D97-AF65-F5344CB8AC3E}">
        <p14:creationId xmlns:p14="http://schemas.microsoft.com/office/powerpoint/2010/main" val="995137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55F1F3-3594-BF31-8D2A-40D7C6BE2C9F}"/>
              </a:ext>
            </a:extLst>
          </p:cNvPr>
          <p:cNvSpPr>
            <a:spLocks noGrp="1"/>
          </p:cNvSpPr>
          <p:nvPr>
            <p:ph type="title"/>
          </p:nvPr>
        </p:nvSpPr>
        <p:spPr>
          <a:xfrm>
            <a:off x="4553734" y="213360"/>
            <a:ext cx="6798541" cy="791527"/>
          </a:xfrm>
        </p:spPr>
        <p:txBody>
          <a:bodyPr anchor="b">
            <a:normAutofit/>
          </a:bodyPr>
          <a:lstStyle/>
          <a:p>
            <a:r>
              <a:rPr lang="en-US" sz="4000" u="sng" dirty="0"/>
              <a:t>Conclusion</a:t>
            </a:r>
          </a:p>
        </p:txBody>
      </p:sp>
      <p:pic>
        <p:nvPicPr>
          <p:cNvPr id="9" name="Picture 8">
            <a:extLst>
              <a:ext uri="{FF2B5EF4-FFF2-40B4-BE49-F238E27FC236}">
                <a16:creationId xmlns:a16="http://schemas.microsoft.com/office/drawing/2014/main" id="{83C400E2-DBDD-DC93-EF47-874AFC5CE2D4}"/>
              </a:ext>
            </a:extLst>
          </p:cNvPr>
          <p:cNvPicPr>
            <a:picLocks noChangeAspect="1"/>
          </p:cNvPicPr>
          <p:nvPr/>
        </p:nvPicPr>
        <p:blipFill>
          <a:blip r:embed="rId2"/>
          <a:srcRect l="34354" r="24800" b="-1"/>
          <a:stretch>
            <a:fillRect/>
          </a:stretch>
        </p:blipFill>
        <p:spPr>
          <a:xfrm>
            <a:off x="1" y="10"/>
            <a:ext cx="4196496" cy="6857990"/>
          </a:xfrm>
          <a:prstGeom prst="rect">
            <a:avLst/>
          </a:prstGeom>
          <a:effectLst/>
        </p:spPr>
      </p:pic>
      <p:graphicFrame>
        <p:nvGraphicFramePr>
          <p:cNvPr id="7" name="Content Placeholder 2">
            <a:extLst>
              <a:ext uri="{FF2B5EF4-FFF2-40B4-BE49-F238E27FC236}">
                <a16:creationId xmlns:a16="http://schemas.microsoft.com/office/drawing/2014/main" id="{20DE30B3-D13F-47CF-392E-4D92EB9ACB5B}"/>
              </a:ext>
            </a:extLst>
          </p:cNvPr>
          <p:cNvGraphicFramePr>
            <a:graphicFrameLocks noGrp="1"/>
          </p:cNvGraphicFramePr>
          <p:nvPr>
            <p:ph idx="1"/>
            <p:extLst>
              <p:ext uri="{D42A27DB-BD31-4B8C-83A1-F6EECF244321}">
                <p14:modId xmlns:p14="http://schemas.microsoft.com/office/powerpoint/2010/main" val="1039928475"/>
              </p:ext>
            </p:extLst>
          </p:nvPr>
        </p:nvGraphicFramePr>
        <p:xfrm>
          <a:off x="4553734" y="1097280"/>
          <a:ext cx="7252186" cy="50177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63333067"/>
      </p:ext>
    </p:extLst>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D9D36D6-2AC5-46A1-A849-4C82D5264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86439BE-08B0-A9C3-FB4D-A276C5073F64}"/>
              </a:ext>
            </a:extLst>
          </p:cNvPr>
          <p:cNvSpPr>
            <a:spLocks noGrp="1"/>
          </p:cNvSpPr>
          <p:nvPr>
            <p:ph type="ctrTitle"/>
          </p:nvPr>
        </p:nvSpPr>
        <p:spPr>
          <a:xfrm>
            <a:off x="5118981" y="139228"/>
            <a:ext cx="5998840" cy="2210682"/>
          </a:xfrm>
          <a:noFill/>
        </p:spPr>
        <p:txBody>
          <a:bodyPr>
            <a:normAutofit/>
          </a:bodyPr>
          <a:lstStyle/>
          <a:p>
            <a:pPr algn="l"/>
            <a:r>
              <a:rPr lang="en-US" sz="3600" dirty="0"/>
              <a:t>Will government’s decision to increase fiscal spending in question increase life expectancy?</a:t>
            </a:r>
            <a:endParaRPr lang="ru-RU" sz="3600" dirty="0"/>
          </a:p>
        </p:txBody>
      </p:sp>
      <p:sp>
        <p:nvSpPr>
          <p:cNvPr id="3" name="Subtitle 2">
            <a:extLst>
              <a:ext uri="{FF2B5EF4-FFF2-40B4-BE49-F238E27FC236}">
                <a16:creationId xmlns:a16="http://schemas.microsoft.com/office/drawing/2014/main" id="{FCA36A85-44A4-9510-0298-E560C1DA0BCE}"/>
              </a:ext>
            </a:extLst>
          </p:cNvPr>
          <p:cNvSpPr>
            <a:spLocks noGrp="1"/>
          </p:cNvSpPr>
          <p:nvPr>
            <p:ph type="subTitle" idx="1"/>
          </p:nvPr>
        </p:nvSpPr>
        <p:spPr>
          <a:xfrm>
            <a:off x="5207471" y="2395466"/>
            <a:ext cx="5998840" cy="2067068"/>
          </a:xfrm>
          <a:noFill/>
        </p:spPr>
        <p:txBody>
          <a:bodyPr>
            <a:normAutofit/>
          </a:bodyPr>
          <a:lstStyle/>
          <a:p>
            <a:pPr algn="l"/>
            <a:r>
              <a:rPr lang="en-US" sz="2200" dirty="0"/>
              <a:t>We have clear evidence that this kind of increase in GDP will result in increase in GDP per capita, for that reason we proved that GDP per capita has statistically significant effect on life expectancy and managed to find its positive causal effect on it.</a:t>
            </a:r>
            <a:endParaRPr lang="ru-RU" sz="2200" dirty="0"/>
          </a:p>
        </p:txBody>
      </p:sp>
      <p:pic>
        <p:nvPicPr>
          <p:cNvPr id="14" name="Picture 13" descr="Magnifying glass and question mark">
            <a:extLst>
              <a:ext uri="{FF2B5EF4-FFF2-40B4-BE49-F238E27FC236}">
                <a16:creationId xmlns:a16="http://schemas.microsoft.com/office/drawing/2014/main" id="{F339E94E-140E-56E9-30B4-1FD65B38DB22}"/>
              </a:ext>
            </a:extLst>
          </p:cNvPr>
          <p:cNvPicPr>
            <a:picLocks noChangeAspect="1"/>
          </p:cNvPicPr>
          <p:nvPr/>
        </p:nvPicPr>
        <p:blipFill>
          <a:blip r:embed="rId2"/>
          <a:srcRect l="31348" r="27699"/>
          <a:stretch>
            <a:fillRect/>
          </a:stretch>
        </p:blipFill>
        <p:spPr>
          <a:xfrm>
            <a:off x="20" y="10"/>
            <a:ext cx="4992985" cy="6857990"/>
          </a:xfrm>
          <a:prstGeom prst="rect">
            <a:avLst/>
          </a:prstGeom>
        </p:spPr>
      </p:pic>
      <p:sp>
        <p:nvSpPr>
          <p:cNvPr id="4" name="TextBox 3">
            <a:extLst>
              <a:ext uri="{FF2B5EF4-FFF2-40B4-BE49-F238E27FC236}">
                <a16:creationId xmlns:a16="http://schemas.microsoft.com/office/drawing/2014/main" id="{CFCE3370-9074-E9CC-C575-BEE01F5177BD}"/>
              </a:ext>
            </a:extLst>
          </p:cNvPr>
          <p:cNvSpPr txBox="1"/>
          <p:nvPr/>
        </p:nvSpPr>
        <p:spPr>
          <a:xfrm>
            <a:off x="5207471" y="4318115"/>
            <a:ext cx="4310155" cy="2400657"/>
          </a:xfrm>
          <a:prstGeom prst="rect">
            <a:avLst/>
          </a:prstGeom>
          <a:noFill/>
        </p:spPr>
        <p:txBody>
          <a:bodyPr wrap="square" rtlCol="0">
            <a:spAutoFit/>
          </a:bodyPr>
          <a:lstStyle/>
          <a:p>
            <a:r>
              <a:rPr lang="en-US" sz="2200" b="1" dirty="0"/>
              <a:t>Policy Implication:</a:t>
            </a:r>
            <a:endParaRPr lang="en-US" sz="2200" dirty="0"/>
          </a:p>
          <a:p>
            <a:r>
              <a:rPr lang="en-US" sz="2200" dirty="0"/>
              <a:t>Long-term fiscal policies that boost GDP per capita (e.g., infrastructure, health systems, education) are likely to </a:t>
            </a:r>
            <a:r>
              <a:rPr lang="en-US" sz="2200" b="1" dirty="0"/>
              <a:t>improve population health and longevity</a:t>
            </a:r>
            <a:r>
              <a:rPr lang="en-US" sz="2200" dirty="0"/>
              <a:t>.</a:t>
            </a:r>
          </a:p>
          <a:p>
            <a:endParaRPr lang="ru-RU" dirty="0"/>
          </a:p>
        </p:txBody>
      </p:sp>
    </p:spTree>
    <p:extLst>
      <p:ext uri="{BB962C8B-B14F-4D97-AF65-F5344CB8AC3E}">
        <p14:creationId xmlns:p14="http://schemas.microsoft.com/office/powerpoint/2010/main" val="28561929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A7895A40-19A4-42D6-9D30-DBC1E8002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2F429C4-ABC9-46FC-818A-B5429CDE4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70325" y="3369273"/>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CEF98E4-3709-4952-8F42-2305CCE34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74475" y="1040470"/>
            <a:ext cx="6858003" cy="47770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10BCCF5-D685-47FF-B675-647EAEB72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7914" y="857786"/>
            <a:ext cx="11067024" cy="5208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3C23D8-E102-0AE9-19ED-726F6710E032}"/>
              </a:ext>
            </a:extLst>
          </p:cNvPr>
          <p:cNvSpPr>
            <a:spLocks noGrp="1"/>
          </p:cNvSpPr>
          <p:nvPr>
            <p:ph type="title"/>
          </p:nvPr>
        </p:nvSpPr>
        <p:spPr>
          <a:xfrm>
            <a:off x="987689" y="3071183"/>
            <a:ext cx="9910296" cy="2590027"/>
          </a:xfrm>
        </p:spPr>
        <p:txBody>
          <a:bodyPr vert="horz" lIns="91440" tIns="45720" rIns="91440" bIns="45720" rtlCol="0" anchor="t">
            <a:normAutofit/>
          </a:bodyPr>
          <a:lstStyle/>
          <a:p>
            <a:r>
              <a:rPr lang="en-US" sz="8000" kern="1200" dirty="0">
                <a:solidFill>
                  <a:schemeClr val="tx1"/>
                </a:solidFill>
                <a:latin typeface="+mj-lt"/>
                <a:ea typeface="+mj-ea"/>
                <a:cs typeface="+mj-cs"/>
              </a:rPr>
              <a:t>Thank you for your attention!</a:t>
            </a:r>
          </a:p>
        </p:txBody>
      </p:sp>
      <p:sp>
        <p:nvSpPr>
          <p:cNvPr id="15" name="Rectangle 14">
            <a:extLst>
              <a:ext uri="{FF2B5EF4-FFF2-40B4-BE49-F238E27FC236}">
                <a16:creationId xmlns:a16="http://schemas.microsoft.com/office/drawing/2014/main" id="{B0EE8A42-107A-4D4C-8D56-BBAE95C7F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24009" y="3366125"/>
            <a:ext cx="32004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7462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CF3FF5-2F2F-47A8-FAD6-332D1C81E925}"/>
              </a:ext>
            </a:extLst>
          </p:cNvPr>
          <p:cNvSpPr>
            <a:spLocks noGrp="1"/>
          </p:cNvSpPr>
          <p:nvPr>
            <p:ph type="ctrTitle"/>
          </p:nvPr>
        </p:nvSpPr>
        <p:spPr>
          <a:xfrm>
            <a:off x="6188668" y="0"/>
            <a:ext cx="4840010" cy="1034510"/>
          </a:xfrm>
        </p:spPr>
        <p:txBody>
          <a:bodyPr vert="horz" lIns="91440" tIns="45720" rIns="91440" bIns="45720" rtlCol="0" anchor="ctr">
            <a:normAutofit/>
          </a:bodyPr>
          <a:lstStyle/>
          <a:p>
            <a:pPr algn="l"/>
            <a:r>
              <a:rPr lang="en-US" sz="4400" dirty="0"/>
              <a:t>Bibliography</a:t>
            </a:r>
          </a:p>
        </p:txBody>
      </p:sp>
      <p:pic>
        <p:nvPicPr>
          <p:cNvPr id="5" name="Picture 4" descr="Books stacked on a table">
            <a:extLst>
              <a:ext uri="{FF2B5EF4-FFF2-40B4-BE49-F238E27FC236}">
                <a16:creationId xmlns:a16="http://schemas.microsoft.com/office/drawing/2014/main" id="{CC0104ED-7ED6-584A-31CB-46870D833530}"/>
              </a:ext>
            </a:extLst>
          </p:cNvPr>
          <p:cNvPicPr>
            <a:picLocks noChangeAspect="1"/>
          </p:cNvPicPr>
          <p:nvPr/>
        </p:nvPicPr>
        <p:blipFill>
          <a:blip r:embed="rId2"/>
          <a:srcRect l="21226" r="19239"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Subtitle 2">
            <a:extLst>
              <a:ext uri="{FF2B5EF4-FFF2-40B4-BE49-F238E27FC236}">
                <a16:creationId xmlns:a16="http://schemas.microsoft.com/office/drawing/2014/main" id="{B7A420AB-D798-21B3-BD1C-28DBE028DADD}"/>
              </a:ext>
            </a:extLst>
          </p:cNvPr>
          <p:cNvSpPr>
            <a:spLocks noGrp="1"/>
          </p:cNvSpPr>
          <p:nvPr>
            <p:ph type="subTitle" idx="1"/>
          </p:nvPr>
        </p:nvSpPr>
        <p:spPr>
          <a:xfrm>
            <a:off x="5674974" y="843280"/>
            <a:ext cx="5867398" cy="5405120"/>
          </a:xfrm>
        </p:spPr>
        <p:txBody>
          <a:bodyPr vert="horz" lIns="91440" tIns="45720" rIns="91440" bIns="45720" rtlCol="0">
            <a:noAutofit/>
          </a:bodyPr>
          <a:lstStyle/>
          <a:p>
            <a:pPr indent="-228600" algn="l">
              <a:buFont typeface="Arial" panose="020B0604020202020204" pitchFamily="34" charset="0"/>
              <a:buChar char="•"/>
            </a:pPr>
            <a:r>
              <a:rPr lang="en-US" sz="1200" dirty="0"/>
              <a:t>World Bank. (n.d.). </a:t>
            </a:r>
            <a:r>
              <a:rPr lang="en-US" sz="1200" i="1" dirty="0"/>
              <a:t>World Development Indicators</a:t>
            </a:r>
            <a:r>
              <a:rPr lang="en-US" sz="1200" dirty="0"/>
              <a:t> [Dataset]. Retrieved July 2025, from </a:t>
            </a:r>
            <a:r>
              <a:rPr lang="en-US" sz="1200" dirty="0">
                <a:hlinkClick r:id="rId3"/>
              </a:rPr>
              <a:t>https://databank.worldbank.org/source/world-development-indicators</a:t>
            </a:r>
            <a:endParaRPr lang="en-US" sz="1200" dirty="0"/>
          </a:p>
          <a:p>
            <a:pPr indent="-228600" algn="l">
              <a:buFont typeface="Arial" panose="020B0604020202020204" pitchFamily="34" charset="0"/>
              <a:buChar char="•"/>
            </a:pPr>
            <a:endParaRPr lang="en-US" sz="1200" dirty="0"/>
          </a:p>
          <a:p>
            <a:pPr indent="-228600" algn="l">
              <a:buFont typeface="Arial" panose="020B0604020202020204" pitchFamily="34" charset="0"/>
              <a:buChar char="•"/>
            </a:pPr>
            <a:r>
              <a:rPr lang="en-US" sz="1200" dirty="0"/>
              <a:t>Wickham, H., François, R., Henry, L., &amp; Müller, K. (2023). </a:t>
            </a:r>
            <a:r>
              <a:rPr lang="en-US" sz="1200" b="1" i="1" dirty="0" err="1"/>
              <a:t>dplyr</a:t>
            </a:r>
            <a:r>
              <a:rPr lang="en-US" sz="1200" i="1" dirty="0"/>
              <a:t>: A grammar of data manipulation</a:t>
            </a:r>
            <a:r>
              <a:rPr lang="en-US" sz="1200" dirty="0"/>
              <a:t> (R package version 1.1.0) [Computer software]. https://CRAN.R-project.org/package=dplyr</a:t>
            </a:r>
          </a:p>
          <a:p>
            <a:pPr indent="-228600" algn="l">
              <a:buFont typeface="Arial" panose="020B0604020202020204" pitchFamily="34" charset="0"/>
              <a:buChar char="•"/>
            </a:pPr>
            <a:r>
              <a:rPr lang="en-US" sz="1200" dirty="0"/>
              <a:t>Wickham, H., &amp; </a:t>
            </a:r>
            <a:r>
              <a:rPr lang="en-US" sz="1200" dirty="0" err="1"/>
              <a:t>Girlich</a:t>
            </a:r>
            <a:r>
              <a:rPr lang="en-US" sz="1200" dirty="0"/>
              <a:t>, M. (2024). </a:t>
            </a:r>
            <a:r>
              <a:rPr lang="en-US" sz="1200" b="1" i="1" dirty="0" err="1"/>
              <a:t>tidyr</a:t>
            </a:r>
            <a:r>
              <a:rPr lang="en-US" sz="1200" i="1" dirty="0"/>
              <a:t>: Tidy messy data</a:t>
            </a:r>
            <a:r>
              <a:rPr lang="en-US" sz="1200" dirty="0"/>
              <a:t> (R package version 1.3.0) [Computer software]. </a:t>
            </a:r>
            <a:r>
              <a:rPr lang="en-US" sz="1200" dirty="0">
                <a:hlinkClick r:id="rId4"/>
              </a:rPr>
              <a:t>https://CRAN.R-project.org/package=tidyr</a:t>
            </a:r>
            <a:endParaRPr lang="en-US" sz="1200" dirty="0"/>
          </a:p>
          <a:p>
            <a:pPr indent="-228600" algn="l">
              <a:buFont typeface="Arial" panose="020B0604020202020204" pitchFamily="34" charset="0"/>
              <a:buChar char="•"/>
            </a:pPr>
            <a:endParaRPr lang="en-US" sz="1200" dirty="0"/>
          </a:p>
          <a:p>
            <a:pPr indent="-228600" algn="l">
              <a:buFont typeface="Arial" panose="020B0604020202020204" pitchFamily="34" charset="0"/>
              <a:buChar char="•"/>
            </a:pPr>
            <a:r>
              <a:rPr lang="en-US" sz="1200" dirty="0"/>
              <a:t>Wickham, H. (2016). </a:t>
            </a:r>
            <a:r>
              <a:rPr lang="en-US" sz="1200" b="1" i="1" dirty="0"/>
              <a:t>ggplot2</a:t>
            </a:r>
            <a:r>
              <a:rPr lang="en-US" sz="1200" i="1" dirty="0"/>
              <a:t>: Elegant graphics for data analysis</a:t>
            </a:r>
            <a:r>
              <a:rPr lang="en-US" sz="1200" dirty="0"/>
              <a:t> (R package version 3.4.2) [Computer software]. </a:t>
            </a:r>
            <a:r>
              <a:rPr lang="en-US" sz="1200" dirty="0">
                <a:hlinkClick r:id="rId5"/>
              </a:rPr>
              <a:t>https://CRAN.R-project.org/package=ggplot2</a:t>
            </a:r>
            <a:endParaRPr lang="en-US" sz="1200" dirty="0"/>
          </a:p>
          <a:p>
            <a:pPr indent="-228600" algn="l">
              <a:buFont typeface="Arial" panose="020B0604020202020204" pitchFamily="34" charset="0"/>
              <a:buChar char="•"/>
            </a:pPr>
            <a:endParaRPr lang="en-US" sz="1200" dirty="0"/>
          </a:p>
          <a:p>
            <a:pPr indent="-228600" algn="l">
              <a:buFont typeface="Arial" panose="020B0604020202020204" pitchFamily="34" charset="0"/>
              <a:buChar char="•"/>
            </a:pPr>
            <a:r>
              <a:rPr lang="en-US" sz="1200" dirty="0"/>
              <a:t>Correia, S. (2019). </a:t>
            </a:r>
            <a:r>
              <a:rPr lang="en-US" sz="1200" b="1" i="1" dirty="0" err="1"/>
              <a:t>fixest</a:t>
            </a:r>
            <a:r>
              <a:rPr lang="en-US" sz="1200" i="1" dirty="0"/>
              <a:t>: Fast fixed-effects estimation</a:t>
            </a:r>
            <a:r>
              <a:rPr lang="en-US" sz="1200" dirty="0"/>
              <a:t> (R package version 0.9.0) [Computer software]. </a:t>
            </a:r>
            <a:r>
              <a:rPr lang="en-US" sz="1200" dirty="0">
                <a:hlinkClick r:id="rId6"/>
              </a:rPr>
              <a:t>https://CRAN.R-project.org/package=fixest</a:t>
            </a:r>
            <a:endParaRPr lang="en-US" sz="1200" dirty="0"/>
          </a:p>
          <a:p>
            <a:pPr indent="-228600" algn="l">
              <a:buFont typeface="Arial" panose="020B0604020202020204" pitchFamily="34" charset="0"/>
              <a:buChar char="•"/>
            </a:pPr>
            <a:endParaRPr lang="en-US" sz="1200" dirty="0"/>
          </a:p>
          <a:p>
            <a:pPr indent="-228600" algn="l">
              <a:buFont typeface="Arial" panose="020B0604020202020204" pitchFamily="34" charset="0"/>
              <a:buChar char="•"/>
            </a:pPr>
            <a:r>
              <a:rPr lang="en-US" sz="1200" dirty="0"/>
              <a:t>Croissant, Y., &amp; Millo, G. (2008). </a:t>
            </a:r>
            <a:r>
              <a:rPr lang="en-US" sz="1200" b="1" i="1" dirty="0" err="1"/>
              <a:t>plm</a:t>
            </a:r>
            <a:r>
              <a:rPr lang="en-US" sz="1200" i="1" dirty="0"/>
              <a:t>: Linear models for panel data</a:t>
            </a:r>
            <a:r>
              <a:rPr lang="en-US" sz="1200" dirty="0"/>
              <a:t> (R package version 2.4-7) [Computer software]. </a:t>
            </a:r>
            <a:r>
              <a:rPr lang="en-US" sz="1200" dirty="0">
                <a:hlinkClick r:id="rId7"/>
              </a:rPr>
              <a:t>https://CRAN.R-project.org/package=plm</a:t>
            </a:r>
            <a:endParaRPr lang="en-US" sz="1200" dirty="0"/>
          </a:p>
          <a:p>
            <a:pPr indent="-228600" algn="l">
              <a:buFont typeface="Arial" panose="020B0604020202020204" pitchFamily="34" charset="0"/>
              <a:buChar char="•"/>
            </a:pPr>
            <a:endParaRPr lang="en-US" sz="1200" dirty="0"/>
          </a:p>
          <a:p>
            <a:pPr indent="-228600" algn="l">
              <a:buFont typeface="Arial" panose="020B0604020202020204" pitchFamily="34" charset="0"/>
              <a:buChar char="•"/>
            </a:pPr>
            <a:r>
              <a:rPr lang="en-US" sz="1200" dirty="0" err="1"/>
              <a:t>Zeileis</a:t>
            </a:r>
            <a:r>
              <a:rPr lang="en-US" sz="1200" dirty="0"/>
              <a:t>, A., Leisch, F., Hornik, K., &amp; Kleiber, C. (2005). </a:t>
            </a:r>
            <a:r>
              <a:rPr lang="en-US" sz="1200" b="1" i="1" dirty="0" err="1"/>
              <a:t>lmtest</a:t>
            </a:r>
            <a:r>
              <a:rPr lang="en-US" sz="1200" i="1" dirty="0"/>
              <a:t>: Testing linear regression models</a:t>
            </a:r>
            <a:r>
              <a:rPr lang="en-US" sz="1200" dirty="0"/>
              <a:t> (R package version 0.9-42) [Computer software]. </a:t>
            </a:r>
            <a:r>
              <a:rPr lang="en-US" sz="1200" dirty="0">
                <a:hlinkClick r:id="rId8"/>
              </a:rPr>
              <a:t>https://CRAN.R-project.org/package=lmtest</a:t>
            </a:r>
            <a:endParaRPr lang="en-US" sz="1200" dirty="0"/>
          </a:p>
          <a:p>
            <a:pPr indent="-228600" algn="l">
              <a:buFont typeface="Arial" panose="020B0604020202020204" pitchFamily="34" charset="0"/>
              <a:buChar char="•"/>
            </a:pPr>
            <a:endParaRPr lang="en-US" sz="1200" dirty="0"/>
          </a:p>
          <a:p>
            <a:pPr indent="-228600" algn="l">
              <a:buFont typeface="Arial" panose="020B0604020202020204" pitchFamily="34" charset="0"/>
              <a:buChar char="•"/>
            </a:pPr>
            <a:r>
              <a:rPr lang="en-US" sz="1200" dirty="0"/>
              <a:t>Fox, J., &amp; Weisberg, S. (2019). </a:t>
            </a:r>
            <a:r>
              <a:rPr lang="en-US" sz="1200" i="1" dirty="0"/>
              <a:t>An R companion to applied regression</a:t>
            </a:r>
            <a:r>
              <a:rPr lang="en-US" sz="1200" dirty="0"/>
              <a:t> (3rd ed.). Sage Publications. R package version 3.1-2. </a:t>
            </a:r>
            <a:r>
              <a:rPr lang="en-US" sz="1200" dirty="0">
                <a:hlinkClick r:id="rId9"/>
              </a:rPr>
              <a:t>https://CRAN.R-project.org/package=car</a:t>
            </a:r>
            <a:endParaRPr lang="en-US" sz="1200" dirty="0"/>
          </a:p>
          <a:p>
            <a:pPr indent="-228600" algn="l">
              <a:buFont typeface="Arial" panose="020B0604020202020204" pitchFamily="34" charset="0"/>
              <a:buChar char="•"/>
            </a:pPr>
            <a:endParaRPr lang="en-US" sz="1200" dirty="0"/>
          </a:p>
          <a:p>
            <a:pPr indent="-228600" algn="l">
              <a:buFont typeface="Arial" panose="020B0604020202020204" pitchFamily="34" charset="0"/>
              <a:buChar char="•"/>
            </a:pPr>
            <a:endParaRPr lang="en-US" sz="1400" dirty="0"/>
          </a:p>
        </p:txBody>
      </p:sp>
    </p:spTree>
    <p:extLst>
      <p:ext uri="{BB962C8B-B14F-4D97-AF65-F5344CB8AC3E}">
        <p14:creationId xmlns:p14="http://schemas.microsoft.com/office/powerpoint/2010/main" val="9242191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69B54B-F3AC-AADF-B271-160872DDA9FC}"/>
              </a:ext>
            </a:extLst>
          </p:cNvPr>
          <p:cNvSpPr>
            <a:spLocks noGrp="1"/>
          </p:cNvSpPr>
          <p:nvPr>
            <p:ph type="ctrTitle"/>
          </p:nvPr>
        </p:nvSpPr>
        <p:spPr>
          <a:xfrm>
            <a:off x="0" y="0"/>
            <a:ext cx="2875280" cy="3892669"/>
          </a:xfrm>
        </p:spPr>
        <p:txBody>
          <a:bodyPr>
            <a:normAutofit/>
          </a:bodyPr>
          <a:lstStyle/>
          <a:p>
            <a:pPr algn="l"/>
            <a:r>
              <a:rPr lang="en-US" sz="4400" dirty="0"/>
              <a:t>How variables were picked from WDI:</a:t>
            </a:r>
            <a:endParaRPr lang="ru-RU" sz="4400" dirty="0"/>
          </a:p>
        </p:txBody>
      </p:sp>
      <p:sp>
        <p:nvSpPr>
          <p:cNvPr id="5" name="Rectangle 1">
            <a:extLst>
              <a:ext uri="{FF2B5EF4-FFF2-40B4-BE49-F238E27FC236}">
                <a16:creationId xmlns:a16="http://schemas.microsoft.com/office/drawing/2014/main" id="{1F6DC15D-B78E-4AF6-3DD2-6FFF785FEDA1}"/>
              </a:ext>
            </a:extLst>
          </p:cNvPr>
          <p:cNvSpPr>
            <a:spLocks noGrp="1" noChangeArrowheads="1"/>
          </p:cNvSpPr>
          <p:nvPr>
            <p:ph type="subTitle" idx="1"/>
          </p:nvPr>
        </p:nvSpPr>
        <p:spPr bwMode="auto">
          <a:xfrm>
            <a:off x="182881" y="4590591"/>
            <a:ext cx="3556000" cy="20073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lnSpcReduction="10000"/>
          </a:bodyPr>
          <a:lstStyle/>
          <a:p>
            <a:pPr marL="0" marR="0" lvl="0" indent="0" algn="l" defTabSz="914400" rtl="0" eaLnBrk="0" fontAlgn="base" latinLnBrk="0" hangingPunct="0">
              <a:spcBef>
                <a:spcPct val="0"/>
              </a:spcBef>
              <a:spcAft>
                <a:spcPts val="600"/>
              </a:spcAft>
              <a:buClrTx/>
              <a:buSzTx/>
              <a:buFontTx/>
              <a:buNone/>
              <a:tabLst/>
            </a:pPr>
            <a:r>
              <a:rPr kumimoji="0" lang="ru-RU" altLang="ru-RU" b="1" i="0" u="none" strike="noStrike" cap="none" normalizeH="0" baseline="0" dirty="0">
                <a:ln>
                  <a:noFill/>
                </a:ln>
                <a:effectLst/>
                <a:latin typeface="Arial" panose="020B0604020202020204" pitchFamily="34" charset="0"/>
              </a:rPr>
              <a:t>📊 WDI Variables Used</a:t>
            </a:r>
            <a:r>
              <a:rPr kumimoji="0" lang="en-US" altLang="ru-RU" b="1" i="0" u="none" strike="noStrike" cap="none" normalizeH="0" baseline="0" dirty="0">
                <a:ln>
                  <a:noFill/>
                </a:ln>
                <a:effectLst/>
                <a:latin typeface="Arial" panose="020B0604020202020204" pitchFamily="34" charset="0"/>
              </a:rPr>
              <a:t>:</a:t>
            </a:r>
          </a:p>
          <a:p>
            <a:pPr marL="0" marR="0" lvl="0" indent="0" algn="l" defTabSz="914400" rtl="0" eaLnBrk="0" fontAlgn="base" latinLnBrk="0" hangingPunct="0">
              <a:spcBef>
                <a:spcPct val="0"/>
              </a:spcBef>
              <a:spcAft>
                <a:spcPts val="600"/>
              </a:spcAft>
              <a:buClrTx/>
              <a:buSzTx/>
              <a:buFontTx/>
              <a:buNone/>
              <a:tabLst/>
            </a:pPr>
            <a:r>
              <a:rPr lang="en-US" altLang="ru-RU" sz="1400" b="1" i="1" u="sng" dirty="0">
                <a:latin typeface="Arial" panose="020B0604020202020204" pitchFamily="34" charset="0"/>
              </a:rPr>
              <a:t>Note: </a:t>
            </a:r>
            <a:r>
              <a:rPr lang="en-US" altLang="ru-RU" sz="1400" b="1" dirty="0">
                <a:latin typeface="Arial" panose="020B0604020202020204" pitchFamily="34" charset="0"/>
              </a:rPr>
              <a:t>You can copy their codes and  find each of them quickly like that</a:t>
            </a:r>
          </a:p>
          <a:p>
            <a:pPr marL="0" marR="0" lvl="0" indent="0" algn="l" defTabSz="914400" rtl="0" eaLnBrk="0" fontAlgn="base" latinLnBrk="0" hangingPunct="0">
              <a:spcBef>
                <a:spcPct val="0"/>
              </a:spcBef>
              <a:spcAft>
                <a:spcPts val="600"/>
              </a:spcAft>
              <a:buClrTx/>
              <a:buSzTx/>
              <a:buFontTx/>
              <a:buNone/>
              <a:tabLst/>
            </a:pPr>
            <a:r>
              <a:rPr lang="en-US" altLang="ru-RU" sz="1400" b="1" dirty="0">
                <a:latin typeface="Arial" panose="020B0604020202020204" pitchFamily="34" charset="0"/>
              </a:rPr>
              <a:t>o</a:t>
            </a:r>
            <a:r>
              <a:rPr kumimoji="0" lang="en-US" altLang="ru-RU" sz="1400" b="1" i="0" u="none" strike="noStrike" cap="none" normalizeH="0" baseline="0" dirty="0">
                <a:ln>
                  <a:noFill/>
                </a:ln>
                <a:effectLst/>
                <a:latin typeface="Arial" panose="020B0604020202020204" pitchFamily="34" charset="0"/>
              </a:rPr>
              <a:t>n WDI variables’ section called “Series”. As </a:t>
            </a:r>
            <a:r>
              <a:rPr lang="en-US" altLang="ru-RU" sz="1400" b="1" dirty="0">
                <a:latin typeface="Arial" panose="020B0604020202020204" pitchFamily="34" charset="0"/>
              </a:rPr>
              <a:t>for countries we picked all available 217, and time span of 50 years which was most we could get.</a:t>
            </a:r>
            <a:endParaRPr kumimoji="0" lang="ru-RU" altLang="ru-RU" sz="1400" b="1"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spcBef>
                <a:spcPct val="0"/>
              </a:spcBef>
              <a:spcAft>
                <a:spcPts val="600"/>
              </a:spcAft>
              <a:buClrTx/>
              <a:buSzTx/>
              <a:buFontTx/>
              <a:buNone/>
              <a:tabLst/>
            </a:pPr>
            <a:endParaRPr kumimoji="0" lang="ru-RU" altLang="ru-RU" b="0" i="0" u="none" strike="noStrike" cap="none" normalizeH="0" baseline="0" dirty="0">
              <a:ln>
                <a:noFill/>
              </a:ln>
              <a:effectLst/>
              <a:latin typeface="Arial" panose="020B0604020202020204" pitchFamily="34" charset="0"/>
            </a:endParaRP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6FFD4B74-69A2-868D-59C9-87654C4263A1}"/>
              </a:ext>
            </a:extLst>
          </p:cNvPr>
          <p:cNvGraphicFramePr>
            <a:graphicFrameLocks noGrp="1"/>
          </p:cNvGraphicFramePr>
          <p:nvPr>
            <p:extLst>
              <p:ext uri="{D42A27DB-BD31-4B8C-83A1-F6EECF244321}">
                <p14:modId xmlns:p14="http://schemas.microsoft.com/office/powerpoint/2010/main" val="1535188035"/>
              </p:ext>
            </p:extLst>
          </p:nvPr>
        </p:nvGraphicFramePr>
        <p:xfrm>
          <a:off x="3830320" y="0"/>
          <a:ext cx="8361680" cy="6857998"/>
        </p:xfrm>
        <a:graphic>
          <a:graphicData uri="http://schemas.openxmlformats.org/drawingml/2006/table">
            <a:tbl>
              <a:tblPr>
                <a:solidFill>
                  <a:schemeClr val="tx1">
                    <a:lumMod val="75000"/>
                    <a:lumOff val="25000"/>
                  </a:schemeClr>
                </a:solidFill>
              </a:tblPr>
              <a:tblGrid>
                <a:gridCol w="3214570">
                  <a:extLst>
                    <a:ext uri="{9D8B030D-6E8A-4147-A177-3AD203B41FA5}">
                      <a16:colId xmlns:a16="http://schemas.microsoft.com/office/drawing/2014/main" val="1588372734"/>
                    </a:ext>
                  </a:extLst>
                </a:gridCol>
                <a:gridCol w="2783055">
                  <a:extLst>
                    <a:ext uri="{9D8B030D-6E8A-4147-A177-3AD203B41FA5}">
                      <a16:colId xmlns:a16="http://schemas.microsoft.com/office/drawing/2014/main" val="546963503"/>
                    </a:ext>
                  </a:extLst>
                </a:gridCol>
                <a:gridCol w="2364055">
                  <a:extLst>
                    <a:ext uri="{9D8B030D-6E8A-4147-A177-3AD203B41FA5}">
                      <a16:colId xmlns:a16="http://schemas.microsoft.com/office/drawing/2014/main" val="1433746379"/>
                    </a:ext>
                  </a:extLst>
                </a:gridCol>
              </a:tblGrid>
              <a:tr h="383400">
                <a:tc>
                  <a:txBody>
                    <a:bodyPr/>
                    <a:lstStyle/>
                    <a:p>
                      <a:pPr>
                        <a:buNone/>
                      </a:pPr>
                      <a:r>
                        <a:rPr lang="en-US" sz="1400" b="1" cap="none" spc="0" dirty="0">
                          <a:solidFill>
                            <a:schemeClr val="bg1"/>
                          </a:solidFill>
                        </a:rPr>
                        <a:t>Project Variable</a:t>
                      </a:r>
                    </a:p>
                  </a:txBody>
                  <a:tcPr marL="69397" marR="39692" marT="53382" marB="53382" anchor="ctr">
                    <a:lnL w="38100" cap="flat" cmpd="sng" algn="ctr">
                      <a:noFill/>
                      <a:prstDash val="solid"/>
                    </a:lnL>
                    <a:lnR w="6350" cap="flat" cmpd="sng" algn="ctr">
                      <a:solidFill>
                        <a:schemeClr val="tx1">
                          <a:lumMod val="50000"/>
                          <a:lumOff val="50000"/>
                        </a:schemeClr>
                      </a:solidFill>
                      <a:prstDash val="solid"/>
                    </a:lnR>
                    <a:lnT w="38100" cap="flat" cmpd="sng" algn="ctr">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400" b="1" cap="none" spc="0" dirty="0">
                          <a:solidFill>
                            <a:schemeClr val="bg1"/>
                          </a:solidFill>
                        </a:rPr>
                        <a:t>WDI Indicator Code</a:t>
                      </a:r>
                    </a:p>
                  </a:txBody>
                  <a:tcPr marL="69397" marR="39692" marT="53382" marB="5338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ap="flat" cmpd="sng" algn="ctr">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400" b="1" cap="none" spc="0" dirty="0">
                          <a:solidFill>
                            <a:schemeClr val="bg1"/>
                          </a:solidFill>
                        </a:rPr>
                        <a:t>Description</a:t>
                      </a:r>
                    </a:p>
                  </a:txBody>
                  <a:tcPr marL="69397" marR="39692" marT="53382" marB="53382" anchor="ctr">
                    <a:lnL w="6350" cap="flat" cmpd="sng" algn="ctr">
                      <a:solidFill>
                        <a:schemeClr val="tx1">
                          <a:lumMod val="50000"/>
                          <a:lumOff val="50000"/>
                        </a:schemeClr>
                      </a:solidFill>
                      <a:prstDash val="solid"/>
                    </a:lnL>
                    <a:lnR w="38100" cap="flat" cmpd="sng" algn="ctr">
                      <a:noFill/>
                      <a:prstDash val="solid"/>
                    </a:lnR>
                    <a:lnT w="38100" cap="flat" cmpd="sng" algn="ctr">
                      <a:no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3915344271"/>
                  </a:ext>
                </a:extLst>
              </a:tr>
              <a:tr h="572400">
                <a:tc>
                  <a:txBody>
                    <a:bodyPr/>
                    <a:lstStyle/>
                    <a:p>
                      <a:pPr>
                        <a:buNone/>
                      </a:pPr>
                      <a:r>
                        <a:rPr lang="en-US" sz="1400" b="1" cap="none" spc="0" dirty="0" err="1">
                          <a:solidFill>
                            <a:schemeClr val="bg1"/>
                          </a:solidFill>
                        </a:rPr>
                        <a:t>Life_expectancy</a:t>
                      </a:r>
                      <a:endParaRPr lang="en-US" sz="1400" cap="none" spc="0" dirty="0">
                        <a:solidFill>
                          <a:schemeClr val="bg1"/>
                        </a:solidFill>
                      </a:endParaRPr>
                    </a:p>
                  </a:txBody>
                  <a:tcPr marL="69397" marR="39692" marT="53382" marB="53382" anchor="ctr">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400" cap="none" spc="0" dirty="0">
                          <a:solidFill>
                            <a:schemeClr val="bg1"/>
                          </a:solidFill>
                        </a:rPr>
                        <a:t>SP.DYN.LE00.IN</a:t>
                      </a:r>
                    </a:p>
                  </a:txBody>
                  <a:tcPr marL="69397" marR="39692" marT="53382" marB="5338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400" cap="none" spc="0">
                          <a:solidFill>
                            <a:schemeClr val="bg1"/>
                          </a:solidFill>
                        </a:rPr>
                        <a:t>Life expectancy at birth, total (years)</a:t>
                      </a:r>
                    </a:p>
                  </a:txBody>
                  <a:tcPr marL="69397" marR="39692" marT="53382" marB="53382" anchor="ctr">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2945127327"/>
                  </a:ext>
                </a:extLst>
              </a:tr>
              <a:tr h="572400">
                <a:tc>
                  <a:txBody>
                    <a:bodyPr/>
                    <a:lstStyle/>
                    <a:p>
                      <a:pPr>
                        <a:buNone/>
                      </a:pPr>
                      <a:r>
                        <a:rPr lang="en-US" sz="1400" b="1" cap="none" spc="0">
                          <a:solidFill>
                            <a:schemeClr val="bg1"/>
                          </a:solidFill>
                        </a:rPr>
                        <a:t>GDP_per_capita</a:t>
                      </a:r>
                      <a:endParaRPr lang="en-US" sz="1400" cap="none" spc="0">
                        <a:solidFill>
                          <a:schemeClr val="bg1"/>
                        </a:solidFill>
                      </a:endParaRPr>
                    </a:p>
                  </a:txBody>
                  <a:tcPr marL="69397" marR="39692" marT="53382" marB="53382" anchor="ctr">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400" cap="none" spc="0">
                          <a:solidFill>
                            <a:schemeClr val="bg1"/>
                          </a:solidFill>
                        </a:rPr>
                        <a:t>NY.GDP.PCAP.CD</a:t>
                      </a:r>
                    </a:p>
                  </a:txBody>
                  <a:tcPr marL="69397" marR="39692" marT="53382" marB="5338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400" cap="none" spc="0">
                          <a:solidFill>
                            <a:schemeClr val="bg1"/>
                          </a:solidFill>
                        </a:rPr>
                        <a:t>GDP per capita (current US$)</a:t>
                      </a:r>
                    </a:p>
                  </a:txBody>
                  <a:tcPr marL="69397" marR="39692" marT="53382" marB="53382" anchor="ctr">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2558955726"/>
                  </a:ext>
                </a:extLst>
              </a:tr>
              <a:tr h="761400">
                <a:tc>
                  <a:txBody>
                    <a:bodyPr/>
                    <a:lstStyle/>
                    <a:p>
                      <a:pPr>
                        <a:buNone/>
                      </a:pPr>
                      <a:r>
                        <a:rPr lang="en-US" sz="1400" b="1" cap="none" spc="0" dirty="0" err="1">
                          <a:solidFill>
                            <a:schemeClr val="bg1"/>
                          </a:solidFill>
                        </a:rPr>
                        <a:t>Age_dependency_ratio_young</a:t>
                      </a:r>
                      <a:r>
                        <a:rPr lang="en-US" sz="1400" b="1" cap="none" spc="0" dirty="0">
                          <a:solidFill>
                            <a:schemeClr val="bg1"/>
                          </a:solidFill>
                        </a:rPr>
                        <a:t> (Dropped due to multicollinearity)</a:t>
                      </a:r>
                      <a:endParaRPr lang="en-US" sz="1400" cap="none" spc="0" dirty="0">
                        <a:solidFill>
                          <a:schemeClr val="bg1"/>
                        </a:solidFill>
                      </a:endParaRPr>
                    </a:p>
                  </a:txBody>
                  <a:tcPr marL="69397" marR="39692" marT="53382" marB="53382" anchor="ctr">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400" cap="none" spc="0">
                          <a:solidFill>
                            <a:schemeClr val="bg1"/>
                          </a:solidFill>
                        </a:rPr>
                        <a:t>SP.POP.DPND.YG</a:t>
                      </a:r>
                    </a:p>
                  </a:txBody>
                  <a:tcPr marL="69397" marR="39692" marT="53382" marB="5338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400" cap="none" spc="0">
                          <a:solidFill>
                            <a:schemeClr val="bg1"/>
                          </a:solidFill>
                        </a:rPr>
                        <a:t>Age dependency ratio: young (% of working-age population)</a:t>
                      </a:r>
                    </a:p>
                  </a:txBody>
                  <a:tcPr marL="69397" marR="39692" marT="53382" marB="53382" anchor="ctr">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4184938285"/>
                  </a:ext>
                </a:extLst>
              </a:tr>
              <a:tr h="572400">
                <a:tc>
                  <a:txBody>
                    <a:bodyPr/>
                    <a:lstStyle/>
                    <a:p>
                      <a:pPr>
                        <a:buNone/>
                      </a:pPr>
                      <a:r>
                        <a:rPr lang="en-US" sz="1400" b="1" cap="none" spc="0" dirty="0" err="1">
                          <a:solidFill>
                            <a:schemeClr val="bg1"/>
                          </a:solidFill>
                        </a:rPr>
                        <a:t>Urban_population</a:t>
                      </a:r>
                      <a:endParaRPr lang="en-US" sz="1400" cap="none" spc="0" dirty="0">
                        <a:solidFill>
                          <a:schemeClr val="bg1"/>
                        </a:solidFill>
                      </a:endParaRPr>
                    </a:p>
                  </a:txBody>
                  <a:tcPr marL="69397" marR="39692" marT="53382" marB="53382" anchor="ctr">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400" cap="none" spc="0">
                          <a:solidFill>
                            <a:schemeClr val="bg1"/>
                          </a:solidFill>
                        </a:rPr>
                        <a:t>SP.URB.TOTL.IN.ZS</a:t>
                      </a:r>
                    </a:p>
                  </a:txBody>
                  <a:tcPr marL="69397" marR="39692" marT="53382" marB="5338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400" cap="none" spc="0">
                          <a:solidFill>
                            <a:schemeClr val="bg1"/>
                          </a:solidFill>
                        </a:rPr>
                        <a:t>Urban population (% of total population)</a:t>
                      </a:r>
                    </a:p>
                  </a:txBody>
                  <a:tcPr marL="69397" marR="39692" marT="53382" marB="53382" anchor="ctr">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1781062603"/>
                  </a:ext>
                </a:extLst>
              </a:tr>
              <a:tr h="572400">
                <a:tc>
                  <a:txBody>
                    <a:bodyPr/>
                    <a:lstStyle/>
                    <a:p>
                      <a:pPr>
                        <a:buNone/>
                      </a:pPr>
                      <a:r>
                        <a:rPr lang="en-US" sz="1400" b="1" cap="none" spc="0">
                          <a:solidFill>
                            <a:schemeClr val="bg1"/>
                          </a:solidFill>
                        </a:rPr>
                        <a:t>Fertility_rate</a:t>
                      </a:r>
                      <a:endParaRPr lang="en-US" sz="1400" cap="none" spc="0">
                        <a:solidFill>
                          <a:schemeClr val="bg1"/>
                        </a:solidFill>
                      </a:endParaRPr>
                    </a:p>
                  </a:txBody>
                  <a:tcPr marL="69397" marR="39692" marT="53382" marB="53382" anchor="ctr">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400" cap="none" spc="0">
                          <a:solidFill>
                            <a:schemeClr val="bg1"/>
                          </a:solidFill>
                        </a:rPr>
                        <a:t>SP.DYN.TFRT.IN</a:t>
                      </a:r>
                    </a:p>
                  </a:txBody>
                  <a:tcPr marL="69397" marR="39692" marT="53382" marB="5338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400" cap="none" spc="0">
                          <a:solidFill>
                            <a:schemeClr val="bg1"/>
                          </a:solidFill>
                        </a:rPr>
                        <a:t>Fertility rate, total (births per woman)</a:t>
                      </a:r>
                    </a:p>
                  </a:txBody>
                  <a:tcPr marL="69397" marR="39692" marT="53382" marB="53382" anchor="ctr">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2363181980"/>
                  </a:ext>
                </a:extLst>
              </a:tr>
              <a:tr h="761400">
                <a:tc>
                  <a:txBody>
                    <a:bodyPr/>
                    <a:lstStyle/>
                    <a:p>
                      <a:pPr>
                        <a:buNone/>
                      </a:pPr>
                      <a:r>
                        <a:rPr lang="en-US" sz="1400" b="1" cap="none" spc="0">
                          <a:solidFill>
                            <a:schemeClr val="bg1"/>
                          </a:solidFill>
                        </a:rPr>
                        <a:t>Immunization_DPT</a:t>
                      </a:r>
                      <a:endParaRPr lang="en-US" sz="1400" cap="none" spc="0">
                        <a:solidFill>
                          <a:schemeClr val="bg1"/>
                        </a:solidFill>
                      </a:endParaRPr>
                    </a:p>
                  </a:txBody>
                  <a:tcPr marL="69397" marR="39692" marT="53382" marB="53382" anchor="ctr">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400" cap="none" spc="0" dirty="0">
                          <a:solidFill>
                            <a:schemeClr val="bg1"/>
                          </a:solidFill>
                        </a:rPr>
                        <a:t>SH.IMM.IDPT</a:t>
                      </a:r>
                    </a:p>
                  </a:txBody>
                  <a:tcPr marL="69397" marR="39692" marT="53382" marB="5338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400" cap="none" spc="0">
                          <a:solidFill>
                            <a:schemeClr val="bg1"/>
                          </a:solidFill>
                        </a:rPr>
                        <a:t>Immunization, DPT (% of children ages 12–23 months)</a:t>
                      </a:r>
                    </a:p>
                  </a:txBody>
                  <a:tcPr marL="69397" marR="39692" marT="53382" marB="53382" anchor="ctr">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2531181533"/>
                  </a:ext>
                </a:extLst>
              </a:tr>
              <a:tr h="950399">
                <a:tc>
                  <a:txBody>
                    <a:bodyPr/>
                    <a:lstStyle/>
                    <a:p>
                      <a:pPr>
                        <a:buNone/>
                      </a:pPr>
                      <a:r>
                        <a:rPr lang="en-US" sz="1400" b="1" cap="none" spc="0">
                          <a:solidFill>
                            <a:schemeClr val="bg1"/>
                          </a:solidFill>
                        </a:rPr>
                        <a:t>Immunization_measles</a:t>
                      </a:r>
                      <a:endParaRPr lang="en-US" sz="1400" cap="none" spc="0">
                        <a:solidFill>
                          <a:schemeClr val="bg1"/>
                        </a:solidFill>
                      </a:endParaRPr>
                    </a:p>
                  </a:txBody>
                  <a:tcPr marL="69397" marR="39692" marT="53382" marB="53382" anchor="ctr">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400" cap="none" spc="0">
                          <a:solidFill>
                            <a:schemeClr val="bg1"/>
                          </a:solidFill>
                        </a:rPr>
                        <a:t>SH.IMM.MEAS</a:t>
                      </a:r>
                    </a:p>
                  </a:txBody>
                  <a:tcPr marL="69397" marR="39692" marT="53382" marB="5338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400" cap="none" spc="0" dirty="0">
                          <a:solidFill>
                            <a:schemeClr val="bg1"/>
                          </a:solidFill>
                        </a:rPr>
                        <a:t>Immunization, measles (% of children ages 12–23 months)</a:t>
                      </a:r>
                    </a:p>
                  </a:txBody>
                  <a:tcPr marL="69397" marR="39692" marT="53382" marB="53382" anchor="ctr">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443199006"/>
                  </a:ext>
                </a:extLst>
              </a:tr>
              <a:tr h="761400">
                <a:tc>
                  <a:txBody>
                    <a:bodyPr/>
                    <a:lstStyle/>
                    <a:p>
                      <a:pPr>
                        <a:buNone/>
                      </a:pPr>
                      <a:r>
                        <a:rPr lang="en-US" sz="1400" b="1" cap="none" spc="0">
                          <a:solidFill>
                            <a:schemeClr val="bg1"/>
                          </a:solidFill>
                        </a:rPr>
                        <a:t>Exports</a:t>
                      </a:r>
                      <a:endParaRPr lang="en-US" sz="1400" cap="none" spc="0">
                        <a:solidFill>
                          <a:schemeClr val="bg1"/>
                        </a:solidFill>
                      </a:endParaRPr>
                    </a:p>
                  </a:txBody>
                  <a:tcPr marL="69397" marR="39692" marT="53382" marB="53382" anchor="ctr">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400" cap="none" spc="0">
                          <a:solidFill>
                            <a:schemeClr val="bg1"/>
                          </a:solidFill>
                        </a:rPr>
                        <a:t>NE.EXP.GNFS.CD</a:t>
                      </a:r>
                    </a:p>
                  </a:txBody>
                  <a:tcPr marL="69397" marR="39692" marT="53382" marB="5338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400" cap="none" spc="0" dirty="0">
                          <a:solidFill>
                            <a:schemeClr val="bg1"/>
                          </a:solidFill>
                        </a:rPr>
                        <a:t>Exports of goods and services (current US$) </a:t>
                      </a:r>
                      <a:r>
                        <a:rPr lang="en-US" sz="1400" i="1" cap="none" spc="0" dirty="0">
                          <a:solidFill>
                            <a:schemeClr val="bg1"/>
                          </a:solidFill>
                        </a:rPr>
                        <a:t>(Used as IV)</a:t>
                      </a:r>
                      <a:endParaRPr lang="en-US" sz="1400" cap="none" spc="0" dirty="0">
                        <a:solidFill>
                          <a:schemeClr val="bg1"/>
                        </a:solidFill>
                      </a:endParaRPr>
                    </a:p>
                  </a:txBody>
                  <a:tcPr marL="69397" marR="39692" marT="53382" marB="53382" anchor="ctr">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2780876251"/>
                  </a:ext>
                </a:extLst>
              </a:tr>
              <a:tr h="950399">
                <a:tc>
                  <a:txBody>
                    <a:bodyPr/>
                    <a:lstStyle/>
                    <a:p>
                      <a:pPr>
                        <a:buNone/>
                      </a:pPr>
                      <a:r>
                        <a:rPr lang="en-US" sz="1400" b="1" cap="none" spc="0">
                          <a:solidFill>
                            <a:schemeClr val="bg1"/>
                          </a:solidFill>
                        </a:rPr>
                        <a:t>FDI</a:t>
                      </a:r>
                      <a:endParaRPr lang="en-US" sz="1400" cap="none" spc="0">
                        <a:solidFill>
                          <a:schemeClr val="bg1"/>
                        </a:solidFill>
                      </a:endParaRPr>
                    </a:p>
                  </a:txBody>
                  <a:tcPr marL="69397" marR="39692" marT="53382" marB="53382" anchor="ctr">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38100" cap="flat" cmpd="sng" algn="ctr">
                      <a:noFill/>
                      <a:prstDash val="solid"/>
                    </a:lnB>
                    <a:solidFill>
                      <a:schemeClr val="tx1">
                        <a:lumMod val="75000"/>
                        <a:lumOff val="25000"/>
                      </a:schemeClr>
                    </a:solidFill>
                  </a:tcPr>
                </a:tc>
                <a:tc>
                  <a:txBody>
                    <a:bodyPr/>
                    <a:lstStyle/>
                    <a:p>
                      <a:pPr>
                        <a:buNone/>
                      </a:pPr>
                      <a:r>
                        <a:rPr lang="en-US" sz="1400" cap="none" spc="0" dirty="0">
                          <a:solidFill>
                            <a:schemeClr val="bg1"/>
                          </a:solidFill>
                        </a:rPr>
                        <a:t>BX.KLT.DINV.WD.GD.ZS</a:t>
                      </a:r>
                    </a:p>
                  </a:txBody>
                  <a:tcPr marL="69397" marR="39692" marT="53382" marB="5338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38100" cap="flat" cmpd="sng" algn="ctr">
                      <a:noFill/>
                      <a:prstDash val="solid"/>
                    </a:lnB>
                    <a:solidFill>
                      <a:schemeClr val="tx1">
                        <a:lumMod val="75000"/>
                        <a:lumOff val="25000"/>
                      </a:schemeClr>
                    </a:solidFill>
                  </a:tcPr>
                </a:tc>
                <a:tc>
                  <a:txBody>
                    <a:bodyPr/>
                    <a:lstStyle/>
                    <a:p>
                      <a:pPr>
                        <a:buNone/>
                      </a:pPr>
                      <a:r>
                        <a:rPr lang="en-US" sz="1400" cap="none" spc="0" dirty="0">
                          <a:solidFill>
                            <a:schemeClr val="bg1"/>
                          </a:solidFill>
                        </a:rPr>
                        <a:t>Foreign direct investment, net inflows (% of GDP) </a:t>
                      </a:r>
                      <a:r>
                        <a:rPr lang="en-US" sz="1400" i="1" cap="none" spc="0" dirty="0">
                          <a:solidFill>
                            <a:schemeClr val="bg1"/>
                          </a:solidFill>
                        </a:rPr>
                        <a:t>(Used as IV)</a:t>
                      </a:r>
                      <a:endParaRPr lang="en-US" sz="1400" cap="none" spc="0" dirty="0">
                        <a:solidFill>
                          <a:schemeClr val="bg1"/>
                        </a:solidFill>
                      </a:endParaRPr>
                    </a:p>
                  </a:txBody>
                  <a:tcPr marL="69397" marR="39692" marT="53382" marB="53382" anchor="ctr">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38100" cap="flat" cmpd="sng" algn="ctr">
                      <a:noFill/>
                      <a:prstDash val="solid"/>
                    </a:lnB>
                    <a:solidFill>
                      <a:schemeClr val="tx1">
                        <a:lumMod val="75000"/>
                        <a:lumOff val="25000"/>
                      </a:schemeClr>
                    </a:solidFill>
                  </a:tcPr>
                </a:tc>
                <a:extLst>
                  <a:ext uri="{0D108BD9-81ED-4DB2-BD59-A6C34878D82A}">
                    <a16:rowId xmlns:a16="http://schemas.microsoft.com/office/drawing/2014/main" val="274203799"/>
                  </a:ext>
                </a:extLst>
              </a:tr>
            </a:tbl>
          </a:graphicData>
        </a:graphic>
      </p:graphicFrame>
    </p:spTree>
    <p:extLst>
      <p:ext uri="{BB962C8B-B14F-4D97-AF65-F5344CB8AC3E}">
        <p14:creationId xmlns:p14="http://schemas.microsoft.com/office/powerpoint/2010/main" val="561279693"/>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6.jpeg"/></Relationships>
</file>

<file path=ppt/theme/_rels/theme5.xml.rels><?xml version="1.0" encoding="UTF-8" standalone="yes"?>
<Relationships xmlns="http://schemas.openxmlformats.org/package/2006/relationships"><Relationship Id="rId1" Type="http://schemas.openxmlformats.org/officeDocument/2006/relationships/image" Target="../media/image7.jpeg"/></Relationships>
</file>

<file path=ppt/theme/_rels/theme8.xml.rels><?xml version="1.0" encoding="UTF-8" standalone="yes"?>
<Relationships xmlns="http://schemas.openxmlformats.org/package/2006/relationships"><Relationship Id="rId1" Type="http://schemas.openxmlformats.org/officeDocument/2006/relationships/image" Target="../media/image6.jpeg"/></Relationships>
</file>

<file path=ppt/theme/_rels/theme10.xml.rels><?xml version="1.0" encoding="UTF-8" standalone="yes"?>
<Relationships xmlns="http://schemas.openxmlformats.org/package/2006/relationships"><Relationship Id="rId1" Type="http://schemas.openxmlformats.org/officeDocument/2006/relationships/image" Target="../media/image13.jpeg"/></Relationships>
</file>

<file path=ppt/theme/theme1.xml><?xml version="1.0" encoding="utf-8"?>
<a:theme xmlns:a="http://schemas.openxmlformats.org/drawingml/2006/main" name="Office Theme">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4.xml><?xml version="1.0" encoding="utf-8"?>
<a:theme xmlns:a="http://schemas.openxmlformats.org/drawingml/2006/main" name="Parallax">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5.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6.xml><?xml version="1.0" encoding="utf-8"?>
<a:theme xmlns:a="http://schemas.openxmlformats.org/drawingml/2006/main" name="Wisp">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7.xml><?xml version="1.0" encoding="utf-8"?>
<a:theme xmlns:a="http://schemas.openxmlformats.org/drawingml/2006/main" name="Gallery">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ppt/theme/theme8.xml><?xml version="1.0" encoding="utf-8"?>
<a:theme xmlns:a="http://schemas.openxmlformats.org/drawingml/2006/main" name="1_Parallax">
  <a:themeElements>
    <a:clrScheme name="Parallax">
      <a:dk1>
        <a:sysClr val="windowText" lastClr="000000"/>
      </a:dk1>
      <a:lt1>
        <a:sysClr val="window" lastClr="FFFFFF"/>
      </a:lt1>
      <a:dk2>
        <a:srgbClr val="212121"/>
      </a:dk2>
      <a:lt2>
        <a:srgbClr val="CDD0D1"/>
      </a:lt2>
      <a:accent1>
        <a:srgbClr val="BC1C1C"/>
      </a:accent1>
      <a:accent2>
        <a:srgbClr val="F67534"/>
      </a:accent2>
      <a:accent3>
        <a:srgbClr val="EAAC35"/>
      </a:accent3>
      <a:accent4>
        <a:srgbClr val="9BAF68"/>
      </a:accent4>
      <a:accent5>
        <a:srgbClr val="68B9A6"/>
      </a:accent5>
      <a:accent6>
        <a:srgbClr val="50B1D4"/>
      </a:accent6>
      <a:hlink>
        <a:srgbClr val="E46416"/>
      </a:hlink>
      <a:folHlink>
        <a:srgbClr val="EE9340"/>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93B4CCAC-FD5A-4D59-B1AC-EAF45910B5A9}"/>
    </a:ext>
  </a:extLst>
</a:theme>
</file>

<file path=ppt/theme/theme9.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10.xml><?xml version="1.0" encoding="utf-8"?>
<a:theme xmlns:a="http://schemas.openxmlformats.org/drawingml/2006/main" name="Celestial">
  <a:themeElements>
    <a:clrScheme name="Celestial">
      <a:dk1>
        <a:sysClr val="windowText" lastClr="000000"/>
      </a:dk1>
      <a:lt1>
        <a:sysClr val="window" lastClr="FFFFFF"/>
      </a:lt1>
      <a:dk2>
        <a:srgbClr val="16476F"/>
      </a:dk2>
      <a:lt2>
        <a:srgbClr val="EBEBEB"/>
      </a:lt2>
      <a:accent1>
        <a:srgbClr val="E5B458"/>
      </a:accent1>
      <a:accent2>
        <a:srgbClr val="F77754"/>
      </a:accent2>
      <a:accent3>
        <a:srgbClr val="D8507E"/>
      </a:accent3>
      <a:accent4>
        <a:srgbClr val="BC70EE"/>
      </a:accent4>
      <a:accent5>
        <a:srgbClr val="3CA2E2"/>
      </a:accent5>
      <a:accent6>
        <a:srgbClr val="91BF77"/>
      </a:accent6>
      <a:hlink>
        <a:srgbClr val="71DDAB"/>
      </a:hlink>
      <a:folHlink>
        <a:srgbClr val="A6E4C7"/>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B36E0D05-787B-4C61-8268-2D6C1FBEDA32}"/>
    </a:ext>
  </a:extLst>
</a:theme>
</file>

<file path=docProps/app.xml><?xml version="1.0" encoding="utf-8"?>
<Properties xmlns="http://schemas.openxmlformats.org/officeDocument/2006/extended-properties" xmlns:vt="http://schemas.openxmlformats.org/officeDocument/2006/docPropsVTypes">
  <TotalTime>481</TotalTime>
  <Words>2370</Words>
  <Application>Microsoft Office PowerPoint</Application>
  <PresentationFormat>Widescreen</PresentationFormat>
  <Paragraphs>331</Paragraphs>
  <Slides>23</Slides>
  <Notes>0</Notes>
  <HiddenSlides>0</HiddenSlides>
  <MMClips>0</MMClips>
  <ScaleCrop>false</ScaleCrop>
  <HeadingPairs>
    <vt:vector size="6" baseType="variant">
      <vt:variant>
        <vt:lpstr>Fonts Used</vt:lpstr>
      </vt:variant>
      <vt:variant>
        <vt:i4>11</vt:i4>
      </vt:variant>
      <vt:variant>
        <vt:lpstr>Theme</vt:lpstr>
      </vt:variant>
      <vt:variant>
        <vt:i4>10</vt:i4>
      </vt:variant>
      <vt:variant>
        <vt:lpstr>Slide Titles</vt:lpstr>
      </vt:variant>
      <vt:variant>
        <vt:i4>23</vt:i4>
      </vt:variant>
    </vt:vector>
  </HeadingPairs>
  <TitlesOfParts>
    <vt:vector size="44" baseType="lpstr">
      <vt:lpstr>Aptos</vt:lpstr>
      <vt:lpstr>Aptos Display</vt:lpstr>
      <vt:lpstr>Arial</vt:lpstr>
      <vt:lpstr>Calibri</vt:lpstr>
      <vt:lpstr>Calibri Light</vt:lpstr>
      <vt:lpstr>Century Gothic</vt:lpstr>
      <vt:lpstr>Corbel</vt:lpstr>
      <vt:lpstr>Rockwell</vt:lpstr>
      <vt:lpstr>Trebuchet MS</vt:lpstr>
      <vt:lpstr>Tw Cen MT</vt:lpstr>
      <vt:lpstr>Wingdings 3</vt:lpstr>
      <vt:lpstr>Office Theme</vt:lpstr>
      <vt:lpstr>Facet</vt:lpstr>
      <vt:lpstr>Ion</vt:lpstr>
      <vt:lpstr>Parallax</vt:lpstr>
      <vt:lpstr>Circuit</vt:lpstr>
      <vt:lpstr>Wisp</vt:lpstr>
      <vt:lpstr>Gallery</vt:lpstr>
      <vt:lpstr>1_Parallax</vt:lpstr>
      <vt:lpstr>Droplet</vt:lpstr>
      <vt:lpstr>Celestial</vt:lpstr>
      <vt:lpstr>Effect of GDP Per Capita on Life Expectancy</vt:lpstr>
      <vt:lpstr>Would government’s decision to increase fiscal spending aimed at economic growth increase life expectancy?</vt:lpstr>
      <vt:lpstr>Our goal in this project:</vt:lpstr>
      <vt:lpstr>Exploratory data analysis:</vt:lpstr>
      <vt:lpstr>General Econometric Model</vt:lpstr>
      <vt:lpstr>Georgia and France chosen to show small and large economy examples:</vt:lpstr>
      <vt:lpstr>Importance of fixed effects</vt:lpstr>
      <vt:lpstr>Fluctuations in life expectancy</vt:lpstr>
      <vt:lpstr>Let's observe GDP per capita and life expectancy together </vt:lpstr>
      <vt:lpstr>Before we started working on the models ,We came across potential multicollinearity problem:</vt:lpstr>
      <vt:lpstr>Baseline model : OLS</vt:lpstr>
      <vt:lpstr>Upgraded model: Fixed Effects Regression</vt:lpstr>
      <vt:lpstr>Woorldridge Test for autocorrelation</vt:lpstr>
      <vt:lpstr>FE regression with "Two-way" clustered standard errors</vt:lpstr>
      <vt:lpstr>FE regression with IV IV-s used:</vt:lpstr>
      <vt:lpstr>FE+IV Regression</vt:lpstr>
      <vt:lpstr>Discussion of results of F.E. Regression with IV</vt:lpstr>
      <vt:lpstr>Interpretation of coefficient of GDP per capita after eliminating bias coming from fixed effects and omitted variables:</vt:lpstr>
      <vt:lpstr>Conclusion</vt:lpstr>
      <vt:lpstr>Will government’s decision to increase fiscal spending in question increase life expectancy?</vt:lpstr>
      <vt:lpstr>Thank you for your attention!</vt:lpstr>
      <vt:lpstr>Bibliography</vt:lpstr>
      <vt:lpstr>How variables were picked from WDI: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Nanuka Kasradze</dc:creator>
  <cp:lastModifiedBy>Durmishkhan Gigineishvili</cp:lastModifiedBy>
  <cp:revision>15</cp:revision>
  <dcterms:created xsi:type="dcterms:W3CDTF">2025-07-18T08:15:54Z</dcterms:created>
  <dcterms:modified xsi:type="dcterms:W3CDTF">2025-07-20T16:20:24Z</dcterms:modified>
</cp:coreProperties>
</file>